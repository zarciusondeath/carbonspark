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1F1E"/>
                </a:solidFill>
                <a:latin typeface="Calibri"/>
              </a:defRPr>
            </a:pPr>
            <a:r>
              <a:rPr sz="1100" b="0" i="0" u="none" strike="noStrike">
                <a:solidFill>
                  <a:srgbClr val="1F1F1E"/>
                </a:solidFill>
                <a:latin typeface="Calibri"/>
              </a:rPr>
              <a:t>tCO₂e per tonne, by department</a:t>
            </a:r>
          </a:p>
        </c:rich>
      </c:tx>
      <c:layout/>
      <c:overlay val="0"/>
    </c:title>
    <c:autoTitleDeleted val="0"/>
    <c:plotArea>
      <c:layout/>
      <c:barChart>
        <c:barDir val="bar"/>
        <c:grouping val="clustered"/>
        <c:varyColors val="0"/>
        <c:ser>
          <c:idx val="0"/>
          <c:order val="0"/>
          <c:tx>
            <c:strRef>
              <c:f>Sheet1!$B$1</c:f>
              <c:strCache>
                <c:ptCount val="1"/>
                <c:pt idx="0">
                  <c:v>tCO₂e/t</c:v>
                </c:pt>
              </c:strCache>
            </c:strRef>
          </c:tx>
          <c:spPr>
            <a:solidFill>
              <a:srgbClr val="B24A2C"/>
            </a:solidFill>
            <a:effectLst/>
          </c:spPr>
          <c:invertIfNegative val="0"/>
          <c:dLbls>
            <c:numFmt formatCode="0.000" sourceLinked="0"/>
            <c:txPr>
              <a:bodyPr/>
              <a:lstStyle/>
              <a:p>
                <a:pPr>
                  <a:defRPr b="0" i="0" strike="noStrike" sz="900" u="none">
                    <a:solidFill>
                      <a:srgbClr val="1F1F1E"/>
                    </a:solidFill>
                    <a:latin typeface="Arial"/>
                  </a:defRPr>
                </a:pPr>
              </a:p>
            </c:txPr>
            <c:showLegendKey val="0"/>
            <c:showVal val="1"/>
            <c:showCatName val="0"/>
            <c:showSerName val="0"/>
            <c:showPercent val="0"/>
            <c:showBubbleSize val="0"/>
            <c:showLeaderLines val="0"/>
          </c:dLbls>
          <c:cat>
            <c:multiLvlStrRef>
              <c:f>Sheet1!$A$2:$A$9</c:f>
              <c:multiLvlStrCache>
                <c:ptCount val="8"/>
                <c:lvl>
                  <c:pt idx="0">
                    <c:v>Melt Shop</c:v>
                  </c:pt>
                  <c:pt idx="1">
                    <c:v>Cold Rolling</c:v>
                  </c:pt>
                  <c:pt idx="2">
                    <c:v>Hot Rolling</c:v>
                  </c:pt>
                  <c:pt idx="3">
                    <c:v>Inbound</c:v>
                  </c:pt>
                  <c:pt idx="4">
                    <c:v>Outbound</c:v>
                  </c:pt>
                  <c:pt idx="5">
                    <c:v>Annealing</c:v>
                  </c:pt>
                  <c:pt idx="6">
                    <c:v>Pickling</c:v>
                  </c:pt>
                  <c:pt idx="7">
                    <c:v>Descaling</c:v>
                  </c:pt>
                </c:lvl>
              </c:multiLvlStrCache>
            </c:multiLvlStrRef>
          </c:cat>
          <c:val>
            <c:numRef>
              <c:f>Sheet1!$B$2:$B$9</c:f>
              <c:numCache>
                <c:formatCode>General</c:formatCode>
                <c:ptCount val="8"/>
                <c:pt idx="0">
                  <c:v>2.037</c:v>
                </c:pt>
                <c:pt idx="1">
                  <c:v>0.254</c:v>
                </c:pt>
                <c:pt idx="2">
                  <c:v>0.2</c:v>
                </c:pt>
                <c:pt idx="3">
                  <c:v>0.112</c:v>
                </c:pt>
                <c:pt idx="4">
                  <c:v>0.085</c:v>
                </c:pt>
                <c:pt idx="5">
                  <c:v>0.084</c:v>
                </c:pt>
                <c:pt idx="6">
                  <c:v>0.072</c:v>
                </c:pt>
                <c:pt idx="7">
                  <c:v>0.043</c:v>
                </c:pt>
              </c:numCache>
            </c:numRef>
          </c:val>
        </c:ser>
        <c:dLbls>
          <c:numFmt formatCode="0.000" sourceLinked="0"/>
          <c:txPr>
            <a:bodyPr/>
            <a:lstStyle/>
            <a:p>
              <a:pPr>
                <a:defRPr b="0" i="0" strike="noStrike" sz="900" u="none">
                  <a:solidFill>
                    <a:srgbClr val="1F1F1E"/>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F5C55"/>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F1F1E"/>
                </a:solidFill>
                <a:latin typeface="Calibri"/>
              </a:defRPr>
            </a:pPr>
            <a:r>
              <a:rPr sz="1050" b="0" i="0" u="none" strike="noStrike">
                <a:solidFill>
                  <a:srgbClr val="1F1F1E"/>
                </a:solidFill>
                <a:latin typeface="Calibri"/>
              </a:rPr>
              <a:t>Scrap share → tCO₂e/t (reference route, grid held)</a:t>
            </a:r>
          </a:p>
        </c:rich>
      </c:tx>
      <c:layout/>
      <c:overlay val="0"/>
    </c:title>
    <c:autoTitleDeleted val="0"/>
    <c:plotArea>
      <c:layout/>
      <c:lineChart>
        <c:varyColors val="0"/>
        <c:ser>
          <c:idx val="0"/>
          <c:order val="0"/>
          <c:tx>
            <c:strRef>
              <c:f>Sheet1!$B$1</c:f>
              <c:strCache>
                <c:ptCount val="1"/>
                <c:pt idx="0">
                  <c:v>Reference</c:v>
                </c:pt>
              </c:strCache>
            </c:strRef>
          </c:tx>
          <c:spPr>
            <a:solidFill>
              <a:srgbClr val="B24A2C"/>
            </a:solidFill>
            <a:ln w="31750" cap="flat">
              <a:solidFill>
                <a:srgbClr val="B24A2C"/>
              </a:solidFill>
              <a:prstDash val="solid"/>
              <a:round/>
            </a:ln>
            <a:effectLst/>
          </c:spPr>
          <c:invertIfNegative val="0"/>
          <c:dLbls>
            <c:numFmt formatCode="0.00" sourceLinked="0"/>
            <c:txPr>
              <a:bodyPr/>
              <a:lstStyle/>
              <a:p>
                <a:pPr>
                  <a:defRPr b="0" i="0" strike="noStrike" sz="800" u="none">
                    <a:solidFill>
                      <a:srgbClr val="1F1F1E"/>
                    </a:solidFill>
                    <a:latin typeface="Arial"/>
                  </a:defRPr>
                </a:pPr>
              </a:p>
            </c:txPr>
            <c:dLblPos val="t"/>
            <c:showLegendKey val="0"/>
            <c:showVal val="1"/>
            <c:showCatName val="0"/>
            <c:showSerName val="0"/>
            <c:showPercent val="0"/>
            <c:showBubbleSize val="0"/>
            <c:showLeaderLines val="0"/>
          </c:dLbls>
          <c:marker>
            <c:symbol val="circle"/>
            <c:size val="7"/>
            <c:spPr>
              <a:solidFill>
                <a:srgbClr val="B24A2C"/>
              </a:solidFill>
              <a:ln w="9525" cap="flat">
                <a:solidFill>
                  <a:srgbClr val="B24A2C"/>
                </a:solidFill>
                <a:prstDash val="solid"/>
                <a:round/>
              </a:ln>
              <a:effectLst/>
            </c:spPr>
          </c:marker>
          <c:cat>
            <c:multiLvlStrRef>
              <c:f>Sheet1!$A$2:$A$8</c:f>
              <c:multiLvlStrCache>
                <c:ptCount val="7"/>
                <c:lvl>
                  <c:pt idx="0">
                    <c:v>40%</c:v>
                  </c:pt>
                  <c:pt idx="1">
                    <c:v>50%</c:v>
                  </c:pt>
                  <c:pt idx="2">
                    <c:v>60%</c:v>
                  </c:pt>
                  <c:pt idx="3">
                    <c:v>68%</c:v>
                  </c:pt>
                  <c:pt idx="4">
                    <c:v>75%</c:v>
                  </c:pt>
                  <c:pt idx="5">
                    <c:v>85%</c:v>
                  </c:pt>
                  <c:pt idx="6">
                    <c:v>100%</c:v>
                  </c:pt>
                </c:lvl>
              </c:multiLvlStrCache>
            </c:multiLvlStrRef>
          </c:cat>
          <c:val>
            <c:numRef>
              <c:f>Sheet1!$B$2:$B$8</c:f>
              <c:numCache>
                <c:formatCode>General</c:formatCode>
                <c:ptCount val="7"/>
                <c:pt idx="0">
                  <c:v>3.862</c:v>
                </c:pt>
                <c:pt idx="1">
                  <c:v>3.513</c:v>
                </c:pt>
                <c:pt idx="2">
                  <c:v>3.165</c:v>
                </c:pt>
                <c:pt idx="3">
                  <c:v>2.887</c:v>
                </c:pt>
                <c:pt idx="4">
                  <c:v>2.643</c:v>
                </c:pt>
                <c:pt idx="5">
                  <c:v>2.295</c:v>
                </c:pt>
                <c:pt idx="6">
                  <c:v>1.772</c:v>
                </c:pt>
              </c:numCache>
            </c:numRef>
          </c:val>
          <c:smooth val="0"/>
        </c:ser>
        <c:dLbls>
          <c:numFmt formatCode="0.00" sourceLinked="0"/>
          <c:txPr>
            <a:bodyPr/>
            <a:lstStyle/>
            <a:p>
              <a:pPr>
                <a:defRPr b="0" i="0" strike="noStrike" sz="800" u="none">
                  <a:solidFill>
                    <a:srgbClr val="1F1F1E"/>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5C55"/>
                </a:solidFill>
                <a:latin typeface="Arial"/>
              </a:defRPr>
            </a:pPr>
            <a:endParaRPr lang="en-US"/>
          </a:p>
        </c:txPr>
        <c:crossAx val="2094734552"/>
        <c:crosses val="autoZero"/>
        <c:auto val="1"/>
        <c:lblAlgn val="ctr"/>
        <c:noMultiLvlLbl val="1"/>
      </c:catAx>
      <c:valAx>
        <c:axId val="2094734552"/>
        <c:scaling>
          <c:orientation val="minMax"/>
          <c:max val="4"/>
          <c:min val="1.5"/>
        </c:scaling>
        <c:delete val="0"/>
        <c:axPos val="l"/>
        <c:majorGridlines>
          <c:spPr>
            <a:ln w="6350" cap="flat">
              <a:solidFill>
                <a:srgbClr val="E2DE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5C5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F1F1E"/>
                </a:solidFill>
                <a:latin typeface="Calibri"/>
              </a:defRPr>
            </a:pPr>
            <a:r>
              <a:rPr sz="1050" b="0" i="0" u="none" strike="noStrike">
                <a:solidFill>
                  <a:srgbClr val="1F1F1E"/>
                </a:solidFill>
                <a:latin typeface="Calibri"/>
              </a:rPr>
              <a:t>Each lever alone, within buildable limits (t/t)</a:t>
            </a:r>
          </a:p>
        </c:rich>
      </c:tx>
      <c:layout/>
      <c:overlay val="0"/>
    </c:title>
    <c:autoTitleDeleted val="0"/>
    <c:plotArea>
      <c:layout/>
      <c:barChart>
        <c:barDir val="bar"/>
        <c:grouping val="clustered"/>
        <c:varyColors val="0"/>
        <c:ser>
          <c:idx val="0"/>
          <c:order val="0"/>
          <c:tx>
            <c:strRef>
              <c:f>Sheet1!$B$1</c:f>
              <c:strCache>
                <c:ptCount val="1"/>
                <c:pt idx="0">
                  <c:v>saving</c:v>
                </c:pt>
              </c:strCache>
            </c:strRef>
          </c:tx>
          <c:spPr>
            <a:solidFill>
              <a:srgbClr val="1F6E9E"/>
            </a:solidFill>
            <a:effectLst/>
          </c:spPr>
          <c:invertIfNegative val="0"/>
          <c:dLbls>
            <c:numFmt formatCode="0.000" sourceLinked="0"/>
            <c:txPr>
              <a:bodyPr/>
              <a:lstStyle/>
              <a:p>
                <a:pPr>
                  <a:defRPr b="0" i="0" strike="noStrike" sz="900" u="none">
                    <a:solidFill>
                      <a:srgbClr val="1F1F1E"/>
                    </a:solidFill>
                    <a:latin typeface="Arial"/>
                  </a:defRPr>
                </a:pPr>
              </a:p>
            </c:txPr>
            <c:showLegendKey val="0"/>
            <c:showVal val="1"/>
            <c:showCatName val="0"/>
            <c:showSerName val="0"/>
            <c:showPercent val="0"/>
            <c:showBubbleSize val="0"/>
            <c:showLeaderLines val="0"/>
          </c:dLbls>
          <c:cat>
            <c:multiLvlStrRef>
              <c:f>Sheet1!$A$2:$A$5</c:f>
              <c:multiLvlStrCache>
                <c:ptCount val="4"/>
                <c:lvl>
                  <c:pt idx="0">
                    <c:v>Grid electricity</c:v>
                  </c:pt>
                  <c:pt idx="1">
                    <c:v>Scrap in charge</c:v>
                  </c:pt>
                  <c:pt idx="2">
                    <c:v>Process technology</c:v>
                  </c:pt>
                  <c:pt idx="3">
                    <c:v>Rail vs road</c:v>
                  </c:pt>
                </c:lvl>
              </c:multiLvlStrCache>
            </c:multiLvlStrRef>
          </c:cat>
          <c:val>
            <c:numRef>
              <c:f>Sheet1!$B$2:$B$5</c:f>
              <c:numCache>
                <c:formatCode>General</c:formatCode>
                <c:ptCount val="4"/>
                <c:pt idx="0">
                  <c:v>0.352</c:v>
                </c:pt>
                <c:pt idx="1">
                  <c:v>0.244</c:v>
                </c:pt>
                <c:pt idx="2">
                  <c:v>0.04</c:v>
                </c:pt>
                <c:pt idx="3">
                  <c:v>0.008</c:v>
                </c:pt>
              </c:numCache>
            </c:numRef>
          </c:val>
        </c:ser>
        <c:dLbls>
          <c:numFmt formatCode="0.000" sourceLinked="0"/>
          <c:txPr>
            <a:bodyPr/>
            <a:lstStyle/>
            <a:p>
              <a:pPr>
                <a:defRPr b="0" i="0" strike="noStrike" sz="900" u="none">
                  <a:solidFill>
                    <a:srgbClr val="1F1F1E"/>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5F5C55"/>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EDEAE3"/>
                </a:solidFill>
                <a:latin typeface="Calibri"/>
              </a:defRPr>
            </a:pPr>
            <a:r>
              <a:rPr sz="1100" b="0" i="0" u="none" strike="noStrike">
                <a:solidFill>
                  <a:srgbClr val="EDEAE3"/>
                </a:solidFill>
                <a:latin typeface="Calibri"/>
              </a:rPr>
              <a:t>Same model, three plant routes, tCO₂e/t</a:t>
            </a:r>
          </a:p>
        </c:rich>
      </c:tx>
      <c:layout/>
      <c:overlay val="0"/>
    </c:title>
    <c:autoTitleDeleted val="0"/>
    <c:plotArea>
      <c:layout/>
      <c:barChart>
        <c:barDir val="col"/>
        <c:grouping val="stacked"/>
        <c:varyColors val="0"/>
        <c:ser>
          <c:idx val="0"/>
          <c:order val="0"/>
          <c:tx>
            <c:strRef>
              <c:f>Sheet1!$B$1</c:f>
              <c:strCache>
                <c:ptCount val="1"/>
                <c:pt idx="0">
                  <c:v>Scope 1 — direct</c:v>
                </c:pt>
              </c:strCache>
            </c:strRef>
          </c:tx>
          <c:spPr>
            <a:solidFill>
              <a:srgbClr val="B24A2C"/>
            </a:solidFill>
            <a:effectLst/>
          </c:spPr>
          <c:invertIfNegative val="0"/>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Melt to hot coil</c:v>
                  </c:pt>
                  <c:pt idx="1">
                    <c:v>Melt + cold rolling</c:v>
                  </c:pt>
                  <c:pt idx="2">
                    <c:v>Every step in the grid</c:v>
                  </c:pt>
                </c:lvl>
              </c:multiLvlStrCache>
            </c:multiLvlStrRef>
          </c:cat>
          <c:val>
            <c:numRef>
              <c:f>Sheet1!$B$2:$B$4</c:f>
              <c:numCache>
                <c:formatCode>General</c:formatCode>
                <c:ptCount val="3"/>
                <c:pt idx="0">
                  <c:v>0.443</c:v>
                </c:pt>
                <c:pt idx="1">
                  <c:v>0.523</c:v>
                </c:pt>
                <c:pt idx="2">
                  <c:v>0.728</c:v>
                </c:pt>
              </c:numCache>
            </c:numRef>
          </c:val>
        </c:ser>
        <c:ser>
          <c:idx val="1"/>
          <c:order val="1"/>
          <c:tx>
            <c:strRef>
              <c:f>Sheet1!$C$1</c:f>
              <c:strCache>
                <c:ptCount val="1"/>
                <c:pt idx="0">
                  <c:v>Scope 2 — electricity</c:v>
                </c:pt>
              </c:strCache>
            </c:strRef>
          </c:tx>
          <c:spPr>
            <a:solidFill>
              <a:srgbClr val="C9971F"/>
            </a:solidFill>
            <a:effectLst/>
          </c:spPr>
          <c:invertIfNegative val="0"/>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Melt to hot coil</c:v>
                  </c:pt>
                  <c:pt idx="1">
                    <c:v>Melt + cold rolling</c:v>
                  </c:pt>
                  <c:pt idx="2">
                    <c:v>Every step in the grid</c:v>
                  </c:pt>
                </c:lvl>
              </c:multiLvlStrCache>
            </c:multiLvlStrRef>
          </c:cat>
          <c:val>
            <c:numRef>
              <c:f>Sheet1!$C$2:$C$4</c:f>
              <c:numCache>
                <c:formatCode>General</c:formatCode>
                <c:ptCount val="3"/>
                <c:pt idx="0">
                  <c:v>0.832</c:v>
                </c:pt>
                <c:pt idx="1">
                  <c:v>0.94</c:v>
                </c:pt>
                <c:pt idx="2">
                  <c:v>1.41</c:v>
                </c:pt>
              </c:numCache>
            </c:numRef>
          </c:val>
        </c:ser>
        <c:ser>
          <c:idx val="2"/>
          <c:order val="2"/>
          <c:tx>
            <c:strRef>
              <c:f>Sheet1!$D$1</c:f>
              <c:strCache>
                <c:ptCount val="1"/>
                <c:pt idx="0">
                  <c:v>Scope 3 — upstream</c:v>
                </c:pt>
              </c:strCache>
            </c:strRef>
          </c:tx>
          <c:spPr>
            <a:solidFill>
              <a:srgbClr val="5AA2D0"/>
            </a:solidFill>
            <a:effectLst/>
          </c:spPr>
          <c:invertIfNegative val="0"/>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Melt to hot coil</c:v>
                  </c:pt>
                  <c:pt idx="1">
                    <c:v>Melt + cold rolling</c:v>
                  </c:pt>
                  <c:pt idx="2">
                    <c:v>Every step in the grid</c:v>
                  </c:pt>
                </c:lvl>
              </c:multiLvlStrCache>
            </c:multiLvlStrRef>
          </c:cat>
          <c:val>
            <c:numRef>
              <c:f>Sheet1!$D$2:$D$4</c:f>
              <c:numCache>
                <c:formatCode>General</c:formatCode>
                <c:ptCount val="3"/>
                <c:pt idx="0">
                  <c:v>1.612</c:v>
                </c:pt>
                <c:pt idx="1">
                  <c:v>1.467</c:v>
                </c:pt>
                <c:pt idx="2">
                  <c:v>1.896</c:v>
                </c:pt>
              </c:numCache>
            </c:numRef>
          </c:val>
        </c:ser>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A8A49B"/>
                </a:solidFill>
                <a:latin typeface="Arial"/>
              </a:defRPr>
            </a:pPr>
            <a:endParaRPr lang="en-US"/>
          </a:p>
        </c:txPr>
        <c:crossAx val="2094734552"/>
        <c:crosses val="autoZero"/>
        <c:auto val="1"/>
        <c:lblAlgn val="ctr"/>
        <c:noMultiLvlLbl val="1"/>
      </c:catAx>
      <c:valAx>
        <c:axId val="2094734552"/>
        <c:scaling>
          <c:orientation val="minMax"/>
          <c:max val="4.5"/>
        </c:scaling>
        <c:delete val="0"/>
        <c:axPos val="l"/>
        <c:majorGridlines>
          <c:spPr>
            <a:ln w="6350" cap="flat">
              <a:solidFill>
                <a:srgbClr val="3A383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A8A49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A8A49B"/>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EDEAE3"/>
                </a:solidFill>
                <a:latin typeface="Calibri"/>
              </a:defRPr>
            </a:pPr>
            <a:r>
              <a:rPr sz="1100" b="0" i="0" u="none" strike="noStrike">
                <a:solidFill>
                  <a:srgbClr val="EDEAE3"/>
                </a:solidFill>
                <a:latin typeface="Calibri"/>
              </a:rPr>
              <a:t>Reference plant: tCO₂e/t by ambition level</a:t>
            </a:r>
          </a:p>
        </c:rich>
      </c:tx>
      <c:layout/>
      <c:overlay val="0"/>
    </c:title>
    <c:autoTitleDeleted val="0"/>
    <c:plotArea>
      <c:layout/>
      <c:barChart>
        <c:barDir val="col"/>
        <c:grouping val="stacked"/>
        <c:varyColors val="0"/>
        <c:ser>
          <c:idx val="0"/>
          <c:order val="0"/>
          <c:tx>
            <c:strRef>
              <c:f>Sheet1!$B$1</c:f>
              <c:strCache>
                <c:ptCount val="1"/>
                <c:pt idx="0">
                  <c:v>Scope 1</c:v>
                </c:pt>
              </c:strCache>
            </c:strRef>
          </c:tx>
          <c:spPr>
            <a:solidFill>
              <a:srgbClr val="B24A2C"/>
            </a:solidFill>
            <a:effectLst/>
          </c:spPr>
          <c:invertIfNegative val="0"/>
          <c:dLbls>
            <c:numFmt formatCode="0.00" sourceLinked="0"/>
            <c:txPr>
              <a:bodyPr/>
              <a:lstStyle/>
              <a:p>
                <a:pPr>
                  <a:defRPr b="0" i="0" strike="noStrike" sz="8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Today</c:v>
                  </c:pt>
                  <c:pt idx="1">
                    <c:v>Buildable</c:v>
                  </c:pt>
                  <c:pt idx="2">
                    <c:v>Stretch</c:v>
                  </c:pt>
                  <c:pt idx="3">
                    <c:v>Floor</c:v>
                  </c:pt>
                </c:lvl>
              </c:multiLvlStrCache>
            </c:multiLvlStrRef>
          </c:cat>
          <c:val>
            <c:numRef>
              <c:f>Sheet1!$B$2:$B$5</c:f>
              <c:numCache>
                <c:formatCode>General</c:formatCode>
                <c:ptCount val="4"/>
                <c:pt idx="0">
                  <c:v>0.443</c:v>
                </c:pt>
                <c:pt idx="1">
                  <c:v>0.338</c:v>
                </c:pt>
                <c:pt idx="2">
                  <c:v>0.313</c:v>
                </c:pt>
                <c:pt idx="3">
                  <c:v>0.309</c:v>
                </c:pt>
              </c:numCache>
            </c:numRef>
          </c:val>
        </c:ser>
        <c:ser>
          <c:idx val="1"/>
          <c:order val="1"/>
          <c:tx>
            <c:strRef>
              <c:f>Sheet1!$C$1</c:f>
              <c:strCache>
                <c:ptCount val="1"/>
                <c:pt idx="0">
                  <c:v>Scope 2</c:v>
                </c:pt>
              </c:strCache>
            </c:strRef>
          </c:tx>
          <c:spPr>
            <a:solidFill>
              <a:srgbClr val="C9971F"/>
            </a:solidFill>
            <a:effectLst/>
          </c:spPr>
          <c:invertIfNegative val="0"/>
          <c:dLbls>
            <c:numFmt formatCode="0.00" sourceLinked="0"/>
            <c:txPr>
              <a:bodyPr/>
              <a:lstStyle/>
              <a:p>
                <a:pPr>
                  <a:defRPr b="0" i="0" strike="noStrike" sz="8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Today</c:v>
                  </c:pt>
                  <c:pt idx="1">
                    <c:v>Buildable</c:v>
                  </c:pt>
                  <c:pt idx="2">
                    <c:v>Stretch</c:v>
                  </c:pt>
                  <c:pt idx="3">
                    <c:v>Floor</c:v>
                  </c:pt>
                </c:lvl>
              </c:multiLvlStrCache>
            </c:multiLvlStrRef>
          </c:cat>
          <c:val>
            <c:numRef>
              <c:f>Sheet1!$C$2:$C$5</c:f>
              <c:numCache>
                <c:formatCode>General</c:formatCode>
                <c:ptCount val="4"/>
                <c:pt idx="0">
                  <c:v>0.832</c:v>
                </c:pt>
                <c:pt idx="1">
                  <c:v>0.529</c:v>
                </c:pt>
                <c:pt idx="2">
                  <c:v>0.135</c:v>
                </c:pt>
                <c:pt idx="3">
                  <c:v>0.013</c:v>
                </c:pt>
              </c:numCache>
            </c:numRef>
          </c:val>
        </c:ser>
        <c:ser>
          <c:idx val="2"/>
          <c:order val="2"/>
          <c:tx>
            <c:strRef>
              <c:f>Sheet1!$D$1</c:f>
              <c:strCache>
                <c:ptCount val="1"/>
                <c:pt idx="0">
                  <c:v>Scope 3</c:v>
                </c:pt>
              </c:strCache>
            </c:strRef>
          </c:tx>
          <c:spPr>
            <a:solidFill>
              <a:srgbClr val="5AA2D0"/>
            </a:solidFill>
            <a:effectLst/>
          </c:spPr>
          <c:invertIfNegative val="0"/>
          <c:dLbls>
            <c:numFmt formatCode="0.00" sourceLinked="0"/>
            <c:txPr>
              <a:bodyPr/>
              <a:lstStyle/>
              <a:p>
                <a:pPr>
                  <a:defRPr b="0" i="0" strike="noStrike" sz="8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Today</c:v>
                  </c:pt>
                  <c:pt idx="1">
                    <c:v>Buildable</c:v>
                  </c:pt>
                  <c:pt idx="2">
                    <c:v>Stretch</c:v>
                  </c:pt>
                  <c:pt idx="3">
                    <c:v>Floor</c:v>
                  </c:pt>
                </c:lvl>
              </c:multiLvlStrCache>
            </c:multiLvlStrRef>
          </c:cat>
          <c:val>
            <c:numRef>
              <c:f>Sheet1!$D$2:$D$5</c:f>
              <c:numCache>
                <c:formatCode>General</c:formatCode>
                <c:ptCount val="4"/>
                <c:pt idx="0">
                  <c:v>1.612</c:v>
                </c:pt>
                <c:pt idx="1">
                  <c:v>1.38</c:v>
                </c:pt>
                <c:pt idx="2">
                  <c:v>1.065</c:v>
                </c:pt>
                <c:pt idx="3">
                  <c:v>0.578</c:v>
                </c:pt>
              </c:numCache>
            </c:numRef>
          </c:val>
        </c:ser>
        <c:dLbls>
          <c:numFmt formatCode="0.00" sourceLinked="0"/>
          <c:txPr>
            <a:bodyPr/>
            <a:lstStyle/>
            <a:p>
              <a:pPr>
                <a:defRPr b="0" i="0" strike="noStrike" sz="85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A8A49B"/>
                </a:solidFill>
                <a:latin typeface="Arial"/>
              </a:defRPr>
            </a:pPr>
            <a:endParaRPr lang="en-US"/>
          </a:p>
        </c:txPr>
        <c:crossAx val="2094734552"/>
        <c:crosses val="autoZero"/>
        <c:auto val="1"/>
        <c:lblAlgn val="ctr"/>
        <c:noMultiLvlLbl val="1"/>
      </c:catAx>
      <c:valAx>
        <c:axId val="2094734552"/>
        <c:scaling>
          <c:orientation val="minMax"/>
          <c:max val="3"/>
        </c:scaling>
        <c:delete val="0"/>
        <c:axPos val="l"/>
        <c:majorGridlines>
          <c:spPr>
            <a:ln w="6350" cap="flat">
              <a:solidFill>
                <a:srgbClr val="3A383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A8A49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A8A49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left blank deliberately. Add team name, members, college and the problem statement title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decision gap. Four choices set a tonne's carbon, and the people who make them can't see the result when they choose. The figures are from our model on a reference EAF stainless plant (EAF, AOD, ladle furnace, slab caster, hot strip; about 68% scrap on a coal-heavy grid): 2.887 tCO2e/t, 56% of it Scope 3 (the upstream carbon of ferrochrome, nickel and iron units in the charge), 71% of it in the melt shop, about 1,091 kWh per tonne. The box at the bottom is what the tool therefore has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come from sweeping the model, not from opinion. Left: holding the reference plant's grid and route fixed, scrap from 40% to 100% takes the tonne from 3.86 to 1.77. That's a straight line at about 35 kg per percentage point, because Scope 3 of the charge is linear in scrap. Middle: each lever moved on its own to its buildable limit. The grid is the biggest buildable gap (0.352 t/t), then scrap (0.244). Technology and rail are small. Levers also interact (Scope 2 is kWh times grid factor, and kWh moves with scrap), which is why the optimiser searches them jointly and the waterfall walks them in a fixed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A calculator is only useful if its numbers are believable, so every coefficient in the accounting grid was checked stage by stage against process literature and public benchmarks. For the reference plant (EAF, AOD, ladle furnace, slab caster, hot strip) the model gives about 1,091 kWh and 9.8 GJ per tonne, and 0.44 t/t of Scope 1, all inside published ranges. Scope 3 is driven by the charge: virgin ferrochrome, nickel and pig iron carry about 3.2 tCO2e per tonne upstream, scrap about 0.2. The chart shows why the route matters: the same model gives 2.89, 2.93 or 4.04 t/t depending on which lines run. That is why every step can be switched.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Show the drawer: every input the brief asks for (scrap vs virgin, energy source) plus the ones it doesn't: the rail/road split per leg and the full process route. Inputs are grouped into three photo-led panels. Grid mix and route edits are staged and applied in one step. There's a light and dark theme, and the tool opens on a ready-made plant profile instead of a blank form. Five views sit behind one navigation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tool becomes a decision aid. The optimiser finds the lowest-carbon plan for the plant on screen, within an ambition level that says what can actually be bought or built. Buildable today keeps coal at 45% or more because a grid connection is coal-fired, caps scrap at 75% because stainless still needs virgin chromium and nickel, and never proposes vacuum remelting or a blast furnace. The waterfall splits the 0.639 t/t gap into scrap, grid, rail and technology, and the parts add up exactly. A written review ranks the actions and names the limits that bind. Compare lets a planner test their own alternative. The search is exact, not sampled.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The workbook is the single source of truth. Formulas are kept as text and evaluated through a whitelisted parser, so an engineer can change a coefficient in Excel and the tool follows without a code change. 47 automated tests re-derive the totals. Rollout needs no new hardware: Phase 1 swaps estimates for metered shop-level electricity, the plant's actual power-contract emission factors, and charge-mix records the melt shop already keeps. Phase 2 uses it to size renewable contracts and scrap sourcing and to feed BRSR Core and CBAM reporting. Phase 3 produces per-grade footprints customers can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impact. On the buildable path, only contracts and settings a plant could change within a year, the reference plant falls from 2.887 to 2.248 tCO2e per tonne, 22%. That's 639 kt CO2e a year for every million tonnes produced. The stretch path, a decade of procurement and scrap-supply work, cuts the tonne by 48% and gives Net Zero 2050 a concrete intermediate target. The carbon price is illustrative, to show how the tool turns carbon into money. Invite the judges to open the tool and change any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24A2C"/>
          </a:solidFill>
          <a:ln w="12700">
            <a:solidFill>
              <a:srgbClr val="B24A2C"/>
            </a:solidFill>
            <a:prstDash val="solid"/>
          </a:ln>
        </p:spPr>
      </p:sp>
      <p:sp>
        <p:nvSpPr>
          <p:cNvPr id="3" name="Text 1"/>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 name="Text 2"/>
          <p:cNvSpPr txBox="1"/>
          <p:nvPr/>
        </p:nvSpPr>
        <p:spPr>
          <a:xfrm>
            <a:off x="1051560" y="329184"/>
            <a:ext cx="10058400" cy="256032"/>
          </a:xfrm>
          <a:prstGeom prst="rect">
            <a:avLst/>
          </a:prstGeom>
          <a:noFill/>
          <a:ln/>
        </p:spPr>
        <p:txBody>
          <a:bodyPr wrap="square" lIns="0" tIns="0" rIns="0" bIns="0" rtlCol="0" anchor="ctr"/>
          <a:lstStyle/>
          <a:p>
            <a:pPr indent="0" marL="0">
              <a:buNone/>
            </a:pPr>
            <a:r>
              <a:rPr lang="en-US" sz="1100" b="1" spc="100" kern="0" dirty="0">
                <a:solidFill>
                  <a:srgbClr val="B24A2C"/>
                </a:solidFill>
                <a:latin typeface="Calibri" pitchFamily="34" charset="0"/>
                <a:ea typeface="Calibri" pitchFamily="34" charset="-122"/>
                <a:cs typeface="Calibri" pitchFamily="34" charset="-120"/>
              </a:rPr>
              <a:t>PROBLEM  ·  WHY IT MATTERS</a:t>
            </a:r>
            <a:endParaRPr lang="en-US" sz="1100" dirty="0"/>
          </a:p>
        </p:txBody>
      </p:sp>
      <p:sp>
        <p:nvSpPr>
          <p:cNvPr id="5" name="Text 3"/>
          <p:cNvSpPr txBox="1"/>
          <p:nvPr/>
        </p:nvSpPr>
        <p:spPr>
          <a:xfrm>
            <a:off x="1051560" y="585216"/>
            <a:ext cx="10698480" cy="566928"/>
          </a:xfrm>
          <a:prstGeom prst="rect">
            <a:avLst/>
          </a:prstGeom>
          <a:noFill/>
          <a:ln/>
        </p:spPr>
        <p:txBody>
          <a:bodyPr wrap="square" lIns="0" tIns="0" rIns="0" bIns="0" rtlCol="0" anchor="t"/>
          <a:lstStyle/>
          <a:p>
            <a:pPr indent="0" marL="0">
              <a:buNone/>
            </a:pPr>
            <a:r>
              <a:rPr lang="en-US" sz="3000" dirty="0">
                <a:solidFill>
                  <a:srgbClr val="1F1F1E"/>
                </a:solidFill>
                <a:latin typeface="Cambria" pitchFamily="34" charset="0"/>
                <a:ea typeface="Cambria" pitchFamily="34" charset="-122"/>
                <a:cs typeface="Cambria" pitchFamily="34" charset="-120"/>
              </a:rPr>
              <a:t>A tonne's carbon is set by choices nobody can price</a:t>
            </a:r>
            <a:endParaRPr lang="en-US" sz="3000" dirty="0"/>
          </a:p>
        </p:txBody>
      </p:sp>
      <p:sp>
        <p:nvSpPr>
          <p:cNvPr id="6" name="Text 4"/>
          <p:cNvSpPr txBox="1"/>
          <p:nvPr/>
        </p:nvSpPr>
        <p:spPr>
          <a:xfrm>
            <a:off x="548640" y="1371600"/>
            <a:ext cx="5669280" cy="1097280"/>
          </a:xfrm>
          <a:prstGeom prst="rect">
            <a:avLst/>
          </a:prstGeom>
          <a:noFill/>
          <a:ln/>
        </p:spPr>
        <p:txBody>
          <a:bodyPr wrap="square" lIns="0" tIns="0" rIns="0" bIns="0" rtlCol="0" anchor="t"/>
          <a:lstStyle/>
          <a:p>
            <a:pPr indent="0" marL="0">
              <a:buNone/>
            </a:pPr>
            <a:r>
              <a:rPr lang="en-US" sz="1300" dirty="0">
                <a:solidFill>
                  <a:srgbClr val="5F5C55"/>
                </a:solidFill>
                <a:latin typeface="Calibri" pitchFamily="34" charset="0"/>
                <a:ea typeface="Calibri" pitchFamily="34" charset="-122"/>
                <a:cs typeface="Calibri" pitchFamily="34" charset="-120"/>
              </a:rPr>
              <a:t>Stainless carbon per tonne is fixed by a few decisions: how much scrap goes in the charge, which electricity feeds the furnaces, how material is hauled, and which technology each stage runs. The people who make those decisions (procurement, melt shop, logistics) have no number in front of them when they make them.</a:t>
            </a:r>
            <a:endParaRPr lang="en-US" sz="1300" dirty="0"/>
          </a:p>
        </p:txBody>
      </p:sp>
      <p:sp>
        <p:nvSpPr>
          <p:cNvPr id="7" name="Text 5"/>
          <p:cNvSpPr txBox="1"/>
          <p:nvPr/>
        </p:nvSpPr>
        <p:spPr>
          <a:xfrm>
            <a:off x="548640" y="2606040"/>
            <a:ext cx="4572000" cy="228600"/>
          </a:xfrm>
          <a:prstGeom prst="rect">
            <a:avLst/>
          </a:prstGeom>
          <a:noFill/>
          <a:ln/>
        </p:spPr>
        <p:txBody>
          <a:bodyPr wrap="square" lIns="0" tIns="0" rIns="0" bIns="0" rtlCol="0" anchor="ctr"/>
          <a:lstStyle/>
          <a:p>
            <a:pPr indent="0" marL="0">
              <a:buNone/>
            </a:pPr>
            <a:r>
              <a:rPr lang="en-US" sz="1050" b="1" spc="100" kern="0" dirty="0">
                <a:solidFill>
                  <a:srgbClr val="B24A2C"/>
                </a:solidFill>
                <a:latin typeface="Calibri" pitchFamily="34" charset="0"/>
                <a:ea typeface="Calibri" pitchFamily="34" charset="-122"/>
                <a:cs typeface="Calibri" pitchFamily="34" charset="-120"/>
              </a:rPr>
              <a:t>THE GAP</a:t>
            </a:r>
            <a:endParaRPr lang="en-US" sz="1050" dirty="0"/>
          </a:p>
        </p:txBody>
      </p:sp>
      <p:sp>
        <p:nvSpPr>
          <p:cNvPr id="8" name="Text 6"/>
          <p:cNvSpPr txBox="1"/>
          <p:nvPr/>
        </p:nvSpPr>
        <p:spPr>
          <a:xfrm>
            <a:off x="548640" y="2880360"/>
            <a:ext cx="5669280" cy="18288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1F1E"/>
                </a:solidFill>
                <a:latin typeface="Calibri" pitchFamily="34" charset="0"/>
                <a:ea typeface="Calibri" pitchFamily="34" charset="-122"/>
                <a:cs typeface="Calibri" pitchFamily="34" charset="-120"/>
              </a:rPr>
              <a:t>The coefficients sit in an accounting workbook: 67 process steps × 11 metrics. It's built for audit, not for deciding anything.</a:t>
            </a:r>
            <a:endParaRPr lang="en-US" sz="1250" dirty="0"/>
          </a:p>
          <a:p>
            <a:pPr marL="342900" indent="-342900">
              <a:spcAft>
                <a:spcPts val="600"/>
              </a:spcAft>
              <a:buSzPct val="100000"/>
              <a:buChar char="•"/>
            </a:pPr>
            <a:r>
              <a:rPr lang="en-US" sz="1250" dirty="0">
                <a:solidFill>
                  <a:srgbClr val="1F1F1E"/>
                </a:solidFill>
                <a:latin typeface="Calibri" pitchFamily="34" charset="0"/>
                <a:ea typeface="Calibri" pitchFamily="34" charset="-122"/>
                <a:cs typeface="Calibri" pitchFamily="34" charset="-120"/>
              </a:rPr>
              <a:t>BRSR Core, EU CBAM and India's Carbon Credit Trading Scheme all ask for per-tonne intensity, and Net Zero 2050 needs every marginal choice priced.</a:t>
            </a:r>
            <a:endParaRPr lang="en-US" sz="1250" dirty="0"/>
          </a:p>
          <a:p>
            <a:pPr marL="342900" indent="-342900">
              <a:spcAft>
                <a:spcPts val="600"/>
              </a:spcAft>
              <a:buSzPct val="100000"/>
              <a:buChar char="•"/>
            </a:pPr>
            <a:r>
              <a:rPr lang="en-US" sz="1250" dirty="0">
                <a:solidFill>
                  <a:srgbClr val="1F1F1E"/>
                </a:solidFill>
                <a:latin typeface="Calibri" pitchFamily="34" charset="0"/>
                <a:ea typeface="Calibri" pitchFamily="34" charset="-122"/>
                <a:cs typeface="Calibri" pitchFamily="34" charset="-120"/>
              </a:rPr>
              <a:t>Levers interact. Scope 2 is kWh × grid factor and kWh moves with scrap, so ranking them one at a time can mislead.</a:t>
            </a:r>
            <a:endParaRPr lang="en-US" sz="1250" dirty="0"/>
          </a:p>
        </p:txBody>
      </p:sp>
      <p:sp>
        <p:nvSpPr>
          <p:cNvPr id="9" name="Text 7"/>
          <p:cNvSpPr txBox="1"/>
          <p:nvPr/>
        </p:nvSpPr>
        <p:spPr>
          <a:xfrm>
            <a:off x="548640" y="4846320"/>
            <a:ext cx="4572000" cy="228600"/>
          </a:xfrm>
          <a:prstGeom prst="rect">
            <a:avLst/>
          </a:prstGeom>
          <a:noFill/>
          <a:ln/>
        </p:spPr>
        <p:txBody>
          <a:bodyPr wrap="square" lIns="0" tIns="0" rIns="0" bIns="0" rtlCol="0" anchor="ctr"/>
          <a:lstStyle/>
          <a:p>
            <a:pPr indent="0" marL="0">
              <a:buNone/>
            </a:pPr>
            <a:r>
              <a:rPr lang="en-US" sz="1050" b="1" spc="100" kern="0" dirty="0">
                <a:solidFill>
                  <a:srgbClr val="B24A2C"/>
                </a:solidFill>
                <a:latin typeface="Calibri" pitchFamily="34" charset="0"/>
                <a:ea typeface="Calibri" pitchFamily="34" charset="-122"/>
                <a:cs typeface="Calibri" pitchFamily="34" charset="-120"/>
              </a:rPr>
              <a:t>WHAT THE TOOL MUST DO</a:t>
            </a:r>
            <a:endParaRPr lang="en-US" sz="1050" dirty="0"/>
          </a:p>
        </p:txBody>
      </p:sp>
      <p:sp>
        <p:nvSpPr>
          <p:cNvPr id="10" name="Shape 8"/>
          <p:cNvSpPr/>
          <p:nvPr/>
        </p:nvSpPr>
        <p:spPr>
          <a:xfrm>
            <a:off x="548640" y="5120640"/>
            <a:ext cx="5669280" cy="1234440"/>
          </a:xfrm>
          <a:prstGeom prst="rect">
            <a:avLst/>
          </a:prstGeom>
          <a:solidFill>
            <a:srgbClr val="F2F0EB"/>
          </a:solidFill>
          <a:ln w="12700">
            <a:solidFill>
              <a:srgbClr val="F2F0EB"/>
            </a:solidFill>
            <a:prstDash val="solid"/>
          </a:ln>
        </p:spPr>
      </p:sp>
      <p:sp>
        <p:nvSpPr>
          <p:cNvPr id="11" name="Text 9"/>
          <p:cNvSpPr txBox="1"/>
          <p:nvPr/>
        </p:nvSpPr>
        <p:spPr>
          <a:xfrm>
            <a:off x="731520" y="5212080"/>
            <a:ext cx="5349240" cy="1051560"/>
          </a:xfrm>
          <a:prstGeom prst="rect">
            <a:avLst/>
          </a:prstGeom>
          <a:noFill/>
          <a:ln/>
        </p:spPr>
        <p:txBody>
          <a:bodyPr wrap="square" lIns="0" tIns="0" rIns="0" bIns="0" rtlCol="0" anchor="ctr"/>
          <a:lstStyle/>
          <a:p>
            <a:pPr indent="0" marL="0">
              <a:spcAft>
                <a:spcPts val="600"/>
              </a:spcAft>
              <a:buNone/>
            </a:pPr>
            <a:r>
              <a:rPr lang="en-US" sz="1200" b="1" dirty="0">
                <a:solidFill>
                  <a:srgbClr val="1F1F1E"/>
                </a:solidFill>
                <a:latin typeface="Calibri" pitchFamily="34" charset="0"/>
                <a:ea typeface="Calibri" pitchFamily="34" charset="-122"/>
                <a:cs typeface="Calibri" pitchFamily="34" charset="-120"/>
              </a:rPr>
              <a:t>Price: </a:t>
            </a:r>
            <a:pPr indent="0" marL="0">
              <a:spcAft>
                <a:spcPts val="600"/>
              </a:spcAft>
              <a:buNone/>
            </a:pPr>
            <a:r>
              <a:rPr lang="en-US" sz="1200" dirty="0">
                <a:solidFill>
                  <a:srgbClr val="5F5C55"/>
                </a:solidFill>
                <a:latin typeface="Calibri" pitchFamily="34" charset="0"/>
                <a:ea typeface="Calibri" pitchFamily="34" charset="-122"/>
                <a:cs typeface="Calibri" pitchFamily="34" charset="-120"/>
              </a:rPr>
              <a:t>every lever (scrap, grid mix, haulage, route) per scope, live as it is dragged.</a:t>
            </a:r>
            <a:endParaRPr lang="en-US" sz="1200" dirty="0"/>
          </a:p>
          <a:p>
            <a:pPr indent="0" marL="0">
              <a:spcAft>
                <a:spcPts val="600"/>
              </a:spcAft>
              <a:buNone/>
            </a:pPr>
            <a:r>
              <a:rPr lang="en-US" sz="1200" b="1" dirty="0">
                <a:solidFill>
                  <a:srgbClr val="1F1F1E"/>
                </a:solidFill>
                <a:latin typeface="Calibri" pitchFamily="34" charset="0"/>
                <a:ea typeface="Calibri" pitchFamily="34" charset="-122"/>
                <a:cs typeface="Calibri" pitchFamily="34" charset="-120"/>
              </a:rPr>
              <a:t>Recommend: </a:t>
            </a:r>
            <a:pPr indent="0" marL="0">
              <a:spcAft>
                <a:spcPts val="600"/>
              </a:spcAft>
              <a:buNone/>
            </a:pPr>
            <a:r>
              <a:rPr lang="en-US" sz="1200" dirty="0">
                <a:solidFill>
                  <a:srgbClr val="5F5C55"/>
                </a:solidFill>
                <a:latin typeface="Calibri" pitchFamily="34" charset="0"/>
                <a:ea typeface="Calibri" pitchFamily="34" charset="-122"/>
                <a:cs typeface="Calibri" pitchFamily="34" charset="-120"/>
              </a:rPr>
              <a:t>the lowest-carbon plan that is actually buildable, what to change first, and by how much.</a:t>
            </a:r>
            <a:endParaRPr lang="en-US" sz="1200" dirty="0"/>
          </a:p>
        </p:txBody>
      </p:sp>
      <p:sp>
        <p:nvSpPr>
          <p:cNvPr id="12" name="Shape 10"/>
          <p:cNvSpPr/>
          <p:nvPr/>
        </p:nvSpPr>
        <p:spPr>
          <a:xfrm>
            <a:off x="6583680" y="1371600"/>
            <a:ext cx="5074920" cy="4983480"/>
          </a:xfrm>
          <a:prstGeom prst="rect">
            <a:avLst/>
          </a:prstGeom>
          <a:solidFill>
            <a:srgbClr val="F2F0EB"/>
          </a:solidFill>
          <a:ln w="12700">
            <a:solidFill>
              <a:srgbClr val="F2F0EB"/>
            </a:solidFill>
            <a:prstDash val="solid"/>
          </a:ln>
        </p:spPr>
      </p:sp>
      <p:sp>
        <p:nvSpPr>
          <p:cNvPr id="13" name="Text 11"/>
          <p:cNvSpPr txBox="1"/>
          <p:nvPr/>
        </p:nvSpPr>
        <p:spPr>
          <a:xfrm>
            <a:off x="6812280" y="1536192"/>
            <a:ext cx="4754880" cy="228600"/>
          </a:xfrm>
          <a:prstGeom prst="rect">
            <a:avLst/>
          </a:prstGeom>
          <a:noFill/>
          <a:ln/>
        </p:spPr>
        <p:txBody>
          <a:bodyPr wrap="square" lIns="0" tIns="0" rIns="0" bIns="0" rtlCol="0" anchor="ctr"/>
          <a:lstStyle/>
          <a:p>
            <a:pPr indent="0" marL="0">
              <a:buNone/>
            </a:pPr>
            <a:r>
              <a:rPr lang="en-US" sz="1050" b="1" spc="100" kern="0" dirty="0">
                <a:solidFill>
                  <a:srgbClr val="B24A2C"/>
                </a:solidFill>
                <a:latin typeface="Calibri" pitchFamily="34" charset="0"/>
                <a:ea typeface="Calibri" pitchFamily="34" charset="-122"/>
                <a:cs typeface="Calibri" pitchFamily="34" charset="-120"/>
              </a:rPr>
              <a:t>THE TONNE TODAY — REFERENCE PLANT</a:t>
            </a:r>
            <a:endParaRPr lang="en-US" sz="1050" dirty="0"/>
          </a:p>
        </p:txBody>
      </p:sp>
      <p:sp>
        <p:nvSpPr>
          <p:cNvPr id="14" name="Text 12"/>
          <p:cNvSpPr txBox="1"/>
          <p:nvPr/>
        </p:nvSpPr>
        <p:spPr>
          <a:xfrm>
            <a:off x="6812280" y="1874520"/>
            <a:ext cx="2286000" cy="457200"/>
          </a:xfrm>
          <a:prstGeom prst="rect">
            <a:avLst/>
          </a:prstGeom>
          <a:noFill/>
          <a:ln/>
        </p:spPr>
        <p:txBody>
          <a:bodyPr wrap="square" lIns="0" tIns="0" rIns="0" bIns="0" rtlCol="0" anchor="ctr"/>
          <a:lstStyle/>
          <a:p>
            <a:pPr indent="0" marL="0">
              <a:buNone/>
            </a:pPr>
            <a:r>
              <a:rPr lang="en-US" sz="2800" dirty="0">
                <a:solidFill>
                  <a:srgbClr val="B24A2C"/>
                </a:solidFill>
                <a:latin typeface="Cambria" pitchFamily="34" charset="0"/>
                <a:ea typeface="Cambria" pitchFamily="34" charset="-122"/>
                <a:cs typeface="Cambria" pitchFamily="34" charset="-120"/>
              </a:rPr>
              <a:t>2.887</a:t>
            </a:r>
            <a:endParaRPr lang="en-US" sz="2800" dirty="0"/>
          </a:p>
        </p:txBody>
      </p:sp>
      <p:sp>
        <p:nvSpPr>
          <p:cNvPr id="15" name="Text 13"/>
          <p:cNvSpPr txBox="1"/>
          <p:nvPr/>
        </p:nvSpPr>
        <p:spPr>
          <a:xfrm>
            <a:off x="6812280" y="2331720"/>
            <a:ext cx="2286000" cy="41148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tCO₂e per tonne: EAF → AOD → LF → caster → hot strip</a:t>
            </a:r>
            <a:endParaRPr lang="en-US" sz="1000" dirty="0"/>
          </a:p>
        </p:txBody>
      </p:sp>
      <p:sp>
        <p:nvSpPr>
          <p:cNvPr id="16" name="Text 14"/>
          <p:cNvSpPr txBox="1"/>
          <p:nvPr/>
        </p:nvSpPr>
        <p:spPr>
          <a:xfrm>
            <a:off x="9235440" y="1874520"/>
            <a:ext cx="2286000" cy="457200"/>
          </a:xfrm>
          <a:prstGeom prst="rect">
            <a:avLst/>
          </a:prstGeom>
          <a:noFill/>
          <a:ln/>
        </p:spPr>
        <p:txBody>
          <a:bodyPr wrap="square" lIns="0" tIns="0" rIns="0" bIns="0" rtlCol="0" anchor="ctr"/>
          <a:lstStyle/>
          <a:p>
            <a:pPr indent="0" marL="0">
              <a:buNone/>
            </a:pPr>
            <a:r>
              <a:rPr lang="en-US" sz="2800" dirty="0">
                <a:solidFill>
                  <a:srgbClr val="1F6E9E"/>
                </a:solidFill>
                <a:latin typeface="Cambria" pitchFamily="34" charset="0"/>
                <a:ea typeface="Cambria" pitchFamily="34" charset="-122"/>
                <a:cs typeface="Cambria" pitchFamily="34" charset="-120"/>
              </a:rPr>
              <a:t>56%</a:t>
            </a:r>
            <a:endParaRPr lang="en-US" sz="2800" dirty="0"/>
          </a:p>
        </p:txBody>
      </p:sp>
      <p:sp>
        <p:nvSpPr>
          <p:cNvPr id="17" name="Text 15"/>
          <p:cNvSpPr txBox="1"/>
          <p:nvPr/>
        </p:nvSpPr>
        <p:spPr>
          <a:xfrm>
            <a:off x="9235440" y="2331720"/>
            <a:ext cx="2286000" cy="41148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is Scope 3: the upstream carbon of the charge</a:t>
            </a:r>
            <a:endParaRPr lang="en-US" sz="1000" dirty="0"/>
          </a:p>
        </p:txBody>
      </p:sp>
      <p:sp>
        <p:nvSpPr>
          <p:cNvPr id="18" name="Text 16"/>
          <p:cNvSpPr txBox="1"/>
          <p:nvPr/>
        </p:nvSpPr>
        <p:spPr>
          <a:xfrm>
            <a:off x="6812280" y="2834640"/>
            <a:ext cx="2286000" cy="457200"/>
          </a:xfrm>
          <a:prstGeom prst="rect">
            <a:avLst/>
          </a:prstGeom>
          <a:noFill/>
          <a:ln/>
        </p:spPr>
        <p:txBody>
          <a:bodyPr wrap="square" lIns="0" tIns="0" rIns="0" bIns="0" rtlCol="0" anchor="ctr"/>
          <a:lstStyle/>
          <a:p>
            <a:pPr indent="0" marL="0">
              <a:buNone/>
            </a:pPr>
            <a:r>
              <a:rPr lang="en-US" sz="2800" dirty="0">
                <a:solidFill>
                  <a:srgbClr val="C9971F"/>
                </a:solidFill>
                <a:latin typeface="Cambria" pitchFamily="34" charset="0"/>
                <a:ea typeface="Cambria" pitchFamily="34" charset="-122"/>
                <a:cs typeface="Cambria" pitchFamily="34" charset="-120"/>
              </a:rPr>
              <a:t>71%</a:t>
            </a:r>
            <a:endParaRPr lang="en-US" sz="2800" dirty="0"/>
          </a:p>
        </p:txBody>
      </p:sp>
      <p:sp>
        <p:nvSpPr>
          <p:cNvPr id="19" name="Text 17"/>
          <p:cNvSpPr txBox="1"/>
          <p:nvPr/>
        </p:nvSpPr>
        <p:spPr>
          <a:xfrm>
            <a:off x="6812280" y="3291840"/>
            <a:ext cx="2286000" cy="41148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sits in the melt shop (2.04 t/t)</a:t>
            </a:r>
            <a:endParaRPr lang="en-US" sz="1000" dirty="0"/>
          </a:p>
        </p:txBody>
      </p:sp>
      <p:sp>
        <p:nvSpPr>
          <p:cNvPr id="20" name="Text 18"/>
          <p:cNvSpPr txBox="1"/>
          <p:nvPr/>
        </p:nvSpPr>
        <p:spPr>
          <a:xfrm>
            <a:off x="9235440" y="2834640"/>
            <a:ext cx="2286000" cy="457200"/>
          </a:xfrm>
          <a:prstGeom prst="rect">
            <a:avLst/>
          </a:prstGeom>
          <a:noFill/>
          <a:ln/>
        </p:spPr>
        <p:txBody>
          <a:bodyPr wrap="square" lIns="0" tIns="0" rIns="0" bIns="0" rtlCol="0" anchor="ctr"/>
          <a:lstStyle/>
          <a:p>
            <a:pPr indent="0" marL="0">
              <a:buNone/>
            </a:pPr>
            <a:r>
              <a:rPr lang="en-US" sz="2800" dirty="0">
                <a:solidFill>
                  <a:srgbClr val="1F1F1E"/>
                </a:solidFill>
                <a:latin typeface="Cambria" pitchFamily="34" charset="0"/>
                <a:ea typeface="Cambria" pitchFamily="34" charset="-122"/>
                <a:cs typeface="Cambria" pitchFamily="34" charset="-120"/>
              </a:rPr>
              <a:t>1,091</a:t>
            </a:r>
            <a:endParaRPr lang="en-US" sz="2800" dirty="0"/>
          </a:p>
        </p:txBody>
      </p:sp>
      <p:sp>
        <p:nvSpPr>
          <p:cNvPr id="21" name="Text 19"/>
          <p:cNvSpPr txBox="1"/>
          <p:nvPr/>
        </p:nvSpPr>
        <p:spPr>
          <a:xfrm>
            <a:off x="9235440" y="3291840"/>
            <a:ext cx="2286000" cy="41148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kWh of electricity per tonne</a:t>
            </a:r>
            <a:endParaRPr lang="en-US" sz="1000" dirty="0"/>
          </a:p>
        </p:txBody>
      </p:sp>
      <p:graphicFrame>
        <p:nvGraphicFramePr>
          <p:cNvPr id="22" name="Chart 0" descr=""/>
          <p:cNvGraphicFramePr/>
          <p:nvPr/>
        </p:nvGraphicFramePr>
        <p:xfrm>
          <a:off x="6720840" y="3840480"/>
          <a:ext cx="4846320" cy="24688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24A2C"/>
          </a:solidFill>
          <a:ln w="12700">
            <a:solidFill>
              <a:srgbClr val="B24A2C"/>
            </a:solidFill>
            <a:prstDash val="solid"/>
          </a:ln>
        </p:spPr>
      </p:sp>
      <p:sp>
        <p:nvSpPr>
          <p:cNvPr id="3" name="Text 1"/>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 name="Text 2"/>
          <p:cNvSpPr txBox="1"/>
          <p:nvPr/>
        </p:nvSpPr>
        <p:spPr>
          <a:xfrm>
            <a:off x="1051560" y="329184"/>
            <a:ext cx="10058400" cy="256032"/>
          </a:xfrm>
          <a:prstGeom prst="rect">
            <a:avLst/>
          </a:prstGeom>
          <a:noFill/>
          <a:ln/>
        </p:spPr>
        <p:txBody>
          <a:bodyPr wrap="square" lIns="0" tIns="0" rIns="0" bIns="0" rtlCol="0" anchor="ctr"/>
          <a:lstStyle/>
          <a:p>
            <a:pPr indent="0" marL="0">
              <a:buNone/>
            </a:pPr>
            <a:r>
              <a:rPr lang="en-US" sz="1100" b="1" spc="100" kern="0" dirty="0">
                <a:solidFill>
                  <a:srgbClr val="B24A2C"/>
                </a:solidFill>
                <a:latin typeface="Calibri" pitchFamily="34" charset="0"/>
                <a:ea typeface="Calibri" pitchFamily="34" charset="-122"/>
                <a:cs typeface="Calibri" pitchFamily="34" charset="-120"/>
              </a:rPr>
              <a:t>INSIGHTS  ·  WHAT THE MODEL TELLS US</a:t>
            </a:r>
            <a:endParaRPr lang="en-US" sz="1100" dirty="0"/>
          </a:p>
        </p:txBody>
      </p:sp>
      <p:sp>
        <p:nvSpPr>
          <p:cNvPr id="5" name="Text 3"/>
          <p:cNvSpPr txBox="1"/>
          <p:nvPr/>
        </p:nvSpPr>
        <p:spPr>
          <a:xfrm>
            <a:off x="1051560" y="585216"/>
            <a:ext cx="10698480" cy="566928"/>
          </a:xfrm>
          <a:prstGeom prst="rect">
            <a:avLst/>
          </a:prstGeom>
          <a:noFill/>
          <a:ln/>
        </p:spPr>
        <p:txBody>
          <a:bodyPr wrap="square" lIns="0" tIns="0" rIns="0" bIns="0" rtlCol="0" anchor="t"/>
          <a:lstStyle/>
          <a:p>
            <a:pPr indent="0" marL="0">
              <a:buNone/>
            </a:pPr>
            <a:r>
              <a:rPr lang="en-US" sz="3000" dirty="0">
                <a:solidFill>
                  <a:srgbClr val="1F1F1E"/>
                </a:solidFill>
                <a:latin typeface="Cambria" pitchFamily="34" charset="0"/>
                <a:ea typeface="Cambria" pitchFamily="34" charset="-122"/>
                <a:cs typeface="Cambria" pitchFamily="34" charset="-120"/>
              </a:rPr>
              <a:t>Two levers carry the tonne, and order matters</a:t>
            </a:r>
            <a:endParaRPr lang="en-US" sz="3000" dirty="0"/>
          </a:p>
        </p:txBody>
      </p:sp>
      <p:sp>
        <p:nvSpPr>
          <p:cNvPr id="6" name="Shape 4"/>
          <p:cNvSpPr/>
          <p:nvPr/>
        </p:nvSpPr>
        <p:spPr>
          <a:xfrm>
            <a:off x="548640" y="1371600"/>
            <a:ext cx="3657600" cy="3063240"/>
          </a:xfrm>
          <a:prstGeom prst="rect">
            <a:avLst/>
          </a:prstGeom>
          <a:solidFill>
            <a:srgbClr val="F2F0EB"/>
          </a:solidFill>
          <a:ln w="12700">
            <a:solidFill>
              <a:srgbClr val="F2F0EB"/>
            </a:solidFill>
            <a:prstDash val="solid"/>
          </a:ln>
        </p:spPr>
      </p:sp>
      <p:graphicFrame>
        <p:nvGraphicFramePr>
          <p:cNvPr id="7" name="Chart 0" descr=""/>
          <p:cNvGraphicFramePr/>
          <p:nvPr/>
        </p:nvGraphicFramePr>
        <p:xfrm>
          <a:off x="640080" y="1463040"/>
          <a:ext cx="3474720" cy="28803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4389120" y="1371600"/>
            <a:ext cx="3657600" cy="3063240"/>
          </a:xfrm>
          <a:prstGeom prst="rect">
            <a:avLst/>
          </a:prstGeom>
          <a:solidFill>
            <a:srgbClr val="F2F0EB"/>
          </a:solidFill>
          <a:ln w="12700">
            <a:solidFill>
              <a:srgbClr val="F2F0EB"/>
            </a:solidFill>
            <a:prstDash val="solid"/>
          </a:ln>
        </p:spPr>
      </p:sp>
      <p:graphicFrame>
        <p:nvGraphicFramePr>
          <p:cNvPr id="9" name="Chart 1" descr=""/>
          <p:cNvGraphicFramePr/>
          <p:nvPr/>
        </p:nvGraphicFramePr>
        <p:xfrm>
          <a:off x="4480560" y="1463040"/>
          <a:ext cx="3474720" cy="288036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548640" y="4526280"/>
            <a:ext cx="7498080" cy="274320"/>
          </a:xfrm>
          <a:prstGeom prst="rect">
            <a:avLst/>
          </a:prstGeom>
          <a:noFill/>
          <a:ln/>
        </p:spPr>
        <p:txBody>
          <a:bodyPr wrap="square" lIns="0" tIns="0" rIns="0" bIns="0" rtlCol="0" anchor="ctr"/>
          <a:lstStyle/>
          <a:p>
            <a:pPr indent="0" marL="0">
              <a:buNone/>
            </a:pPr>
            <a:r>
              <a:rPr lang="en-US" sz="1000" i="1" dirty="0">
                <a:solidFill>
                  <a:srgbClr val="8A867D"/>
                </a:solidFill>
                <a:latin typeface="Calibri" pitchFamily="34" charset="0"/>
                <a:ea typeface="Calibri" pitchFamily="34" charset="-122"/>
                <a:cs typeface="Calibri" pitchFamily="34" charset="-120"/>
              </a:rPr>
              <a:t>Levers priced one at a time from the reference plant today. Scrap capped at 75%, coal held at 45% or more.</a:t>
            </a:r>
            <a:endParaRPr lang="en-US" sz="1000" dirty="0"/>
          </a:p>
        </p:txBody>
      </p:sp>
      <p:sp>
        <p:nvSpPr>
          <p:cNvPr id="11" name="Text 7"/>
          <p:cNvSpPr txBox="1"/>
          <p:nvPr/>
        </p:nvSpPr>
        <p:spPr>
          <a:xfrm>
            <a:off x="548640" y="4937760"/>
            <a:ext cx="2743200" cy="228600"/>
          </a:xfrm>
          <a:prstGeom prst="rect">
            <a:avLst/>
          </a:prstGeom>
          <a:noFill/>
          <a:ln/>
        </p:spPr>
        <p:txBody>
          <a:bodyPr wrap="square" lIns="0" tIns="0" rIns="0" bIns="0" rtlCol="0" anchor="ctr"/>
          <a:lstStyle/>
          <a:p>
            <a:pPr indent="0" marL="0">
              <a:buNone/>
            </a:pPr>
            <a:r>
              <a:rPr lang="en-US" sz="1050" b="1" spc="100" kern="0" dirty="0">
                <a:solidFill>
                  <a:srgbClr val="B24A2C"/>
                </a:solidFill>
                <a:latin typeface="Calibri" pitchFamily="34" charset="0"/>
                <a:ea typeface="Calibri" pitchFamily="34" charset="-122"/>
                <a:cs typeface="Calibri" pitchFamily="34" charset="-120"/>
              </a:rPr>
              <a:t>FRAMEWORK</a:t>
            </a:r>
            <a:endParaRPr lang="en-US" sz="1050" dirty="0"/>
          </a:p>
        </p:txBody>
      </p:sp>
      <p:sp>
        <p:nvSpPr>
          <p:cNvPr id="12" name="Text 8"/>
          <p:cNvSpPr txBox="1"/>
          <p:nvPr/>
        </p:nvSpPr>
        <p:spPr>
          <a:xfrm>
            <a:off x="548640" y="5212080"/>
            <a:ext cx="2423160" cy="274320"/>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GHG Protocol</a:t>
            </a:r>
            <a:endParaRPr lang="en-US" sz="1200" dirty="0"/>
          </a:p>
        </p:txBody>
      </p:sp>
      <p:sp>
        <p:nvSpPr>
          <p:cNvPr id="13" name="Text 9"/>
          <p:cNvSpPr txBox="1"/>
          <p:nvPr/>
        </p:nvSpPr>
        <p:spPr>
          <a:xfrm>
            <a:off x="548640" y="5486400"/>
            <a:ext cx="2377440" cy="77724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Scope 1 · 2 · 3 (Cat. 1–8) kept separate; gases never double-counted</a:t>
            </a:r>
            <a:endParaRPr lang="en-US" sz="1050" dirty="0"/>
          </a:p>
        </p:txBody>
      </p:sp>
      <p:sp>
        <p:nvSpPr>
          <p:cNvPr id="14" name="Text 10"/>
          <p:cNvSpPr txBox="1"/>
          <p:nvPr/>
        </p:nvSpPr>
        <p:spPr>
          <a:xfrm>
            <a:off x="3108960" y="5212080"/>
            <a:ext cx="2423160" cy="274320"/>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Linear structure</a:t>
            </a:r>
            <a:endParaRPr lang="en-US" sz="1200" dirty="0"/>
          </a:p>
        </p:txBody>
      </p:sp>
      <p:sp>
        <p:nvSpPr>
          <p:cNvPr id="15" name="Text 11"/>
          <p:cNvSpPr txBox="1"/>
          <p:nvPr/>
        </p:nvSpPr>
        <p:spPr>
          <a:xfrm>
            <a:off x="3108960" y="5486400"/>
            <a:ext cx="2377440" cy="77724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every metric is linear in scrap share, so the optimum is at a corner</a:t>
            </a:r>
            <a:endParaRPr lang="en-US" sz="1050" dirty="0"/>
          </a:p>
        </p:txBody>
      </p:sp>
      <p:sp>
        <p:nvSpPr>
          <p:cNvPr id="16" name="Text 12"/>
          <p:cNvSpPr txBox="1"/>
          <p:nvPr/>
        </p:nvSpPr>
        <p:spPr>
          <a:xfrm>
            <a:off x="5669280" y="5212080"/>
            <a:ext cx="2423160" cy="274320"/>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Abatement order</a:t>
            </a:r>
            <a:endParaRPr lang="en-US" sz="1200" dirty="0"/>
          </a:p>
        </p:txBody>
      </p:sp>
      <p:sp>
        <p:nvSpPr>
          <p:cNvPr id="17" name="Text 13"/>
          <p:cNvSpPr txBox="1"/>
          <p:nvPr/>
        </p:nvSpPr>
        <p:spPr>
          <a:xfrm>
            <a:off x="5669280" y="5486400"/>
            <a:ext cx="2377440" cy="77724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price each lever alone, then walk the sequence so savings add exactly</a:t>
            </a:r>
            <a:endParaRPr lang="en-US" sz="1050" dirty="0"/>
          </a:p>
        </p:txBody>
      </p:sp>
      <p:sp>
        <p:nvSpPr>
          <p:cNvPr id="18" name="Shape 14"/>
          <p:cNvSpPr/>
          <p:nvPr/>
        </p:nvSpPr>
        <p:spPr>
          <a:xfrm>
            <a:off x="8321040" y="1399032"/>
            <a:ext cx="329184" cy="329184"/>
          </a:xfrm>
          <a:prstGeom prst="ellipse">
            <a:avLst/>
          </a:prstGeom>
          <a:solidFill>
            <a:srgbClr val="B24A2C"/>
          </a:solidFill>
          <a:ln w="12700">
            <a:solidFill>
              <a:srgbClr val="B24A2C"/>
            </a:solidFill>
            <a:prstDash val="solid"/>
          </a:ln>
        </p:spPr>
      </p:sp>
      <p:sp>
        <p:nvSpPr>
          <p:cNvPr id="19" name="Text 15"/>
          <p:cNvSpPr txBox="1"/>
          <p:nvPr/>
        </p:nvSpPr>
        <p:spPr>
          <a:xfrm>
            <a:off x="8321040" y="13990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6"/>
          <p:cNvSpPr txBox="1"/>
          <p:nvPr/>
        </p:nvSpPr>
        <p:spPr>
          <a:xfrm>
            <a:off x="8778240" y="1371600"/>
            <a:ext cx="2926080" cy="384048"/>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Each point of scrap ≈ 35 kg CO₂e/t</a:t>
            </a:r>
            <a:endParaRPr lang="en-US" sz="1250" dirty="0"/>
          </a:p>
        </p:txBody>
      </p:sp>
      <p:sp>
        <p:nvSpPr>
          <p:cNvPr id="21" name="Text 17"/>
          <p:cNvSpPr txBox="1"/>
          <p:nvPr/>
        </p:nvSpPr>
        <p:spPr>
          <a:xfrm>
            <a:off x="8778240" y="1773936"/>
            <a:ext cx="2926080" cy="77724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Virgin ferrochrome, nickel and iron units bring their smelting emissions with them. Scrap is a carbon lever, not only a cost one.</a:t>
            </a:r>
            <a:endParaRPr lang="en-US" sz="1050" dirty="0"/>
          </a:p>
        </p:txBody>
      </p:sp>
      <p:sp>
        <p:nvSpPr>
          <p:cNvPr id="22" name="Shape 18"/>
          <p:cNvSpPr/>
          <p:nvPr/>
        </p:nvSpPr>
        <p:spPr>
          <a:xfrm>
            <a:off x="8321040" y="2651760"/>
            <a:ext cx="329184" cy="329184"/>
          </a:xfrm>
          <a:prstGeom prst="ellipse">
            <a:avLst/>
          </a:prstGeom>
          <a:solidFill>
            <a:srgbClr val="B24A2C"/>
          </a:solidFill>
          <a:ln w="12700">
            <a:solidFill>
              <a:srgbClr val="B24A2C"/>
            </a:solidFill>
            <a:prstDash val="solid"/>
          </a:ln>
        </p:spPr>
      </p:sp>
      <p:sp>
        <p:nvSpPr>
          <p:cNvPr id="23" name="Text 19"/>
          <p:cNvSpPr txBox="1"/>
          <p:nvPr/>
        </p:nvSpPr>
        <p:spPr>
          <a:xfrm>
            <a:off x="8321040" y="26517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4" name="Text 20"/>
          <p:cNvSpPr txBox="1"/>
          <p:nvPr/>
        </p:nvSpPr>
        <p:spPr>
          <a:xfrm>
            <a:off x="8778240" y="2624328"/>
            <a:ext cx="2926080" cy="384048"/>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Each 0.1 kg/kWh off the grid ≈ 0.11 t/t</a:t>
            </a:r>
            <a:endParaRPr lang="en-US" sz="1250" dirty="0"/>
          </a:p>
        </p:txBody>
      </p:sp>
      <p:sp>
        <p:nvSpPr>
          <p:cNvPr id="25" name="Text 21"/>
          <p:cNvSpPr txBox="1"/>
          <p:nvPr/>
        </p:nvSpPr>
        <p:spPr>
          <a:xfrm>
            <a:off x="8778240" y="3026664"/>
            <a:ext cx="2926080" cy="77724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At 1,091 kWh/t, a PPA decision is worth as much as a metallurgical one. It's the largest buildable gap.</a:t>
            </a:r>
            <a:endParaRPr lang="en-US" sz="1050" dirty="0"/>
          </a:p>
        </p:txBody>
      </p:sp>
      <p:sp>
        <p:nvSpPr>
          <p:cNvPr id="26" name="Shape 22"/>
          <p:cNvSpPr/>
          <p:nvPr/>
        </p:nvSpPr>
        <p:spPr>
          <a:xfrm>
            <a:off x="8321040" y="3904488"/>
            <a:ext cx="329184" cy="329184"/>
          </a:xfrm>
          <a:prstGeom prst="ellipse">
            <a:avLst/>
          </a:prstGeom>
          <a:solidFill>
            <a:srgbClr val="B24A2C"/>
          </a:solidFill>
          <a:ln w="12700">
            <a:solidFill>
              <a:srgbClr val="B24A2C"/>
            </a:solidFill>
            <a:prstDash val="solid"/>
          </a:ln>
        </p:spPr>
      </p:sp>
      <p:sp>
        <p:nvSpPr>
          <p:cNvPr id="27" name="Text 23"/>
          <p:cNvSpPr txBox="1"/>
          <p:nvPr/>
        </p:nvSpPr>
        <p:spPr>
          <a:xfrm>
            <a:off x="8321040" y="39044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Text 24"/>
          <p:cNvSpPr txBox="1"/>
          <p:nvPr/>
        </p:nvSpPr>
        <p:spPr>
          <a:xfrm>
            <a:off x="8778240" y="3877056"/>
            <a:ext cx="2926080" cy="384048"/>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Technology comes last</a:t>
            </a:r>
            <a:endParaRPr lang="en-US" sz="1250" dirty="0"/>
          </a:p>
        </p:txBody>
      </p:sp>
      <p:sp>
        <p:nvSpPr>
          <p:cNvPr id="29" name="Text 25"/>
          <p:cNvSpPr txBox="1"/>
          <p:nvPr/>
        </p:nvSpPr>
        <p:spPr>
          <a:xfrm>
            <a:off x="8778240" y="4279392"/>
            <a:ext cx="2926080" cy="77724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Switching furnace or decarburiser route is worth 0.04 t/t at most, and only once the grid is cleaner. Fix charge and power first.</a:t>
            </a:r>
            <a:endParaRPr lang="en-US" sz="1050" dirty="0"/>
          </a:p>
        </p:txBody>
      </p:sp>
      <p:sp>
        <p:nvSpPr>
          <p:cNvPr id="30" name="Shape 26"/>
          <p:cNvSpPr/>
          <p:nvPr/>
        </p:nvSpPr>
        <p:spPr>
          <a:xfrm>
            <a:off x="8321040" y="5157216"/>
            <a:ext cx="329184" cy="329184"/>
          </a:xfrm>
          <a:prstGeom prst="ellipse">
            <a:avLst/>
          </a:prstGeom>
          <a:solidFill>
            <a:srgbClr val="B24A2C"/>
          </a:solidFill>
          <a:ln w="12700">
            <a:solidFill>
              <a:srgbClr val="B24A2C"/>
            </a:solidFill>
            <a:prstDash val="solid"/>
          </a:ln>
        </p:spPr>
      </p:sp>
      <p:sp>
        <p:nvSpPr>
          <p:cNvPr id="31" name="Text 27"/>
          <p:cNvSpPr txBox="1"/>
          <p:nvPr/>
        </p:nvSpPr>
        <p:spPr>
          <a:xfrm>
            <a:off x="8321040" y="51572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2" name="Text 28"/>
          <p:cNvSpPr txBox="1"/>
          <p:nvPr/>
        </p:nvSpPr>
        <p:spPr>
          <a:xfrm>
            <a:off x="8778240" y="5129784"/>
            <a:ext cx="2926080" cy="384048"/>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Rail vs road is under 1%</a:t>
            </a:r>
            <a:endParaRPr lang="en-US" sz="1250" dirty="0"/>
          </a:p>
        </p:txBody>
      </p:sp>
      <p:sp>
        <p:nvSpPr>
          <p:cNvPr id="33" name="Text 29"/>
          <p:cNvSpPr txBox="1"/>
          <p:nvPr/>
        </p:nvSpPr>
        <p:spPr>
          <a:xfrm>
            <a:off x="8778240" y="5532120"/>
            <a:ext cx="2926080" cy="77724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Only 0.008 t/t is available. Put that capex into power and scrap instead.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C1B"/>
        </a:solidFill>
      </p:bgPr>
    </p:bg>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24A2C"/>
          </a:solidFill>
          <a:ln w="12700">
            <a:solidFill>
              <a:srgbClr val="B24A2C"/>
            </a:solidFill>
            <a:prstDash val="solid"/>
          </a:ln>
        </p:spPr>
      </p:sp>
      <p:sp>
        <p:nvSpPr>
          <p:cNvPr id="3" name="Text 1"/>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 name="Text 2"/>
          <p:cNvSpPr txBox="1"/>
          <p:nvPr/>
        </p:nvSpPr>
        <p:spPr>
          <a:xfrm>
            <a:off x="1051560" y="329184"/>
            <a:ext cx="10058400" cy="256032"/>
          </a:xfrm>
          <a:prstGeom prst="rect">
            <a:avLst/>
          </a:prstGeom>
          <a:noFill/>
          <a:ln/>
        </p:spPr>
        <p:txBody>
          <a:bodyPr wrap="square" lIns="0" tIns="0" rIns="0" bIns="0" rtlCol="0" anchor="ctr"/>
          <a:lstStyle/>
          <a:p>
            <a:pPr indent="0" marL="0">
              <a:buNone/>
            </a:pPr>
            <a:r>
              <a:rPr lang="en-US" sz="1100" b="1" spc="100" kern="0" dirty="0">
                <a:solidFill>
                  <a:srgbClr val="E08A63"/>
                </a:solidFill>
                <a:latin typeface="Calibri" pitchFamily="34" charset="0"/>
                <a:ea typeface="Calibri" pitchFamily="34" charset="-122"/>
                <a:cs typeface="Calibri" pitchFamily="34" charset="-120"/>
              </a:rPr>
              <a:t>INSIGHTS  ·  VALIDATION</a:t>
            </a:r>
            <a:endParaRPr lang="en-US" sz="1100" dirty="0"/>
          </a:p>
        </p:txBody>
      </p:sp>
      <p:sp>
        <p:nvSpPr>
          <p:cNvPr id="5" name="Text 3"/>
          <p:cNvSpPr txBox="1"/>
          <p:nvPr/>
        </p:nvSpPr>
        <p:spPr>
          <a:xfrm>
            <a:off x="1051560" y="585216"/>
            <a:ext cx="10698480" cy="566928"/>
          </a:xfrm>
          <a:prstGeom prst="rect">
            <a:avLst/>
          </a:prstGeom>
          <a:noFill/>
          <a:ln/>
        </p:spPr>
        <p:txBody>
          <a:bodyPr wrap="square" lIns="0" tIns="0" rIns="0" bIns="0" rtlCol="0" anchor="t"/>
          <a:lstStyle/>
          <a:p>
            <a:pPr indent="0" marL="0">
              <a:buNone/>
            </a:pPr>
            <a:r>
              <a:rPr lang="en-US" sz="3000" dirty="0">
                <a:solidFill>
                  <a:srgbClr val="EDEAE3"/>
                </a:solidFill>
                <a:latin typeface="Cambria" pitchFamily="34" charset="0"/>
                <a:ea typeface="Cambria" pitchFamily="34" charset="-122"/>
                <a:cs typeface="Cambria" pitchFamily="34" charset="-120"/>
              </a:rPr>
              <a:t>The model, checked against the real world</a:t>
            </a:r>
            <a:endParaRPr lang="en-US" sz="3000" dirty="0"/>
          </a:p>
        </p:txBody>
      </p:sp>
      <p:graphicFrame>
        <p:nvGraphicFramePr>
          <p:cNvPr id="6" name="Chart 0" descr=""/>
          <p:cNvGraphicFramePr/>
          <p:nvPr/>
        </p:nvGraphicFramePr>
        <p:xfrm>
          <a:off x="457200" y="1371600"/>
          <a:ext cx="4114800" cy="42062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669280"/>
            <a:ext cx="4023360" cy="548640"/>
          </a:xfrm>
          <a:prstGeom prst="rect">
            <a:avLst/>
          </a:prstGeom>
          <a:noFill/>
          <a:ln/>
        </p:spPr>
        <p:txBody>
          <a:bodyPr wrap="square" lIns="0" tIns="0" rIns="0" bIns="0" rtlCol="0" anchor="t"/>
          <a:lstStyle/>
          <a:p>
            <a:pPr indent="0" marL="0">
              <a:buNone/>
            </a:pPr>
            <a:r>
              <a:rPr lang="en-US" sz="1050" i="1" dirty="0">
                <a:solidFill>
                  <a:srgbClr val="A8A49B"/>
                </a:solidFill>
                <a:latin typeface="Calibri" pitchFamily="34" charset="0"/>
                <a:ea typeface="Calibri" pitchFamily="34" charset="-122"/>
                <a:cs typeface="Calibri" pitchFamily="34" charset="-120"/>
              </a:rPr>
              <a:t>2.89 · 2.93 · 4.04 t/t. Running every finishing line adds 1.1 t/t, so each of the 67 steps can be switched on or off.</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371600"/>
          <a:ext cx="6812280" cy="914400"/>
        </p:xfrm>
        <a:graphic>
          <a:graphicData uri="http://schemas.openxmlformats.org/drawingml/2006/table">
            <a:tbl>
              <a:tblPr/>
              <a:tblGrid>
                <a:gridCol w="2331720"/>
                <a:gridCol w="1051560"/>
                <a:gridCol w="3429000"/>
              </a:tblGrid>
              <a:tr h="347472">
                <a:tc>
                  <a:txBody>
                    <a:bodyPr/>
                    <a:lstStyle/>
                    <a:p>
                      <a:pPr algn="l" indent="0" marL="0">
                        <a:buNone/>
                      </a:pPr>
                      <a:r>
                        <a:rPr lang="en-US" sz="1000" b="1" dirty="0">
                          <a:solidFill>
                            <a:srgbClr val="E08A63"/>
                          </a:solidFill>
                          <a:latin typeface="Calibri" pitchFamily="34" charset="0"/>
                          <a:ea typeface="Calibri" pitchFamily="34" charset="-122"/>
                          <a:cs typeface="Calibri" pitchFamily="34" charset="-120"/>
                        </a:rPr>
                        <a:t>METRIC — REFERENCE PLANT</a:t>
                      </a:r>
                      <a:endParaRPr lang="en-US" sz="100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2A2927"/>
                    </a:solidFill>
                  </a:tcPr>
                </a:tc>
                <a:tc>
                  <a:txBody>
                    <a:bodyPr/>
                    <a:lstStyle/>
                    <a:p>
                      <a:pPr algn="r" indent="0" marL="0">
                        <a:buNone/>
                      </a:pPr>
                      <a:r>
                        <a:rPr lang="en-US" sz="1000" b="1" dirty="0">
                          <a:solidFill>
                            <a:srgbClr val="E08A63"/>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2A2927"/>
                    </a:solidFill>
                  </a:tcPr>
                </a:tc>
                <a:tc>
                  <a:txBody>
                    <a:bodyPr/>
                    <a:lstStyle/>
                    <a:p>
                      <a:pPr algn="l" indent="0" marL="0">
                        <a:buNone/>
                      </a:pPr>
                      <a:r>
                        <a:rPr lang="en-US" sz="1000" b="1" dirty="0">
                          <a:solidFill>
                            <a:srgbClr val="E08A63"/>
                          </a:solidFill>
                          <a:latin typeface="Calibri" pitchFamily="34" charset="0"/>
                          <a:ea typeface="Calibri" pitchFamily="34" charset="-122"/>
                          <a:cs typeface="Calibri" pitchFamily="34" charset="-120"/>
                        </a:rPr>
                        <a:t>PUBLIC BENCHMARK</a:t>
                      </a:r>
                      <a:endParaRPr lang="en-US" sz="100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2A2927"/>
                    </a:solidFill>
                  </a:tcPr>
                </a:tc>
              </a:tr>
              <a:tr h="347472">
                <a:tc>
                  <a:txBody>
                    <a:bodyPr/>
                    <a:lstStyle/>
                    <a:p>
                      <a:pPr indent="0" marL="0">
                        <a:buNone/>
                      </a:pPr>
                      <a:r>
                        <a:rPr lang="en-US" sz="1050" dirty="0">
                          <a:solidFill>
                            <a:srgbClr val="EDEAE3"/>
                          </a:solidFill>
                          <a:latin typeface="Calibri" pitchFamily="34" charset="0"/>
                          <a:ea typeface="Calibri" pitchFamily="34" charset="-122"/>
                          <a:cs typeface="Calibri" pitchFamily="34" charset="-120"/>
                        </a:rPr>
                        <a:t>Electricity, kWh/t</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b="1" dirty="0">
                          <a:solidFill>
                            <a:srgbClr val="E08A63"/>
                          </a:solidFill>
                          <a:latin typeface="Calibri" pitchFamily="34" charset="0"/>
                          <a:ea typeface="Calibri" pitchFamily="34" charset="-122"/>
                          <a:cs typeface="Calibri" pitchFamily="34" charset="-120"/>
                        </a:rPr>
                        <a:t>1,091</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indent="0" marL="0">
                        <a:buNone/>
                      </a:pPr>
                      <a:r>
                        <a:rPr lang="en-US" sz="1050" dirty="0">
                          <a:solidFill>
                            <a:srgbClr val="A8A49B"/>
                          </a:solidFill>
                          <a:latin typeface="Calibri" pitchFamily="34" charset="0"/>
                          <a:ea typeface="Calibri" pitchFamily="34" charset="-122"/>
                          <a:cs typeface="Calibri" pitchFamily="34" charset="-120"/>
                        </a:rPr>
                        <a:t>~1,000–1,200 for melt-to-coil routes</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r>
              <a:tr h="347472">
                <a:tc>
                  <a:txBody>
                    <a:bodyPr/>
                    <a:lstStyle/>
                    <a:p>
                      <a:pPr indent="0" marL="0">
                        <a:buNone/>
                      </a:pPr>
                      <a:r>
                        <a:rPr lang="en-US" sz="1050" dirty="0">
                          <a:solidFill>
                            <a:srgbClr val="EDEAE3"/>
                          </a:solidFill>
                          <a:latin typeface="Calibri" pitchFamily="34" charset="0"/>
                          <a:ea typeface="Calibri" pitchFamily="34" charset="-122"/>
                          <a:cs typeface="Calibri" pitchFamily="34" charset="-120"/>
                        </a:rPr>
                        <a:t>EAF electricity, kWh/t</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b="1" dirty="0">
                          <a:solidFill>
                            <a:srgbClr val="E08A63"/>
                          </a:solidFill>
                          <a:latin typeface="Calibri" pitchFamily="34" charset="0"/>
                          <a:ea typeface="Calibri" pitchFamily="34" charset="-122"/>
                          <a:cs typeface="Calibri" pitchFamily="34" charset="-120"/>
                        </a:rPr>
                        <a:t>460–650</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indent="0" marL="0">
                        <a:buNone/>
                      </a:pPr>
                      <a:r>
                        <a:rPr lang="en-US" sz="1050" dirty="0">
                          <a:solidFill>
                            <a:srgbClr val="A8A49B"/>
                          </a:solidFill>
                          <a:latin typeface="Calibri" pitchFamily="34" charset="0"/>
                          <a:ea typeface="Calibri" pitchFamily="34" charset="-122"/>
                          <a:cs typeface="Calibri" pitchFamily="34" charset="-120"/>
                        </a:rPr>
                        <a:t>450–700 typical (scrap → virgin charge)</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r>
              <a:tr h="347472">
                <a:tc>
                  <a:txBody>
                    <a:bodyPr/>
                    <a:lstStyle/>
                    <a:p>
                      <a:pPr indent="0" marL="0">
                        <a:buNone/>
                      </a:pPr>
                      <a:r>
                        <a:rPr lang="en-US" sz="1050" dirty="0">
                          <a:solidFill>
                            <a:srgbClr val="EDEAE3"/>
                          </a:solidFill>
                          <a:latin typeface="Calibri" pitchFamily="34" charset="0"/>
                          <a:ea typeface="Calibri" pitchFamily="34" charset="-122"/>
                          <a:cs typeface="Calibri" pitchFamily="34" charset="-120"/>
                        </a:rPr>
                        <a:t>Specific energy, GJ/t</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b="1" dirty="0">
                          <a:solidFill>
                            <a:srgbClr val="E08A63"/>
                          </a:solidFill>
                          <a:latin typeface="Calibri" pitchFamily="34" charset="0"/>
                          <a:ea typeface="Calibri" pitchFamily="34" charset="-122"/>
                          <a:cs typeface="Calibri" pitchFamily="34" charset="-120"/>
                        </a:rPr>
                        <a:t>9.8</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indent="0" marL="0">
                        <a:buNone/>
                      </a:pPr>
                      <a:r>
                        <a:rPr lang="en-US" sz="1050" dirty="0">
                          <a:solidFill>
                            <a:srgbClr val="A8A49B"/>
                          </a:solidFill>
                          <a:latin typeface="Calibri" pitchFamily="34" charset="0"/>
                          <a:ea typeface="Calibri" pitchFamily="34" charset="-122"/>
                          <a:cs typeface="Calibri" pitchFamily="34" charset="-120"/>
                        </a:rPr>
                        <a:t>~10–15 GJ/t</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r>
              <a:tr h="347472">
                <a:tc>
                  <a:txBody>
                    <a:bodyPr/>
                    <a:lstStyle/>
                    <a:p>
                      <a:pPr indent="0" marL="0">
                        <a:buNone/>
                      </a:pPr>
                      <a:r>
                        <a:rPr lang="en-US" sz="1050" dirty="0">
                          <a:solidFill>
                            <a:srgbClr val="EDEAE3"/>
                          </a:solidFill>
                          <a:latin typeface="Calibri" pitchFamily="34" charset="0"/>
                          <a:ea typeface="Calibri" pitchFamily="34" charset="-122"/>
                          <a:cs typeface="Calibri" pitchFamily="34" charset="-120"/>
                        </a:rPr>
                        <a:t>Scope 1, t/t</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b="1" dirty="0">
                          <a:solidFill>
                            <a:srgbClr val="E08A63"/>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indent="0" marL="0">
                        <a:buNone/>
                      </a:pPr>
                      <a:r>
                        <a:rPr lang="en-US" sz="1050" dirty="0">
                          <a:solidFill>
                            <a:srgbClr val="A8A49B"/>
                          </a:solidFill>
                          <a:latin typeface="Calibri" pitchFamily="34" charset="0"/>
                          <a:ea typeface="Calibri" pitchFamily="34" charset="-122"/>
                          <a:cs typeface="Calibri" pitchFamily="34" charset="-120"/>
                        </a:rPr>
                        <a:t>~0.4 worldstainless average</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r>
              <a:tr h="347472">
                <a:tc>
                  <a:txBody>
                    <a:bodyPr/>
                    <a:lstStyle/>
                    <a:p>
                      <a:pPr indent="0" marL="0">
                        <a:buNone/>
                      </a:pPr>
                      <a:r>
                        <a:rPr lang="en-US" sz="1050" dirty="0">
                          <a:solidFill>
                            <a:srgbClr val="EDEAE3"/>
                          </a:solidFill>
                          <a:latin typeface="Calibri" pitchFamily="34" charset="0"/>
                          <a:ea typeface="Calibri" pitchFamily="34" charset="-122"/>
                          <a:cs typeface="Calibri" pitchFamily="34" charset="-120"/>
                        </a:rPr>
                        <a:t>Virgin charge, tCO₂e/t</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b="1" dirty="0">
                          <a:solidFill>
                            <a:srgbClr val="E08A63"/>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indent="0" marL="0">
                        <a:buNone/>
                      </a:pPr>
                      <a:r>
                        <a:rPr lang="en-US" sz="1050" dirty="0">
                          <a:solidFill>
                            <a:srgbClr val="A8A49B"/>
                          </a:solidFill>
                          <a:latin typeface="Calibri" pitchFamily="34" charset="0"/>
                          <a:ea typeface="Calibri" pitchFamily="34" charset="-122"/>
                          <a:cs typeface="Calibri" pitchFamily="34" charset="-120"/>
                        </a:rPr>
                        <a:t>ferrochrome, nickel, pig iron upstream</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r>
              <a:tr h="347472">
                <a:tc>
                  <a:txBody>
                    <a:bodyPr/>
                    <a:lstStyle/>
                    <a:p>
                      <a:pPr indent="0" marL="0">
                        <a:buNone/>
                      </a:pPr>
                      <a:r>
                        <a:rPr lang="en-US" sz="1050" dirty="0">
                          <a:solidFill>
                            <a:srgbClr val="EDEAE3"/>
                          </a:solidFill>
                          <a:latin typeface="Calibri" pitchFamily="34" charset="0"/>
                          <a:ea typeface="Calibri" pitchFamily="34" charset="-122"/>
                          <a:cs typeface="Calibri" pitchFamily="34" charset="-120"/>
                        </a:rPr>
                        <a:t>Scrap charge, tCO₂e/t</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b="1" dirty="0">
                          <a:solidFill>
                            <a:srgbClr val="E08A63"/>
                          </a:solidFill>
                          <a:latin typeface="Calibri" pitchFamily="34" charset="0"/>
                          <a:ea typeface="Calibri" pitchFamily="34" charset="-122"/>
                          <a:cs typeface="Calibri" pitchFamily="34" charset="-120"/>
                        </a:rPr>
                        <a:t>0.2</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indent="0" marL="0">
                        <a:buNone/>
                      </a:pPr>
                      <a:r>
                        <a:rPr lang="en-US" sz="1050" dirty="0">
                          <a:solidFill>
                            <a:srgbClr val="A8A49B"/>
                          </a:solidFill>
                          <a:latin typeface="Calibri" pitchFamily="34" charset="0"/>
                          <a:ea typeface="Calibri" pitchFamily="34" charset="-122"/>
                          <a:cs typeface="Calibri" pitchFamily="34" charset="-120"/>
                        </a:rPr>
                        <a:t>Scope 3 linear in scrap share</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r>
            </a:tbl>
          </a:graphicData>
        </a:graphic>
      </p:graphicFrame>
      <p:sp>
        <p:nvSpPr>
          <p:cNvPr id="9" name="Text 5"/>
          <p:cNvSpPr txBox="1"/>
          <p:nvPr/>
        </p:nvSpPr>
        <p:spPr>
          <a:xfrm>
            <a:off x="4846320" y="4023360"/>
            <a:ext cx="6400800" cy="228600"/>
          </a:xfrm>
          <a:prstGeom prst="rect">
            <a:avLst/>
          </a:prstGeom>
          <a:noFill/>
          <a:ln/>
        </p:spPr>
        <p:txBody>
          <a:bodyPr wrap="square" lIns="0" tIns="0" rIns="0" bIns="0" rtlCol="0" anchor="ctr"/>
          <a:lstStyle/>
          <a:p>
            <a:pPr indent="0" marL="0">
              <a:buNone/>
            </a:pPr>
            <a:r>
              <a:rPr lang="en-US" sz="1050" b="1" spc="100" kern="0" dirty="0">
                <a:solidFill>
                  <a:srgbClr val="E08A63"/>
                </a:solidFill>
                <a:latin typeface="Calibri" pitchFamily="34" charset="0"/>
                <a:ea typeface="Calibri" pitchFamily="34" charset="-122"/>
                <a:cs typeface="Calibri" pitchFamily="34" charset="-120"/>
              </a:rPr>
              <a:t>HOW WE CHECKED IT</a:t>
            </a:r>
            <a:endParaRPr lang="en-US" sz="1050" dirty="0"/>
          </a:p>
        </p:txBody>
      </p:sp>
      <p:sp>
        <p:nvSpPr>
          <p:cNvPr id="10" name="Text 6"/>
          <p:cNvSpPr txBox="1"/>
          <p:nvPr/>
        </p:nvSpPr>
        <p:spPr>
          <a:xfrm>
            <a:off x="4846320" y="4343400"/>
            <a:ext cx="1828800" cy="548640"/>
          </a:xfrm>
          <a:prstGeom prst="rect">
            <a:avLst/>
          </a:prstGeom>
          <a:noFill/>
          <a:ln/>
        </p:spPr>
        <p:txBody>
          <a:bodyPr wrap="square" lIns="0" tIns="0" rIns="0" bIns="0" rtlCol="0" anchor="t"/>
          <a:lstStyle/>
          <a:p>
            <a:pPr indent="0" marL="0">
              <a:buNone/>
            </a:pPr>
            <a:r>
              <a:rPr lang="en-US" sz="1150" b="1" dirty="0">
                <a:solidFill>
                  <a:srgbClr val="EDEAE3"/>
                </a:solidFill>
                <a:latin typeface="Calibri" pitchFamily="34" charset="0"/>
                <a:ea typeface="Calibri" pitchFamily="34" charset="-122"/>
                <a:cs typeface="Calibri" pitchFamily="34" charset="-120"/>
              </a:rPr>
              <a:t>Stage by stage</a:t>
            </a:r>
            <a:endParaRPr lang="en-US" sz="1150" dirty="0"/>
          </a:p>
        </p:txBody>
      </p:sp>
      <p:sp>
        <p:nvSpPr>
          <p:cNvPr id="11" name="Text 7"/>
          <p:cNvSpPr txBox="1"/>
          <p:nvPr/>
        </p:nvSpPr>
        <p:spPr>
          <a:xfrm>
            <a:off x="6720840" y="4343400"/>
            <a:ext cx="4937760" cy="566928"/>
          </a:xfrm>
          <a:prstGeom prst="rect">
            <a:avLst/>
          </a:prstGeom>
          <a:noFill/>
          <a:ln/>
        </p:spPr>
        <p:txBody>
          <a:bodyPr wrap="square" lIns="0" tIns="0" rIns="0" bIns="0" rtlCol="0" anchor="t"/>
          <a:lstStyle/>
          <a:p>
            <a:pPr indent="0" marL="0">
              <a:buNone/>
            </a:pPr>
            <a:r>
              <a:rPr lang="en-US" sz="1050" dirty="0">
                <a:solidFill>
                  <a:srgbClr val="A8A49B"/>
                </a:solidFill>
                <a:latin typeface="Calibri" pitchFamily="34" charset="0"/>
                <a:ea typeface="Calibri" pitchFamily="34" charset="-122"/>
                <a:cs typeface="Calibri" pitchFamily="34" charset="-120"/>
              </a:rPr>
              <a:t>All 67 rows benchmarked against process literature: EAF 460 kWh/t on scrap, 650 on virgin; AOD 45–60; LF 35–55; caster ~30.</a:t>
            </a:r>
            <a:endParaRPr lang="en-US" sz="1050" dirty="0"/>
          </a:p>
        </p:txBody>
      </p:sp>
      <p:sp>
        <p:nvSpPr>
          <p:cNvPr id="12" name="Text 8"/>
          <p:cNvSpPr txBox="1"/>
          <p:nvPr/>
        </p:nvSpPr>
        <p:spPr>
          <a:xfrm>
            <a:off x="4846320" y="4983480"/>
            <a:ext cx="1828800" cy="548640"/>
          </a:xfrm>
          <a:prstGeom prst="rect">
            <a:avLst/>
          </a:prstGeom>
          <a:noFill/>
          <a:ln/>
        </p:spPr>
        <p:txBody>
          <a:bodyPr wrap="square" lIns="0" tIns="0" rIns="0" bIns="0" rtlCol="0" anchor="t"/>
          <a:lstStyle/>
          <a:p>
            <a:pPr indent="0" marL="0">
              <a:buNone/>
            </a:pPr>
            <a:r>
              <a:rPr lang="en-US" sz="1150" b="1" dirty="0">
                <a:solidFill>
                  <a:srgbClr val="EDEAE3"/>
                </a:solidFill>
                <a:latin typeface="Calibri" pitchFamily="34" charset="0"/>
                <a:ea typeface="Calibri" pitchFamily="34" charset="-122"/>
                <a:cs typeface="Calibri" pitchFamily="34" charset="-120"/>
              </a:rPr>
              <a:t>Routes split</a:t>
            </a:r>
            <a:endParaRPr lang="en-US" sz="1150" dirty="0"/>
          </a:p>
        </p:txBody>
      </p:sp>
      <p:sp>
        <p:nvSpPr>
          <p:cNvPr id="13" name="Text 9"/>
          <p:cNvSpPr txBox="1"/>
          <p:nvPr/>
        </p:nvSpPr>
        <p:spPr>
          <a:xfrm>
            <a:off x="6720840" y="4983480"/>
            <a:ext cx="4937760" cy="566928"/>
          </a:xfrm>
          <a:prstGeom prst="rect">
            <a:avLst/>
          </a:prstGeom>
          <a:noFill/>
          <a:ln/>
        </p:spPr>
        <p:txBody>
          <a:bodyPr wrap="square" lIns="0" tIns="0" rIns="0" bIns="0" rtlCol="0" anchor="t"/>
          <a:lstStyle/>
          <a:p>
            <a:pPr indent="0" marL="0">
              <a:buNone/>
            </a:pPr>
            <a:r>
              <a:rPr lang="en-US" sz="1050" dirty="0">
                <a:solidFill>
                  <a:srgbClr val="A8A49B"/>
                </a:solidFill>
                <a:latin typeface="Calibri" pitchFamily="34" charset="0"/>
                <a:ea typeface="Calibri" pitchFamily="34" charset="-122"/>
                <a:cs typeface="Calibri" pitchFamily="34" charset="-120"/>
              </a:rPr>
              <a:t>Two technologies at one stage share its tonne. Naively summing the whole grid gives an impossible 17.7 t/t.</a:t>
            </a:r>
            <a:endParaRPr lang="en-US" sz="1050" dirty="0"/>
          </a:p>
        </p:txBody>
      </p:sp>
      <p:sp>
        <p:nvSpPr>
          <p:cNvPr id="14" name="Text 10"/>
          <p:cNvSpPr txBox="1"/>
          <p:nvPr/>
        </p:nvSpPr>
        <p:spPr>
          <a:xfrm>
            <a:off x="4846320" y="5623560"/>
            <a:ext cx="1828800" cy="548640"/>
          </a:xfrm>
          <a:prstGeom prst="rect">
            <a:avLst/>
          </a:prstGeom>
          <a:noFill/>
          <a:ln/>
        </p:spPr>
        <p:txBody>
          <a:bodyPr wrap="square" lIns="0" tIns="0" rIns="0" bIns="0" rtlCol="0" anchor="t"/>
          <a:lstStyle/>
          <a:p>
            <a:pPr indent="0" marL="0">
              <a:buNone/>
            </a:pPr>
            <a:r>
              <a:rPr lang="en-US" sz="1150" b="1" dirty="0">
                <a:solidFill>
                  <a:srgbClr val="EDEAE3"/>
                </a:solidFill>
                <a:latin typeface="Calibri" pitchFamily="34" charset="0"/>
                <a:ea typeface="Calibri" pitchFamily="34" charset="-122"/>
                <a:cs typeface="Calibri" pitchFamily="34" charset="-120"/>
              </a:rPr>
              <a:t>Tested</a:t>
            </a:r>
            <a:endParaRPr lang="en-US" sz="1150" dirty="0"/>
          </a:p>
        </p:txBody>
      </p:sp>
      <p:sp>
        <p:nvSpPr>
          <p:cNvPr id="15" name="Text 11"/>
          <p:cNvSpPr txBox="1"/>
          <p:nvPr/>
        </p:nvSpPr>
        <p:spPr>
          <a:xfrm>
            <a:off x="6720840" y="5623560"/>
            <a:ext cx="4937760" cy="566928"/>
          </a:xfrm>
          <a:prstGeom prst="rect">
            <a:avLst/>
          </a:prstGeom>
          <a:noFill/>
          <a:ln/>
        </p:spPr>
        <p:txBody>
          <a:bodyPr wrap="square" lIns="0" tIns="0" rIns="0" bIns="0" rtlCol="0" anchor="t"/>
          <a:lstStyle/>
          <a:p>
            <a:pPr indent="0" marL="0">
              <a:buNone/>
            </a:pPr>
            <a:r>
              <a:rPr lang="en-US" sz="1050" dirty="0">
                <a:solidFill>
                  <a:srgbClr val="A8A49B"/>
                </a:solidFill>
                <a:latin typeface="Calibri" pitchFamily="34" charset="0"/>
                <a:ea typeface="Calibri" pitchFamily="34" charset="-122"/>
                <a:cs typeface="Calibri" pitchFamily="34" charset="-120"/>
              </a:rPr>
              <a:t>47 automated tests re-derive every total. Formulas run through a whitelisted parser, never eval.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24A2C"/>
          </a:solidFill>
          <a:ln w="12700">
            <a:solidFill>
              <a:srgbClr val="B24A2C"/>
            </a:solidFill>
            <a:prstDash val="solid"/>
          </a:ln>
        </p:spPr>
      </p:sp>
      <p:sp>
        <p:nvSpPr>
          <p:cNvPr id="3" name="Text 1"/>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 name="Text 2"/>
          <p:cNvSpPr txBox="1"/>
          <p:nvPr/>
        </p:nvSpPr>
        <p:spPr>
          <a:xfrm>
            <a:off x="1051560" y="329184"/>
            <a:ext cx="10058400" cy="256032"/>
          </a:xfrm>
          <a:prstGeom prst="rect">
            <a:avLst/>
          </a:prstGeom>
          <a:noFill/>
          <a:ln/>
        </p:spPr>
        <p:txBody>
          <a:bodyPr wrap="square" lIns="0" tIns="0" rIns="0" bIns="0" rtlCol="0" anchor="ctr"/>
          <a:lstStyle/>
          <a:p>
            <a:pPr indent="0" marL="0">
              <a:buNone/>
            </a:pPr>
            <a:r>
              <a:rPr lang="en-US" sz="1100" b="1" spc="100" kern="0" dirty="0">
                <a:solidFill>
                  <a:srgbClr val="B24A2C"/>
                </a:solidFill>
                <a:latin typeface="Calibri" pitchFamily="34" charset="0"/>
                <a:ea typeface="Calibri" pitchFamily="34" charset="-122"/>
                <a:cs typeface="Calibri" pitchFamily="34" charset="-120"/>
              </a:rPr>
              <a:t>PROPOSED SOLUTION  ·  THE PRODUCT</a:t>
            </a:r>
            <a:endParaRPr lang="en-US" sz="1100" dirty="0"/>
          </a:p>
        </p:txBody>
      </p:sp>
      <p:sp>
        <p:nvSpPr>
          <p:cNvPr id="5" name="Text 3"/>
          <p:cNvSpPr txBox="1"/>
          <p:nvPr/>
        </p:nvSpPr>
        <p:spPr>
          <a:xfrm>
            <a:off x="1051560" y="585216"/>
            <a:ext cx="10698480" cy="566928"/>
          </a:xfrm>
          <a:prstGeom prst="rect">
            <a:avLst/>
          </a:prstGeom>
          <a:noFill/>
          <a:ln/>
        </p:spPr>
        <p:txBody>
          <a:bodyPr wrap="square" lIns="0" tIns="0" rIns="0" bIns="0" rtlCol="0" anchor="t"/>
          <a:lstStyle/>
          <a:p>
            <a:pPr indent="0" marL="0">
              <a:buNone/>
            </a:pPr>
            <a:r>
              <a:rPr lang="en-US" sz="3000" dirty="0">
                <a:solidFill>
                  <a:srgbClr val="1F1F1E"/>
                </a:solidFill>
                <a:latin typeface="Cambria" pitchFamily="34" charset="0"/>
                <a:ea typeface="Cambria" pitchFamily="34" charset="-122"/>
                <a:cs typeface="Cambria" pitchFamily="34" charset="-120"/>
              </a:rPr>
              <a:t>CarbonSpark: every lever on one screen, live</a:t>
            </a:r>
            <a:endParaRPr lang="en-US" sz="3000" dirty="0"/>
          </a:p>
        </p:txBody>
      </p:sp>
      <p:sp>
        <p:nvSpPr>
          <p:cNvPr id="6" name="Shape 4"/>
          <p:cNvSpPr/>
          <p:nvPr/>
        </p:nvSpPr>
        <p:spPr>
          <a:xfrm>
            <a:off x="512064" y="1335024"/>
            <a:ext cx="6565392" cy="4053679"/>
          </a:xfrm>
          <a:prstGeom prst="rect">
            <a:avLst/>
          </a:prstGeom>
          <a:solidFill>
            <a:srgbClr val="DDD9D0"/>
          </a:solidFill>
          <a:ln w="12700">
            <a:solidFill>
              <a:srgbClr val="DDD9D0"/>
            </a:solidFill>
            <a:prstDash val="solid"/>
          </a:ln>
          <a:effectLst>
            <a:outerShdw sx="100000" sy="100000" kx="0" ky="0" algn="bl" rotWithShape="0" blurRad="101600" dist="38100" dir="5400000">
              <a:srgbClr val="000000">
                <a:alpha val="18000"/>
              </a:srgbClr>
            </a:outerShdw>
          </a:effectLst>
        </p:spPr>
      </p:sp>
      <p:pic>
        <p:nvPicPr>
          <p:cNvPr id="7" name="Image 0" descr="/tmp/lo/crops/drawer_clean.png">    </p:cNvPr>
          <p:cNvPicPr>
            <a:picLocks noChangeAspect="1"/>
          </p:cNvPicPr>
          <p:nvPr/>
        </p:nvPicPr>
        <p:blipFill>
          <a:blip r:embed="rId1"/>
          <a:stretch>
            <a:fillRect/>
          </a:stretch>
        </p:blipFill>
        <p:spPr>
          <a:xfrm>
            <a:off x="548640" y="1371600"/>
            <a:ext cx="6492240" cy="3980527"/>
          </a:xfrm>
          <a:prstGeom prst="rect">
            <a:avLst/>
          </a:prstGeom>
        </p:spPr>
      </p:pic>
      <p:sp>
        <p:nvSpPr>
          <p:cNvPr id="8" name="Text 5"/>
          <p:cNvSpPr txBox="1"/>
          <p:nvPr/>
        </p:nvSpPr>
        <p:spPr>
          <a:xfrm>
            <a:off x="548640" y="5461855"/>
            <a:ext cx="6492240" cy="457200"/>
          </a:xfrm>
          <a:prstGeom prst="rect">
            <a:avLst/>
          </a:prstGeom>
          <a:noFill/>
          <a:ln/>
        </p:spPr>
        <p:txBody>
          <a:bodyPr wrap="square" lIns="0" tIns="0" rIns="0" bIns="0" rtlCol="0" anchor="t"/>
          <a:lstStyle/>
          <a:p>
            <a:pPr indent="0" marL="0">
              <a:buNone/>
            </a:pPr>
            <a:r>
              <a:rPr lang="en-US" sz="1000" i="1" dirty="0">
                <a:solidFill>
                  <a:srgbClr val="8A867D"/>
                </a:solidFill>
                <a:latin typeface="Calibri" pitchFamily="34" charset="0"/>
                <a:ea typeface="Calibri" pitchFamily="34" charset="-122"/>
                <a:cs typeface="Calibri" pitchFamily="34" charset="-120"/>
              </a:rPr>
              <a:t>Inputs drawer, Energy panel: seven grid sources, each slider with its emission factor. The readout on the right updates as you drag.</a:t>
            </a:r>
            <a:endParaRPr lang="en-US" sz="1000" dirty="0"/>
          </a:p>
        </p:txBody>
      </p:sp>
      <p:sp>
        <p:nvSpPr>
          <p:cNvPr id="9" name="Shape 6"/>
          <p:cNvSpPr/>
          <p:nvPr/>
        </p:nvSpPr>
        <p:spPr>
          <a:xfrm>
            <a:off x="7406640" y="1371600"/>
            <a:ext cx="457200" cy="457200"/>
          </a:xfrm>
          <a:prstGeom prst="ellipse">
            <a:avLst/>
          </a:prstGeom>
          <a:solidFill>
            <a:srgbClr val="F2F0EB"/>
          </a:solidFill>
          <a:ln w="12700">
            <a:solidFill>
              <a:srgbClr val="F2F0EB"/>
            </a:solidFill>
            <a:prstDash val="solid"/>
          </a:ln>
        </p:spPr>
      </p:sp>
      <p:pic>
        <p:nvPicPr>
          <p:cNvPr id="10" name="Image 1" descr="preencoded.png">    </p:cNvPr>
          <p:cNvPicPr>
            <a:picLocks noChangeAspect="1"/>
          </p:cNvPicPr>
          <p:nvPr/>
        </p:nvPicPr>
        <p:blipFill>
          <a:blip r:embed="rId2"/>
          <a:stretch>
            <a:fillRect/>
          </a:stretch>
        </p:blipFill>
        <p:spPr>
          <a:xfrm>
            <a:off x="7507224" y="1472184"/>
            <a:ext cx="256032" cy="256032"/>
          </a:xfrm>
          <a:prstGeom prst="rect">
            <a:avLst/>
          </a:prstGeom>
        </p:spPr>
      </p:pic>
      <p:sp>
        <p:nvSpPr>
          <p:cNvPr id="11" name="Text 7"/>
          <p:cNvSpPr txBox="1"/>
          <p:nvPr/>
        </p:nvSpPr>
        <p:spPr>
          <a:xfrm>
            <a:off x="8046720" y="1353312"/>
            <a:ext cx="3657600" cy="292608"/>
          </a:xfrm>
          <a:prstGeom prst="rect">
            <a:avLst/>
          </a:prstGeom>
          <a:noFill/>
          <a:ln/>
        </p:spPr>
        <p:txBody>
          <a:bodyPr wrap="square" lIns="0" tIns="0" rIns="0" bIns="0"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Dashboard</a:t>
            </a:r>
            <a:endParaRPr lang="en-US" sz="1300" dirty="0"/>
          </a:p>
        </p:txBody>
      </p:sp>
      <p:sp>
        <p:nvSpPr>
          <p:cNvPr id="12" name="Text 8"/>
          <p:cNvSpPr txBox="1"/>
          <p:nvPr/>
        </p:nvSpPr>
        <p:spPr>
          <a:xfrm>
            <a:off x="8046720" y="1645920"/>
            <a:ext cx="3611880" cy="5943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One headline tonne split into Scope 1 / 2 / 3, then by department and by gas.</a:t>
            </a:r>
            <a:endParaRPr lang="en-US" sz="1050" dirty="0"/>
          </a:p>
        </p:txBody>
      </p:sp>
      <p:sp>
        <p:nvSpPr>
          <p:cNvPr id="13" name="Shape 9"/>
          <p:cNvSpPr/>
          <p:nvPr/>
        </p:nvSpPr>
        <p:spPr>
          <a:xfrm>
            <a:off x="7406640" y="2240280"/>
            <a:ext cx="457200" cy="457200"/>
          </a:xfrm>
          <a:prstGeom prst="ellipse">
            <a:avLst/>
          </a:prstGeom>
          <a:solidFill>
            <a:srgbClr val="F2F0EB"/>
          </a:solidFill>
          <a:ln w="12700">
            <a:solidFill>
              <a:srgbClr val="F2F0EB"/>
            </a:solidFill>
            <a:prstDash val="solid"/>
          </a:ln>
        </p:spPr>
      </p:sp>
      <p:pic>
        <p:nvPicPr>
          <p:cNvPr id="14" name="Image 2" descr="preencoded.png">    </p:cNvPr>
          <p:cNvPicPr>
            <a:picLocks noChangeAspect="1"/>
          </p:cNvPicPr>
          <p:nvPr/>
        </p:nvPicPr>
        <p:blipFill>
          <a:blip r:embed="rId3"/>
          <a:stretch>
            <a:fillRect/>
          </a:stretch>
        </p:blipFill>
        <p:spPr>
          <a:xfrm>
            <a:off x="7507224" y="2340864"/>
            <a:ext cx="256032" cy="256032"/>
          </a:xfrm>
          <a:prstGeom prst="rect">
            <a:avLst/>
          </a:prstGeom>
        </p:spPr>
      </p:pic>
      <p:sp>
        <p:nvSpPr>
          <p:cNvPr id="15" name="Text 10"/>
          <p:cNvSpPr txBox="1"/>
          <p:nvPr/>
        </p:nvSpPr>
        <p:spPr>
          <a:xfrm>
            <a:off x="8046720" y="2221992"/>
            <a:ext cx="3657600" cy="292608"/>
          </a:xfrm>
          <a:prstGeom prst="rect">
            <a:avLst/>
          </a:prstGeom>
          <a:noFill/>
          <a:ln/>
        </p:spPr>
        <p:txBody>
          <a:bodyPr wrap="square" lIns="0" tIns="0" rIns="0" bIns="0"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Inputs drawer</a:t>
            </a:r>
            <a:endParaRPr lang="en-US" sz="1300" dirty="0"/>
          </a:p>
        </p:txBody>
      </p:sp>
      <p:sp>
        <p:nvSpPr>
          <p:cNvPr id="16" name="Text 11"/>
          <p:cNvSpPr txBox="1"/>
          <p:nvPr/>
        </p:nvSpPr>
        <p:spPr>
          <a:xfrm>
            <a:off x="8046720" y="2514600"/>
            <a:ext cx="3611880" cy="5943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Scrap share, 7-source grid mix, rail share per leg, and 67 process steps you can switch on or off.</a:t>
            </a:r>
            <a:endParaRPr lang="en-US" sz="1050" dirty="0"/>
          </a:p>
        </p:txBody>
      </p:sp>
      <p:sp>
        <p:nvSpPr>
          <p:cNvPr id="17" name="Shape 12"/>
          <p:cNvSpPr/>
          <p:nvPr/>
        </p:nvSpPr>
        <p:spPr>
          <a:xfrm>
            <a:off x="7406640" y="3108960"/>
            <a:ext cx="457200" cy="457200"/>
          </a:xfrm>
          <a:prstGeom prst="ellipse">
            <a:avLst/>
          </a:prstGeom>
          <a:solidFill>
            <a:srgbClr val="F2F0EB"/>
          </a:solidFill>
          <a:ln w="12700">
            <a:solidFill>
              <a:srgbClr val="F2F0EB"/>
            </a:solidFill>
            <a:prstDash val="solid"/>
          </a:ln>
        </p:spPr>
      </p:sp>
      <p:pic>
        <p:nvPicPr>
          <p:cNvPr id="18" name="Image 3" descr="preencoded.png">    </p:cNvPr>
          <p:cNvPicPr>
            <a:picLocks noChangeAspect="1"/>
          </p:cNvPicPr>
          <p:nvPr/>
        </p:nvPicPr>
        <p:blipFill>
          <a:blip r:embed="rId4"/>
          <a:stretch>
            <a:fillRect/>
          </a:stretch>
        </p:blipFill>
        <p:spPr>
          <a:xfrm>
            <a:off x="7507224" y="3209544"/>
            <a:ext cx="256032" cy="256032"/>
          </a:xfrm>
          <a:prstGeom prst="rect">
            <a:avLst/>
          </a:prstGeom>
        </p:spPr>
      </p:pic>
      <p:sp>
        <p:nvSpPr>
          <p:cNvPr id="19" name="Text 13"/>
          <p:cNvSpPr txBox="1"/>
          <p:nvPr/>
        </p:nvSpPr>
        <p:spPr>
          <a:xfrm>
            <a:off x="8046720" y="3090672"/>
            <a:ext cx="3657600" cy="292608"/>
          </a:xfrm>
          <a:prstGeom prst="rect">
            <a:avLst/>
          </a:prstGeom>
          <a:noFill/>
          <a:ln/>
        </p:spPr>
        <p:txBody>
          <a:bodyPr wrap="square" lIns="0" tIns="0" rIns="0" bIns="0"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Compare</a:t>
            </a:r>
            <a:endParaRPr lang="en-US" sz="1300" dirty="0"/>
          </a:p>
        </p:txBody>
      </p:sp>
      <p:sp>
        <p:nvSpPr>
          <p:cNvPr id="20" name="Text 14"/>
          <p:cNvSpPr txBox="1"/>
          <p:nvPr/>
        </p:nvSpPr>
        <p:spPr>
          <a:xfrm>
            <a:off x="8046720" y="3383280"/>
            <a:ext cx="3611880" cy="5943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Two plants or plans side by side, each with its own full route, per-scope deltas.</a:t>
            </a:r>
            <a:endParaRPr lang="en-US" sz="1050" dirty="0"/>
          </a:p>
        </p:txBody>
      </p:sp>
      <p:sp>
        <p:nvSpPr>
          <p:cNvPr id="21" name="Shape 15"/>
          <p:cNvSpPr/>
          <p:nvPr/>
        </p:nvSpPr>
        <p:spPr>
          <a:xfrm>
            <a:off x="7406640" y="3977640"/>
            <a:ext cx="457200" cy="457200"/>
          </a:xfrm>
          <a:prstGeom prst="ellipse">
            <a:avLst/>
          </a:prstGeom>
          <a:solidFill>
            <a:srgbClr val="F2F0EB"/>
          </a:solidFill>
          <a:ln w="12700">
            <a:solidFill>
              <a:srgbClr val="F2F0EB"/>
            </a:solidFill>
            <a:prstDash val="solid"/>
          </a:ln>
        </p:spPr>
      </p:sp>
      <p:pic>
        <p:nvPicPr>
          <p:cNvPr id="22" name="Image 4" descr="preencoded.png">    </p:cNvPr>
          <p:cNvPicPr>
            <a:picLocks noChangeAspect="1"/>
          </p:cNvPicPr>
          <p:nvPr/>
        </p:nvPicPr>
        <p:blipFill>
          <a:blip r:embed="rId5"/>
          <a:stretch>
            <a:fillRect/>
          </a:stretch>
        </p:blipFill>
        <p:spPr>
          <a:xfrm>
            <a:off x="7507224" y="4078224"/>
            <a:ext cx="256032" cy="256032"/>
          </a:xfrm>
          <a:prstGeom prst="rect">
            <a:avLst/>
          </a:prstGeom>
        </p:spPr>
      </p:pic>
      <p:sp>
        <p:nvSpPr>
          <p:cNvPr id="23" name="Text 16"/>
          <p:cNvSpPr txBox="1"/>
          <p:nvPr/>
        </p:nvSpPr>
        <p:spPr>
          <a:xfrm>
            <a:off x="8046720" y="3959352"/>
            <a:ext cx="3657600" cy="292608"/>
          </a:xfrm>
          <a:prstGeom prst="rect">
            <a:avLst/>
          </a:prstGeom>
          <a:noFill/>
          <a:ln/>
        </p:spPr>
        <p:txBody>
          <a:bodyPr wrap="square" lIns="0" tIns="0" rIns="0" bIns="0"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Optimiser</a:t>
            </a:r>
            <a:endParaRPr lang="en-US" sz="1300" dirty="0"/>
          </a:p>
        </p:txBody>
      </p:sp>
      <p:sp>
        <p:nvSpPr>
          <p:cNvPr id="24" name="Text 17"/>
          <p:cNvSpPr txBox="1"/>
          <p:nvPr/>
        </p:nvSpPr>
        <p:spPr>
          <a:xfrm>
            <a:off x="8046720" y="4251960"/>
            <a:ext cx="3611880" cy="5943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Lowest-carbon plan under three ambition levels, a savings waterfall, and a written review.</a:t>
            </a:r>
            <a:endParaRPr lang="en-US" sz="1050" dirty="0"/>
          </a:p>
        </p:txBody>
      </p:sp>
      <p:sp>
        <p:nvSpPr>
          <p:cNvPr id="25" name="Shape 18"/>
          <p:cNvSpPr/>
          <p:nvPr/>
        </p:nvSpPr>
        <p:spPr>
          <a:xfrm>
            <a:off x="7406640" y="4846320"/>
            <a:ext cx="457200" cy="457200"/>
          </a:xfrm>
          <a:prstGeom prst="ellipse">
            <a:avLst/>
          </a:prstGeom>
          <a:solidFill>
            <a:srgbClr val="F2F0EB"/>
          </a:solidFill>
          <a:ln w="12700">
            <a:solidFill>
              <a:srgbClr val="F2F0EB"/>
            </a:solidFill>
            <a:prstDash val="solid"/>
          </a:ln>
        </p:spPr>
      </p:sp>
      <p:pic>
        <p:nvPicPr>
          <p:cNvPr id="26" name="Image 5" descr="preencoded.png">    </p:cNvPr>
          <p:cNvPicPr>
            <a:picLocks noChangeAspect="1"/>
          </p:cNvPicPr>
          <p:nvPr/>
        </p:nvPicPr>
        <p:blipFill>
          <a:blip r:embed="rId6"/>
          <a:stretch>
            <a:fillRect/>
          </a:stretch>
        </p:blipFill>
        <p:spPr>
          <a:xfrm>
            <a:off x="7507224" y="4946904"/>
            <a:ext cx="256032" cy="256032"/>
          </a:xfrm>
          <a:prstGeom prst="rect">
            <a:avLst/>
          </a:prstGeom>
        </p:spPr>
      </p:pic>
      <p:sp>
        <p:nvSpPr>
          <p:cNvPr id="27" name="Text 19"/>
          <p:cNvSpPr txBox="1"/>
          <p:nvPr/>
        </p:nvSpPr>
        <p:spPr>
          <a:xfrm>
            <a:off x="8046720" y="4828032"/>
            <a:ext cx="3657600" cy="292608"/>
          </a:xfrm>
          <a:prstGeom prst="rect">
            <a:avLst/>
          </a:prstGeom>
          <a:noFill/>
          <a:ln/>
        </p:spPr>
        <p:txBody>
          <a:bodyPr wrap="square" lIns="0" tIns="0" rIns="0" bIns="0"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Database</a:t>
            </a:r>
            <a:endParaRPr lang="en-US" sz="1300" dirty="0"/>
          </a:p>
        </p:txBody>
      </p:sp>
      <p:sp>
        <p:nvSpPr>
          <p:cNvPr id="28" name="Text 20"/>
          <p:cNvSpPr txBox="1"/>
          <p:nvPr/>
        </p:nvSpPr>
        <p:spPr>
          <a:xfrm>
            <a:off x="8046720" y="5120640"/>
            <a:ext cx="3611880" cy="5943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Every formula, factor, source and calibration note, downloadable.</a:t>
            </a:r>
            <a:endParaRPr lang="en-US" sz="1050" dirty="0"/>
          </a:p>
        </p:txBody>
      </p:sp>
      <p:sp>
        <p:nvSpPr>
          <p:cNvPr id="29" name="Shape 21"/>
          <p:cNvSpPr/>
          <p:nvPr/>
        </p:nvSpPr>
        <p:spPr>
          <a:xfrm>
            <a:off x="7406640" y="5806440"/>
            <a:ext cx="4251960" cy="548640"/>
          </a:xfrm>
          <a:prstGeom prst="rect">
            <a:avLst/>
          </a:prstGeom>
          <a:solidFill>
            <a:srgbClr val="F2F0EB"/>
          </a:solidFill>
          <a:ln w="12700">
            <a:solidFill>
              <a:srgbClr val="F2F0EB"/>
            </a:solidFill>
            <a:prstDash val="solid"/>
          </a:ln>
        </p:spPr>
      </p:sp>
      <p:sp>
        <p:nvSpPr>
          <p:cNvPr id="30" name="Text 22"/>
          <p:cNvSpPr txBox="1"/>
          <p:nvPr/>
        </p:nvSpPr>
        <p:spPr>
          <a:xfrm>
            <a:off x="7543800" y="5806440"/>
            <a:ext cx="4023360" cy="548640"/>
          </a:xfrm>
          <a:prstGeom prst="rect">
            <a:avLst/>
          </a:prstGeom>
          <a:noFill/>
          <a:ln/>
        </p:spPr>
        <p:txBody>
          <a:bodyPr wrap="square" lIns="0" tIns="0" rIns="0" bIns="0" rtlCol="0" anchor="ctr"/>
          <a:lstStyle/>
          <a:p>
            <a:pPr indent="0" marL="0">
              <a:buNone/>
            </a:pPr>
            <a:r>
              <a:rPr lang="en-US" sz="1050" b="1" dirty="0">
                <a:solidFill>
                  <a:srgbClr val="B24A2C"/>
                </a:solidFill>
                <a:latin typeface="Calibri" pitchFamily="34" charset="0"/>
                <a:ea typeface="Calibri" pitchFamily="34" charset="-122"/>
                <a:cs typeface="Calibri" pitchFamily="34" charset="-120"/>
              </a:rPr>
              <a:t>Built for planners: </a:t>
            </a:r>
            <a:pPr indent="0" marL="0">
              <a:buNone/>
            </a:pPr>
            <a:r>
              <a:rPr lang="en-US" sz="1050" dirty="0">
                <a:solidFill>
                  <a:srgbClr val="1F1F1E"/>
                </a:solidFill>
                <a:latin typeface="Calibri" pitchFamily="34" charset="0"/>
                <a:ea typeface="Calibri" pitchFamily="34" charset="-122"/>
                <a:cs typeface="Calibri" pitchFamily="34" charset="-120"/>
              </a:rPr>
              <a:t>photo-led input panels, light/dark themes, ready-made plant profiles, Compare, exact optimiser, review.</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C1B"/>
        </a:solidFill>
      </p:bgPr>
    </p:bg>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24A2C"/>
          </a:solidFill>
          <a:ln w="12700">
            <a:solidFill>
              <a:srgbClr val="B24A2C"/>
            </a:solidFill>
            <a:prstDash val="solid"/>
          </a:ln>
        </p:spPr>
      </p:sp>
      <p:sp>
        <p:nvSpPr>
          <p:cNvPr id="3" name="Text 1"/>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 name="Text 2"/>
          <p:cNvSpPr txBox="1"/>
          <p:nvPr/>
        </p:nvSpPr>
        <p:spPr>
          <a:xfrm>
            <a:off x="1051560" y="329184"/>
            <a:ext cx="10058400" cy="256032"/>
          </a:xfrm>
          <a:prstGeom prst="rect">
            <a:avLst/>
          </a:prstGeom>
          <a:noFill/>
          <a:ln/>
        </p:spPr>
        <p:txBody>
          <a:bodyPr wrap="square" lIns="0" tIns="0" rIns="0" bIns="0" rtlCol="0" anchor="ctr"/>
          <a:lstStyle/>
          <a:p>
            <a:pPr indent="0" marL="0">
              <a:buNone/>
            </a:pPr>
            <a:r>
              <a:rPr lang="en-US" sz="1100" b="1" spc="100" kern="0" dirty="0">
                <a:solidFill>
                  <a:srgbClr val="E08A63"/>
                </a:solidFill>
                <a:latin typeface="Calibri" pitchFamily="34" charset="0"/>
                <a:ea typeface="Calibri" pitchFamily="34" charset="-122"/>
                <a:cs typeface="Calibri" pitchFamily="34" charset="-120"/>
              </a:rPr>
              <a:t>PROPOSED SOLUTION  ·  FROM NUMBER TO DECISION</a:t>
            </a:r>
            <a:endParaRPr lang="en-US" sz="1100" dirty="0"/>
          </a:p>
        </p:txBody>
      </p:sp>
      <p:sp>
        <p:nvSpPr>
          <p:cNvPr id="5" name="Text 3"/>
          <p:cNvSpPr txBox="1"/>
          <p:nvPr/>
        </p:nvSpPr>
        <p:spPr>
          <a:xfrm>
            <a:off x="1051560" y="585216"/>
            <a:ext cx="10698480" cy="566928"/>
          </a:xfrm>
          <a:prstGeom prst="rect">
            <a:avLst/>
          </a:prstGeom>
          <a:noFill/>
          <a:ln/>
        </p:spPr>
        <p:txBody>
          <a:bodyPr wrap="square" lIns="0" tIns="0" rIns="0" bIns="0" rtlCol="0" anchor="t"/>
          <a:lstStyle/>
          <a:p>
            <a:pPr indent="0" marL="0">
              <a:buNone/>
            </a:pPr>
            <a:r>
              <a:rPr lang="en-US" sz="3000" dirty="0">
                <a:solidFill>
                  <a:srgbClr val="EDEAE3"/>
                </a:solidFill>
                <a:latin typeface="Cambria" pitchFamily="34" charset="0"/>
                <a:ea typeface="Cambria" pitchFamily="34" charset="-122"/>
                <a:cs typeface="Cambria" pitchFamily="34" charset="-120"/>
              </a:rPr>
              <a:t>It doesn't just score a plan, it writes the next one</a:t>
            </a:r>
            <a:endParaRPr lang="en-US" sz="3000" dirty="0"/>
          </a:p>
        </p:txBody>
      </p:sp>
      <p:sp>
        <p:nvSpPr>
          <p:cNvPr id="6" name="Shape 4"/>
          <p:cNvSpPr/>
          <p:nvPr/>
        </p:nvSpPr>
        <p:spPr>
          <a:xfrm>
            <a:off x="512064" y="1335024"/>
            <a:ext cx="5833872" cy="1885269"/>
          </a:xfrm>
          <a:prstGeom prst="rect">
            <a:avLst/>
          </a:prstGeom>
          <a:solidFill>
            <a:srgbClr val="3A3835"/>
          </a:solidFill>
          <a:ln w="12700">
            <a:solidFill>
              <a:srgbClr val="3A3835"/>
            </a:solidFill>
            <a:prstDash val="solid"/>
          </a:ln>
          <a:effectLst>
            <a:outerShdw sx="100000" sy="100000" kx="0" ky="0" algn="bl" rotWithShape="0" blurRad="101600" dist="38100" dir="5400000">
              <a:srgbClr val="000000">
                <a:alpha val="45000"/>
              </a:srgbClr>
            </a:outerShdw>
          </a:effectLst>
        </p:spPr>
      </p:sp>
      <p:pic>
        <p:nvPicPr>
          <p:cNvPr id="7" name="Image 0" descr="/tmp/lo/crops/opt_head.png">    </p:cNvPr>
          <p:cNvPicPr>
            <a:picLocks noChangeAspect="1"/>
          </p:cNvPicPr>
          <p:nvPr/>
        </p:nvPicPr>
        <p:blipFill>
          <a:blip r:embed="rId1"/>
          <a:stretch>
            <a:fillRect/>
          </a:stretch>
        </p:blipFill>
        <p:spPr>
          <a:xfrm>
            <a:off x="548640" y="1371600"/>
            <a:ext cx="5760720" cy="1812117"/>
          </a:xfrm>
          <a:prstGeom prst="rect">
            <a:avLst/>
          </a:prstGeom>
        </p:spPr>
      </p:pic>
      <p:sp>
        <p:nvSpPr>
          <p:cNvPr id="8" name="Shape 5"/>
          <p:cNvSpPr/>
          <p:nvPr/>
        </p:nvSpPr>
        <p:spPr>
          <a:xfrm>
            <a:off x="512064" y="3375741"/>
            <a:ext cx="5833872" cy="1831614"/>
          </a:xfrm>
          <a:prstGeom prst="rect">
            <a:avLst/>
          </a:prstGeom>
          <a:solidFill>
            <a:srgbClr val="3A3835"/>
          </a:solidFill>
          <a:ln w="12700">
            <a:solidFill>
              <a:srgbClr val="3A3835"/>
            </a:solidFill>
            <a:prstDash val="solid"/>
          </a:ln>
          <a:effectLst>
            <a:outerShdw sx="100000" sy="100000" kx="0" ky="0" algn="bl" rotWithShape="0" blurRad="101600" dist="38100" dir="5400000">
              <a:srgbClr val="000000">
                <a:alpha val="45000"/>
              </a:srgbClr>
            </a:outerShdw>
          </a:effectLst>
        </p:spPr>
      </p:sp>
      <p:pic>
        <p:nvPicPr>
          <p:cNvPr id="9" name="Image 1" descr="/tmp/lo/crops/opt_wf.png">    </p:cNvPr>
          <p:cNvPicPr>
            <a:picLocks noChangeAspect="1"/>
          </p:cNvPicPr>
          <p:nvPr/>
        </p:nvPicPr>
        <p:blipFill>
          <a:blip r:embed="rId2"/>
          <a:stretch>
            <a:fillRect/>
          </a:stretch>
        </p:blipFill>
        <p:spPr>
          <a:xfrm>
            <a:off x="548640" y="3412317"/>
            <a:ext cx="5760720" cy="1758462"/>
          </a:xfrm>
          <a:prstGeom prst="rect">
            <a:avLst/>
          </a:prstGeom>
        </p:spPr>
      </p:pic>
      <p:sp>
        <p:nvSpPr>
          <p:cNvPr id="10" name="Text 6"/>
          <p:cNvSpPr txBox="1"/>
          <p:nvPr/>
        </p:nvSpPr>
        <p:spPr>
          <a:xfrm>
            <a:off x="548640" y="5307939"/>
            <a:ext cx="5760720" cy="274320"/>
          </a:xfrm>
          <a:prstGeom prst="rect">
            <a:avLst/>
          </a:prstGeom>
          <a:noFill/>
          <a:ln/>
        </p:spPr>
        <p:txBody>
          <a:bodyPr wrap="square" lIns="0" tIns="0" rIns="0" bIns="0" rtlCol="0" anchor="ctr"/>
          <a:lstStyle/>
          <a:p>
            <a:pPr indent="0" marL="0">
              <a:buNone/>
            </a:pPr>
            <a:r>
              <a:rPr lang="en-US" sz="1000" i="1" dirty="0">
                <a:solidFill>
                  <a:srgbClr val="A8A49B"/>
                </a:solidFill>
                <a:latin typeface="Calibri" pitchFamily="34" charset="0"/>
                <a:ea typeface="Calibri" pitchFamily="34" charset="-122"/>
                <a:cs typeface="Calibri" pitchFamily="34" charset="-120"/>
              </a:rPr>
              <a:t>Optimiser, Buildable today: the plan, and a waterfall where each lever's saving adds up exactly to the gap.</a:t>
            </a:r>
            <a:endParaRPr lang="en-US" sz="1000" dirty="0"/>
          </a:p>
        </p:txBody>
      </p:sp>
      <p:sp>
        <p:nvSpPr>
          <p:cNvPr id="11" name="Text 7"/>
          <p:cNvSpPr txBox="1"/>
          <p:nvPr/>
        </p:nvSpPr>
        <p:spPr>
          <a:xfrm>
            <a:off x="548640" y="5719419"/>
            <a:ext cx="4572000" cy="228600"/>
          </a:xfrm>
          <a:prstGeom prst="rect">
            <a:avLst/>
          </a:prstGeom>
          <a:noFill/>
          <a:ln/>
        </p:spPr>
        <p:txBody>
          <a:bodyPr wrap="square" lIns="0" tIns="0" rIns="0" bIns="0" rtlCol="0" anchor="ctr"/>
          <a:lstStyle/>
          <a:p>
            <a:pPr indent="0" marL="0">
              <a:buNone/>
            </a:pPr>
            <a:r>
              <a:rPr lang="en-US" sz="1050" b="1" spc="100" kern="0" dirty="0">
                <a:solidFill>
                  <a:srgbClr val="E08A63"/>
                </a:solidFill>
                <a:latin typeface="Calibri" pitchFamily="34" charset="0"/>
                <a:ea typeface="Calibri" pitchFamily="34" charset="-122"/>
                <a:cs typeface="Calibri" pitchFamily="34" charset="-120"/>
              </a:rPr>
              <a:t>WHY TRUST THE ANSWER</a:t>
            </a:r>
            <a:endParaRPr lang="en-US" sz="1050" dirty="0"/>
          </a:p>
        </p:txBody>
      </p:sp>
      <p:sp>
        <p:nvSpPr>
          <p:cNvPr id="12" name="Text 8"/>
          <p:cNvSpPr txBox="1"/>
          <p:nvPr/>
        </p:nvSpPr>
        <p:spPr>
          <a:xfrm>
            <a:off x="548640" y="5966307"/>
            <a:ext cx="5760720" cy="685800"/>
          </a:xfrm>
          <a:prstGeom prst="rect">
            <a:avLst/>
          </a:prstGeom>
          <a:noFill/>
          <a:ln/>
        </p:spPr>
        <p:txBody>
          <a:bodyPr wrap="square" lIns="0" tIns="0" rIns="0" bIns="0" rtlCol="0" anchor="t"/>
          <a:lstStyle/>
          <a:p>
            <a:pPr indent="0" marL="0">
              <a:buNone/>
            </a:pPr>
            <a:r>
              <a:rPr lang="en-US" sz="1050" b="1" dirty="0">
                <a:solidFill>
                  <a:srgbClr val="EDEAE3"/>
                </a:solidFill>
                <a:latin typeface="Calibri" pitchFamily="34" charset="0"/>
                <a:ea typeface="Calibri" pitchFamily="34" charset="-122"/>
                <a:cs typeface="Calibri" pitchFamily="34" charset="-120"/>
              </a:rPr>
              <a:t>Exact, not heuristic. </a:t>
            </a:r>
            <a:pPr indent="0" marL="0">
              <a:buNone/>
            </a:pPr>
            <a:r>
              <a:rPr lang="en-US" sz="1050" dirty="0">
                <a:solidFill>
                  <a:srgbClr val="A8A49B"/>
                </a:solidFill>
                <a:latin typeface="Calibri" pitchFamily="34" charset="0"/>
                <a:ea typeface="Calibri" pitchFamily="34" charset="-122"/>
                <a:cs typeface="Calibri" pitchFamily="34" charset="-120"/>
              </a:rPr>
              <a:t>Grid mix is solved greedily to its proven minimum. Scrap and rail are linear, so all 8 corners are checked. Each stage's technology is minimised on its own. About 15 ms.</a:t>
            </a:r>
            <a:endParaRPr lang="en-US" sz="1050" dirty="0"/>
          </a:p>
        </p:txBody>
      </p:sp>
      <p:sp>
        <p:nvSpPr>
          <p:cNvPr id="13" name="Shape 9"/>
          <p:cNvSpPr/>
          <p:nvPr/>
        </p:nvSpPr>
        <p:spPr>
          <a:xfrm>
            <a:off x="6547104" y="1335024"/>
            <a:ext cx="5148072" cy="2562078"/>
          </a:xfrm>
          <a:prstGeom prst="rect">
            <a:avLst/>
          </a:prstGeom>
          <a:solidFill>
            <a:srgbClr val="3A3835"/>
          </a:solidFill>
          <a:ln w="12700">
            <a:solidFill>
              <a:srgbClr val="3A3835"/>
            </a:solidFill>
            <a:prstDash val="solid"/>
          </a:ln>
          <a:effectLst>
            <a:outerShdw sx="100000" sy="100000" kx="0" ky="0" algn="bl" rotWithShape="0" blurRad="101600" dist="38100" dir="5400000">
              <a:srgbClr val="000000">
                <a:alpha val="45000"/>
              </a:srgbClr>
            </a:outerShdw>
          </a:effectLst>
        </p:spPr>
      </p:sp>
      <p:pic>
        <p:nvPicPr>
          <p:cNvPr id="14" name="Image 2" descr="/tmp/lo/crops/compare_clean.png">    </p:cNvPr>
          <p:cNvPicPr>
            <a:picLocks noChangeAspect="1"/>
          </p:cNvPicPr>
          <p:nvPr/>
        </p:nvPicPr>
        <p:blipFill>
          <a:blip r:embed="rId3"/>
          <a:stretch>
            <a:fillRect/>
          </a:stretch>
        </p:blipFill>
        <p:spPr>
          <a:xfrm>
            <a:off x="6583680" y="1371600"/>
            <a:ext cx="5074920" cy="2488926"/>
          </a:xfrm>
          <a:prstGeom prst="rect">
            <a:avLst/>
          </a:prstGeom>
        </p:spPr>
      </p:pic>
      <p:sp>
        <p:nvSpPr>
          <p:cNvPr id="15" name="Text 10"/>
          <p:cNvSpPr txBox="1"/>
          <p:nvPr/>
        </p:nvSpPr>
        <p:spPr>
          <a:xfrm>
            <a:off x="6583680" y="3970254"/>
            <a:ext cx="5074920" cy="274320"/>
          </a:xfrm>
          <a:prstGeom prst="rect">
            <a:avLst/>
          </a:prstGeom>
          <a:noFill/>
          <a:ln/>
        </p:spPr>
        <p:txBody>
          <a:bodyPr wrap="square" lIns="0" tIns="0" rIns="0" bIns="0" rtlCol="0" anchor="ctr"/>
          <a:lstStyle/>
          <a:p>
            <a:pPr indent="0" marL="0">
              <a:buNone/>
            </a:pPr>
            <a:r>
              <a:rPr lang="en-US" sz="1000" i="1" dirty="0">
                <a:solidFill>
                  <a:srgbClr val="A8A49B"/>
                </a:solidFill>
                <a:latin typeface="Calibri" pitchFamily="34" charset="0"/>
                <a:ea typeface="Calibri" pitchFamily="34" charset="-122"/>
                <a:cs typeface="Calibri" pitchFamily="34" charset="-120"/>
              </a:rPr>
              <a:t>Compare: reference plant today (A) vs 75% scrap + 50% renewable grid (B) = −0.641 t/t, −22.2%.</a:t>
            </a:r>
            <a:endParaRPr lang="en-US" sz="1000" dirty="0"/>
          </a:p>
        </p:txBody>
      </p:sp>
      <p:sp>
        <p:nvSpPr>
          <p:cNvPr id="16" name="Text 11"/>
          <p:cNvSpPr txBox="1"/>
          <p:nvPr/>
        </p:nvSpPr>
        <p:spPr>
          <a:xfrm>
            <a:off x="6583680" y="4409166"/>
            <a:ext cx="5074920" cy="228600"/>
          </a:xfrm>
          <a:prstGeom prst="rect">
            <a:avLst/>
          </a:prstGeom>
          <a:noFill/>
          <a:ln/>
        </p:spPr>
        <p:txBody>
          <a:bodyPr wrap="square" lIns="0" tIns="0" rIns="0" bIns="0" rtlCol="0" anchor="ctr"/>
          <a:lstStyle/>
          <a:p>
            <a:pPr indent="0" marL="0">
              <a:buNone/>
            </a:pPr>
            <a:r>
              <a:rPr lang="en-US" sz="1050" b="1" spc="100" kern="0" dirty="0">
                <a:solidFill>
                  <a:srgbClr val="E08A63"/>
                </a:solidFill>
                <a:latin typeface="Calibri" pitchFamily="34" charset="0"/>
                <a:ea typeface="Calibri" pitchFamily="34" charset="-122"/>
                <a:cs typeface="Calibri" pitchFamily="34" charset="-120"/>
              </a:rPr>
              <a:t>THREE AMBITION LEVELS — REFERENCE PLANT, tCO₂e/t</a:t>
            </a:r>
            <a:endParaRPr lang="en-US" sz="1050" dirty="0"/>
          </a:p>
        </p:txBody>
      </p:sp>
      <p:sp>
        <p:nvSpPr>
          <p:cNvPr id="17" name="Shape 12"/>
          <p:cNvSpPr/>
          <p:nvPr/>
        </p:nvSpPr>
        <p:spPr>
          <a:xfrm>
            <a:off x="6583680" y="4701774"/>
            <a:ext cx="1600200" cy="1371600"/>
          </a:xfrm>
          <a:prstGeom prst="rect">
            <a:avLst/>
          </a:prstGeom>
          <a:solidFill>
            <a:srgbClr val="2A2927"/>
          </a:solidFill>
          <a:ln w="12700">
            <a:solidFill>
              <a:srgbClr val="3A3835"/>
            </a:solidFill>
            <a:prstDash val="solid"/>
          </a:ln>
        </p:spPr>
      </p:sp>
      <p:sp>
        <p:nvSpPr>
          <p:cNvPr id="18" name="Text 13"/>
          <p:cNvSpPr txBox="1"/>
          <p:nvPr/>
        </p:nvSpPr>
        <p:spPr>
          <a:xfrm>
            <a:off x="6693408" y="4793214"/>
            <a:ext cx="1371600" cy="411480"/>
          </a:xfrm>
          <a:prstGeom prst="rect">
            <a:avLst/>
          </a:prstGeom>
          <a:noFill/>
          <a:ln/>
        </p:spPr>
        <p:txBody>
          <a:bodyPr wrap="square" lIns="0" tIns="0" rIns="0" bIns="0" rtlCol="0" anchor="ctr"/>
          <a:lstStyle/>
          <a:p>
            <a:pPr indent="0" marL="0">
              <a:buNone/>
            </a:pPr>
            <a:r>
              <a:rPr lang="en-US" sz="2400" dirty="0">
                <a:solidFill>
                  <a:srgbClr val="E08A63"/>
                </a:solidFill>
                <a:latin typeface="Cambria" pitchFamily="34" charset="0"/>
                <a:ea typeface="Cambria" pitchFamily="34" charset="-122"/>
                <a:cs typeface="Cambria" pitchFamily="34" charset="-120"/>
              </a:rPr>
              <a:t>2.248</a:t>
            </a:r>
            <a:endParaRPr lang="en-US" sz="2400" dirty="0"/>
          </a:p>
        </p:txBody>
      </p:sp>
      <p:sp>
        <p:nvSpPr>
          <p:cNvPr id="19" name="Text 14"/>
          <p:cNvSpPr txBox="1"/>
          <p:nvPr/>
        </p:nvSpPr>
        <p:spPr>
          <a:xfrm>
            <a:off x="6693408" y="5232126"/>
            <a:ext cx="1417320" cy="256032"/>
          </a:xfrm>
          <a:prstGeom prst="rect">
            <a:avLst/>
          </a:prstGeom>
          <a:noFill/>
          <a:ln/>
        </p:spPr>
        <p:txBody>
          <a:bodyPr wrap="square" lIns="0" tIns="0" rIns="0" bIns="0" rtlCol="0" anchor="ctr"/>
          <a:lstStyle/>
          <a:p>
            <a:pPr indent="0" marL="0">
              <a:buNone/>
            </a:pPr>
            <a:r>
              <a:rPr lang="en-US" sz="1100" b="1" dirty="0">
                <a:solidFill>
                  <a:srgbClr val="EDEAE3"/>
                </a:solidFill>
                <a:latin typeface="Calibri" pitchFamily="34" charset="0"/>
                <a:ea typeface="Calibri" pitchFamily="34" charset="-122"/>
                <a:cs typeface="Calibri" pitchFamily="34" charset="-120"/>
              </a:rPr>
              <a:t>Buildable today</a:t>
            </a:r>
            <a:endParaRPr lang="en-US" sz="1100" dirty="0"/>
          </a:p>
        </p:txBody>
      </p:sp>
      <p:sp>
        <p:nvSpPr>
          <p:cNvPr id="20" name="Text 15"/>
          <p:cNvSpPr txBox="1"/>
          <p:nvPr/>
        </p:nvSpPr>
        <p:spPr>
          <a:xfrm>
            <a:off x="6693408" y="5506446"/>
            <a:ext cx="1417320" cy="502920"/>
          </a:xfrm>
          <a:prstGeom prst="rect">
            <a:avLst/>
          </a:prstGeom>
          <a:noFill/>
          <a:ln/>
        </p:spPr>
        <p:txBody>
          <a:bodyPr wrap="square" lIns="0" tIns="0" rIns="0" bIns="0" rtlCol="0" anchor="t"/>
          <a:lstStyle/>
          <a:p>
            <a:pPr indent="0" marL="0">
              <a:buNone/>
            </a:pPr>
            <a:r>
              <a:rPr lang="en-US" sz="950" dirty="0">
                <a:solidFill>
                  <a:srgbClr val="A8A49B"/>
                </a:solidFill>
                <a:latin typeface="Calibri" pitchFamily="34" charset="0"/>
                <a:ea typeface="Calibri" pitchFamily="34" charset="-122"/>
                <a:cs typeface="Calibri" pitchFamily="34" charset="-120"/>
              </a:rPr>
              <a:t>≤75% scrap · coal ≥45% · no new plant</a:t>
            </a:r>
            <a:endParaRPr lang="en-US" sz="950" dirty="0"/>
          </a:p>
        </p:txBody>
      </p:sp>
      <p:sp>
        <p:nvSpPr>
          <p:cNvPr id="21" name="Shape 16"/>
          <p:cNvSpPr/>
          <p:nvPr/>
        </p:nvSpPr>
        <p:spPr>
          <a:xfrm>
            <a:off x="8321040" y="4701774"/>
            <a:ext cx="1600200" cy="1371600"/>
          </a:xfrm>
          <a:prstGeom prst="rect">
            <a:avLst/>
          </a:prstGeom>
          <a:solidFill>
            <a:srgbClr val="2A2927"/>
          </a:solidFill>
          <a:ln w="12700">
            <a:solidFill>
              <a:srgbClr val="3A3835"/>
            </a:solidFill>
            <a:prstDash val="solid"/>
          </a:ln>
        </p:spPr>
      </p:sp>
      <p:sp>
        <p:nvSpPr>
          <p:cNvPr id="22" name="Text 17"/>
          <p:cNvSpPr txBox="1"/>
          <p:nvPr/>
        </p:nvSpPr>
        <p:spPr>
          <a:xfrm>
            <a:off x="8430768" y="4793214"/>
            <a:ext cx="1371600" cy="411480"/>
          </a:xfrm>
          <a:prstGeom prst="rect">
            <a:avLst/>
          </a:prstGeom>
          <a:noFill/>
          <a:ln/>
        </p:spPr>
        <p:txBody>
          <a:bodyPr wrap="square" lIns="0" tIns="0" rIns="0" bIns="0" rtlCol="0" anchor="ctr"/>
          <a:lstStyle/>
          <a:p>
            <a:pPr indent="0" marL="0">
              <a:buNone/>
            </a:pPr>
            <a:r>
              <a:rPr lang="en-US" sz="2400" dirty="0">
                <a:solidFill>
                  <a:srgbClr val="C9971F"/>
                </a:solidFill>
                <a:latin typeface="Cambria" pitchFamily="34" charset="0"/>
                <a:ea typeface="Cambria" pitchFamily="34" charset="-122"/>
                <a:cs typeface="Cambria" pitchFamily="34" charset="-120"/>
              </a:rPr>
              <a:t>1.514</a:t>
            </a:r>
            <a:endParaRPr lang="en-US" sz="2400" dirty="0"/>
          </a:p>
        </p:txBody>
      </p:sp>
      <p:sp>
        <p:nvSpPr>
          <p:cNvPr id="23" name="Text 18"/>
          <p:cNvSpPr txBox="1"/>
          <p:nvPr/>
        </p:nvSpPr>
        <p:spPr>
          <a:xfrm>
            <a:off x="8430768" y="5232126"/>
            <a:ext cx="1417320" cy="256032"/>
          </a:xfrm>
          <a:prstGeom prst="rect">
            <a:avLst/>
          </a:prstGeom>
          <a:noFill/>
          <a:ln/>
        </p:spPr>
        <p:txBody>
          <a:bodyPr wrap="square" lIns="0" tIns="0" rIns="0" bIns="0" rtlCol="0" anchor="ctr"/>
          <a:lstStyle/>
          <a:p>
            <a:pPr indent="0" marL="0">
              <a:buNone/>
            </a:pPr>
            <a:r>
              <a:rPr lang="en-US" sz="1100" b="1" dirty="0">
                <a:solidFill>
                  <a:srgbClr val="EDEAE3"/>
                </a:solidFill>
                <a:latin typeface="Calibri" pitchFamily="34" charset="0"/>
                <a:ea typeface="Calibri" pitchFamily="34" charset="-122"/>
                <a:cs typeface="Calibri" pitchFamily="34" charset="-120"/>
              </a:rPr>
              <a:t>Stretch</a:t>
            </a:r>
            <a:endParaRPr lang="en-US" sz="1100" dirty="0"/>
          </a:p>
        </p:txBody>
      </p:sp>
      <p:sp>
        <p:nvSpPr>
          <p:cNvPr id="24" name="Text 19"/>
          <p:cNvSpPr txBox="1"/>
          <p:nvPr/>
        </p:nvSpPr>
        <p:spPr>
          <a:xfrm>
            <a:off x="8430768" y="5506446"/>
            <a:ext cx="1417320" cy="502920"/>
          </a:xfrm>
          <a:prstGeom prst="rect">
            <a:avLst/>
          </a:prstGeom>
          <a:noFill/>
          <a:ln/>
        </p:spPr>
        <p:txBody>
          <a:bodyPr wrap="square" lIns="0" tIns="0" rIns="0" bIns="0" rtlCol="0" anchor="t"/>
          <a:lstStyle/>
          <a:p>
            <a:pPr indent="0" marL="0">
              <a:buNone/>
            </a:pPr>
            <a:r>
              <a:rPr lang="en-US" sz="950" dirty="0">
                <a:solidFill>
                  <a:srgbClr val="A8A49B"/>
                </a:solidFill>
                <a:latin typeface="Calibri" pitchFamily="34" charset="0"/>
                <a:ea typeface="Calibri" pitchFamily="34" charset="-122"/>
                <a:cs typeface="Calibri" pitchFamily="34" charset="-120"/>
              </a:rPr>
              <a:t>≤85% scrap · firmed RE · coal 10–30%</a:t>
            </a:r>
            <a:endParaRPr lang="en-US" sz="950" dirty="0"/>
          </a:p>
        </p:txBody>
      </p:sp>
      <p:sp>
        <p:nvSpPr>
          <p:cNvPr id="25" name="Shape 20"/>
          <p:cNvSpPr/>
          <p:nvPr/>
        </p:nvSpPr>
        <p:spPr>
          <a:xfrm>
            <a:off x="10058400" y="4701774"/>
            <a:ext cx="1600200" cy="1371600"/>
          </a:xfrm>
          <a:prstGeom prst="rect">
            <a:avLst/>
          </a:prstGeom>
          <a:solidFill>
            <a:srgbClr val="2A2927"/>
          </a:solidFill>
          <a:ln w="12700">
            <a:solidFill>
              <a:srgbClr val="3A3835"/>
            </a:solidFill>
            <a:prstDash val="solid"/>
          </a:ln>
        </p:spPr>
      </p:sp>
      <p:sp>
        <p:nvSpPr>
          <p:cNvPr id="26" name="Text 21"/>
          <p:cNvSpPr txBox="1"/>
          <p:nvPr/>
        </p:nvSpPr>
        <p:spPr>
          <a:xfrm>
            <a:off x="10168128" y="4793214"/>
            <a:ext cx="1371600" cy="411480"/>
          </a:xfrm>
          <a:prstGeom prst="rect">
            <a:avLst/>
          </a:prstGeom>
          <a:noFill/>
          <a:ln/>
        </p:spPr>
        <p:txBody>
          <a:bodyPr wrap="square" lIns="0" tIns="0" rIns="0" bIns="0" rtlCol="0" anchor="ctr"/>
          <a:lstStyle/>
          <a:p>
            <a:pPr indent="0" marL="0">
              <a:buNone/>
            </a:pPr>
            <a:r>
              <a:rPr lang="en-US" sz="2400" dirty="0">
                <a:solidFill>
                  <a:srgbClr val="5AA2D0"/>
                </a:solidFill>
                <a:latin typeface="Cambria" pitchFamily="34" charset="0"/>
                <a:ea typeface="Cambria" pitchFamily="34" charset="-122"/>
                <a:cs typeface="Cambria" pitchFamily="34" charset="-120"/>
              </a:rPr>
              <a:t>0.899</a:t>
            </a:r>
            <a:endParaRPr lang="en-US" sz="2400" dirty="0"/>
          </a:p>
        </p:txBody>
      </p:sp>
      <p:sp>
        <p:nvSpPr>
          <p:cNvPr id="27" name="Text 22"/>
          <p:cNvSpPr txBox="1"/>
          <p:nvPr/>
        </p:nvSpPr>
        <p:spPr>
          <a:xfrm>
            <a:off x="10168128" y="5232126"/>
            <a:ext cx="1417320" cy="256032"/>
          </a:xfrm>
          <a:prstGeom prst="rect">
            <a:avLst/>
          </a:prstGeom>
          <a:noFill/>
          <a:ln/>
        </p:spPr>
        <p:txBody>
          <a:bodyPr wrap="square" lIns="0" tIns="0" rIns="0" bIns="0" rtlCol="0" anchor="ctr"/>
          <a:lstStyle/>
          <a:p>
            <a:pPr indent="0" marL="0">
              <a:buNone/>
            </a:pPr>
            <a:r>
              <a:rPr lang="en-US" sz="1100" b="1" dirty="0">
                <a:solidFill>
                  <a:srgbClr val="EDEAE3"/>
                </a:solidFill>
                <a:latin typeface="Calibri" pitchFamily="34" charset="0"/>
                <a:ea typeface="Calibri" pitchFamily="34" charset="-122"/>
                <a:cs typeface="Calibri" pitchFamily="34" charset="-120"/>
              </a:rPr>
              <a:t>Theoretical floor</a:t>
            </a:r>
            <a:endParaRPr lang="en-US" sz="1100" dirty="0"/>
          </a:p>
        </p:txBody>
      </p:sp>
      <p:sp>
        <p:nvSpPr>
          <p:cNvPr id="28" name="Text 23"/>
          <p:cNvSpPr txBox="1"/>
          <p:nvPr/>
        </p:nvSpPr>
        <p:spPr>
          <a:xfrm>
            <a:off x="10168128" y="5506446"/>
            <a:ext cx="1417320" cy="502920"/>
          </a:xfrm>
          <a:prstGeom prst="rect">
            <a:avLst/>
          </a:prstGeom>
          <a:noFill/>
          <a:ln/>
        </p:spPr>
        <p:txBody>
          <a:bodyPr wrap="square" lIns="0" tIns="0" rIns="0" bIns="0" rtlCol="0" anchor="t"/>
          <a:lstStyle/>
          <a:p>
            <a:pPr indent="0" marL="0">
              <a:buNone/>
            </a:pPr>
            <a:r>
              <a:rPr lang="en-US" sz="950" dirty="0">
                <a:solidFill>
                  <a:srgbClr val="A8A49B"/>
                </a:solidFill>
                <a:latin typeface="Calibri" pitchFamily="34" charset="0"/>
                <a:ea typeface="Calibri" pitchFamily="34" charset="-122"/>
                <a:cs typeface="Calibri" pitchFamily="34" charset="-120"/>
              </a:rPr>
              <a:t>100% scrap · non-fossil grid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24A2C"/>
          </a:solidFill>
          <a:ln w="12700">
            <a:solidFill>
              <a:srgbClr val="B24A2C"/>
            </a:solidFill>
            <a:prstDash val="solid"/>
          </a:ln>
        </p:spPr>
      </p:sp>
      <p:sp>
        <p:nvSpPr>
          <p:cNvPr id="3" name="Text 1"/>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 name="Text 2"/>
          <p:cNvSpPr txBox="1"/>
          <p:nvPr/>
        </p:nvSpPr>
        <p:spPr>
          <a:xfrm>
            <a:off x="1051560" y="329184"/>
            <a:ext cx="10058400" cy="256032"/>
          </a:xfrm>
          <a:prstGeom prst="rect">
            <a:avLst/>
          </a:prstGeom>
          <a:noFill/>
          <a:ln/>
        </p:spPr>
        <p:txBody>
          <a:bodyPr wrap="square" lIns="0" tIns="0" rIns="0" bIns="0" rtlCol="0" anchor="ctr"/>
          <a:lstStyle/>
          <a:p>
            <a:pPr indent="0" marL="0">
              <a:buNone/>
            </a:pPr>
            <a:r>
              <a:rPr lang="en-US" sz="1100" b="1" spc="100" kern="0" dirty="0">
                <a:solidFill>
                  <a:srgbClr val="B24A2C"/>
                </a:solidFill>
                <a:latin typeface="Calibri" pitchFamily="34" charset="0"/>
                <a:ea typeface="Calibri" pitchFamily="34" charset="-122"/>
                <a:cs typeface="Calibri" pitchFamily="34" charset="-120"/>
              </a:rPr>
              <a:t>IMPLEMENTATION  ·  ARCHITECTURE &amp; ROLLOUT</a:t>
            </a:r>
            <a:endParaRPr lang="en-US" sz="1100" dirty="0"/>
          </a:p>
        </p:txBody>
      </p:sp>
      <p:sp>
        <p:nvSpPr>
          <p:cNvPr id="5" name="Text 3"/>
          <p:cNvSpPr txBox="1"/>
          <p:nvPr/>
        </p:nvSpPr>
        <p:spPr>
          <a:xfrm>
            <a:off x="1051560" y="585216"/>
            <a:ext cx="10698480" cy="566928"/>
          </a:xfrm>
          <a:prstGeom prst="rect">
            <a:avLst/>
          </a:prstGeom>
          <a:noFill/>
          <a:ln/>
        </p:spPr>
        <p:txBody>
          <a:bodyPr wrap="square" lIns="0" tIns="0" rIns="0" bIns="0" rtlCol="0" anchor="t"/>
          <a:lstStyle/>
          <a:p>
            <a:pPr indent="0" marL="0">
              <a:buNone/>
            </a:pPr>
            <a:r>
              <a:rPr lang="en-US" sz="3000" dirty="0">
                <a:solidFill>
                  <a:srgbClr val="1F1F1E"/>
                </a:solidFill>
                <a:latin typeface="Cambria" pitchFamily="34" charset="0"/>
                <a:ea typeface="Cambria" pitchFamily="34" charset="-122"/>
                <a:cs typeface="Cambria" pitchFamily="34" charset="-120"/>
              </a:rPr>
              <a:t>Built, tested, and ready for plant data</a:t>
            </a:r>
            <a:endParaRPr lang="en-US" sz="3000" dirty="0"/>
          </a:p>
        </p:txBody>
      </p:sp>
      <p:sp>
        <p:nvSpPr>
          <p:cNvPr id="6" name="Shape 4"/>
          <p:cNvSpPr/>
          <p:nvPr/>
        </p:nvSpPr>
        <p:spPr>
          <a:xfrm>
            <a:off x="548640" y="1371600"/>
            <a:ext cx="2011680" cy="1417320"/>
          </a:xfrm>
          <a:prstGeom prst="rect">
            <a:avLst/>
          </a:prstGeom>
          <a:solidFill>
            <a:srgbClr val="F2F0EB"/>
          </a:solidFill>
          <a:ln w="12700">
            <a:solidFill>
              <a:srgbClr val="F2F0EB"/>
            </a:solidFill>
            <a:prstDash val="solid"/>
          </a:ln>
        </p:spPr>
      </p:sp>
      <p:pic>
        <p:nvPicPr>
          <p:cNvPr id="7" name="Image 0" descr="preencoded.png">    </p:cNvPr>
          <p:cNvPicPr>
            <a:picLocks noChangeAspect="1"/>
          </p:cNvPicPr>
          <p:nvPr/>
        </p:nvPicPr>
        <p:blipFill>
          <a:blip r:embed="rId1"/>
          <a:stretch>
            <a:fillRect/>
          </a:stretch>
        </p:blipFill>
        <p:spPr>
          <a:xfrm>
            <a:off x="685800" y="1490472"/>
            <a:ext cx="292608" cy="292608"/>
          </a:xfrm>
          <a:prstGeom prst="rect">
            <a:avLst/>
          </a:prstGeom>
        </p:spPr>
      </p:pic>
      <p:sp>
        <p:nvSpPr>
          <p:cNvPr id="8" name="Text 5"/>
          <p:cNvSpPr txBox="1"/>
          <p:nvPr/>
        </p:nvSpPr>
        <p:spPr>
          <a:xfrm>
            <a:off x="1051560" y="1463040"/>
            <a:ext cx="1463040" cy="347472"/>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Workbook</a:t>
            </a:r>
            <a:endParaRPr lang="en-US" sz="1250" dirty="0"/>
          </a:p>
        </p:txBody>
      </p:sp>
      <p:sp>
        <p:nvSpPr>
          <p:cNvPr id="9" name="Text 6"/>
          <p:cNvSpPr txBox="1"/>
          <p:nvPr/>
        </p:nvSpPr>
        <p:spPr>
          <a:xfrm>
            <a:off x="685800" y="1874520"/>
            <a:ext cx="1737360" cy="8229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Accounting grid .xlsx: 67 steps × 11 metrics, notes per row</a:t>
            </a:r>
            <a:endParaRPr lang="en-US" sz="1050" dirty="0"/>
          </a:p>
        </p:txBody>
      </p:sp>
      <p:sp>
        <p:nvSpPr>
          <p:cNvPr id="10" name="Text 7"/>
          <p:cNvSpPr txBox="1"/>
          <p:nvPr/>
        </p:nvSpPr>
        <p:spPr>
          <a:xfrm>
            <a:off x="2560320" y="1874520"/>
            <a:ext cx="237744" cy="365760"/>
          </a:xfrm>
          <a:prstGeom prst="rect">
            <a:avLst/>
          </a:prstGeom>
          <a:noFill/>
          <a:ln/>
        </p:spPr>
        <p:txBody>
          <a:bodyPr wrap="square" lIns="0" tIns="0" rIns="0" bIns="0" rtlCol="0" anchor="ctr"/>
          <a:lstStyle/>
          <a:p>
            <a:pPr algn="ctr" indent="0" marL="0">
              <a:buNone/>
            </a:pPr>
            <a:r>
              <a:rPr lang="en-US" sz="1600" b="1" dirty="0">
                <a:solidFill>
                  <a:srgbClr val="B24A2C"/>
                </a:solidFill>
                <a:latin typeface="Calibri" pitchFamily="34" charset="0"/>
                <a:ea typeface="Calibri" pitchFamily="34" charset="-122"/>
                <a:cs typeface="Calibri" pitchFamily="34" charset="-120"/>
              </a:rPr>
              <a:t>→</a:t>
            </a:r>
            <a:endParaRPr lang="en-US" sz="1600" dirty="0"/>
          </a:p>
        </p:txBody>
      </p:sp>
      <p:sp>
        <p:nvSpPr>
          <p:cNvPr id="11" name="Shape 8"/>
          <p:cNvSpPr/>
          <p:nvPr/>
        </p:nvSpPr>
        <p:spPr>
          <a:xfrm>
            <a:off x="2798064" y="1371600"/>
            <a:ext cx="2011680" cy="1417320"/>
          </a:xfrm>
          <a:prstGeom prst="rect">
            <a:avLst/>
          </a:prstGeom>
          <a:solidFill>
            <a:srgbClr val="F2F0EB"/>
          </a:solidFill>
          <a:ln w="12700">
            <a:solidFill>
              <a:srgbClr val="F2F0EB"/>
            </a:solidFill>
            <a:prstDash val="solid"/>
          </a:ln>
        </p:spPr>
      </p:sp>
      <p:pic>
        <p:nvPicPr>
          <p:cNvPr id="12" name="Image 1" descr="preencoded.png">    </p:cNvPr>
          <p:cNvPicPr>
            <a:picLocks noChangeAspect="1"/>
          </p:cNvPicPr>
          <p:nvPr/>
        </p:nvPicPr>
        <p:blipFill>
          <a:blip r:embed="rId2"/>
          <a:stretch>
            <a:fillRect/>
          </a:stretch>
        </p:blipFill>
        <p:spPr>
          <a:xfrm>
            <a:off x="2935224" y="1490472"/>
            <a:ext cx="292608" cy="292608"/>
          </a:xfrm>
          <a:prstGeom prst="rect">
            <a:avLst/>
          </a:prstGeom>
        </p:spPr>
      </p:pic>
      <p:sp>
        <p:nvSpPr>
          <p:cNvPr id="13" name="Text 9"/>
          <p:cNvSpPr txBox="1"/>
          <p:nvPr/>
        </p:nvSpPr>
        <p:spPr>
          <a:xfrm>
            <a:off x="3300984" y="1463040"/>
            <a:ext cx="1463040" cy="347472"/>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Extract</a:t>
            </a:r>
            <a:endParaRPr lang="en-US" sz="1250" dirty="0"/>
          </a:p>
        </p:txBody>
      </p:sp>
      <p:sp>
        <p:nvSpPr>
          <p:cNvPr id="14" name="Text 10"/>
          <p:cNvSpPr txBox="1"/>
          <p:nvPr/>
        </p:nvSpPr>
        <p:spPr>
          <a:xfrm>
            <a:off x="2935224" y="1874520"/>
            <a:ext cx="1737360" cy="8229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Formulas kept as text in JSON; nothing re-typed</a:t>
            </a:r>
            <a:endParaRPr lang="en-US" sz="1050" dirty="0"/>
          </a:p>
        </p:txBody>
      </p:sp>
      <p:sp>
        <p:nvSpPr>
          <p:cNvPr id="15" name="Text 11"/>
          <p:cNvSpPr txBox="1"/>
          <p:nvPr/>
        </p:nvSpPr>
        <p:spPr>
          <a:xfrm>
            <a:off x="4809744" y="1874520"/>
            <a:ext cx="237744" cy="365760"/>
          </a:xfrm>
          <a:prstGeom prst="rect">
            <a:avLst/>
          </a:prstGeom>
          <a:noFill/>
          <a:ln/>
        </p:spPr>
        <p:txBody>
          <a:bodyPr wrap="square" lIns="0" tIns="0" rIns="0" bIns="0" rtlCol="0" anchor="ctr"/>
          <a:lstStyle/>
          <a:p>
            <a:pPr algn="ctr" indent="0" marL="0">
              <a:buNone/>
            </a:pPr>
            <a:r>
              <a:rPr lang="en-US" sz="1600" b="1" dirty="0">
                <a:solidFill>
                  <a:srgbClr val="B24A2C"/>
                </a:solidFill>
                <a:latin typeface="Calibri" pitchFamily="34" charset="0"/>
                <a:ea typeface="Calibri" pitchFamily="34" charset="-122"/>
                <a:cs typeface="Calibri" pitchFamily="34" charset="-120"/>
              </a:rPr>
              <a:t>→</a:t>
            </a:r>
            <a:endParaRPr lang="en-US" sz="1600" dirty="0"/>
          </a:p>
        </p:txBody>
      </p:sp>
      <p:sp>
        <p:nvSpPr>
          <p:cNvPr id="16" name="Shape 12"/>
          <p:cNvSpPr/>
          <p:nvPr/>
        </p:nvSpPr>
        <p:spPr>
          <a:xfrm>
            <a:off x="5047488" y="1371600"/>
            <a:ext cx="2011680" cy="1417320"/>
          </a:xfrm>
          <a:prstGeom prst="rect">
            <a:avLst/>
          </a:prstGeom>
          <a:solidFill>
            <a:srgbClr val="F2F0EB"/>
          </a:solidFill>
          <a:ln w="12700">
            <a:solidFill>
              <a:srgbClr val="F2F0EB"/>
            </a:solidFill>
            <a:prstDash val="solid"/>
          </a:ln>
        </p:spPr>
      </p:sp>
      <p:pic>
        <p:nvPicPr>
          <p:cNvPr id="17" name="Image 2" descr="preencoded.png">    </p:cNvPr>
          <p:cNvPicPr>
            <a:picLocks noChangeAspect="1"/>
          </p:cNvPicPr>
          <p:nvPr/>
        </p:nvPicPr>
        <p:blipFill>
          <a:blip r:embed="rId3"/>
          <a:stretch>
            <a:fillRect/>
          </a:stretch>
        </p:blipFill>
        <p:spPr>
          <a:xfrm>
            <a:off x="5184648" y="1490472"/>
            <a:ext cx="292608" cy="292608"/>
          </a:xfrm>
          <a:prstGeom prst="rect">
            <a:avLst/>
          </a:prstGeom>
        </p:spPr>
      </p:pic>
      <p:sp>
        <p:nvSpPr>
          <p:cNvPr id="18" name="Text 13"/>
          <p:cNvSpPr txBox="1"/>
          <p:nvPr/>
        </p:nvSpPr>
        <p:spPr>
          <a:xfrm>
            <a:off x="5550408" y="1463040"/>
            <a:ext cx="1463040" cy="347472"/>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Safe evaluator</a:t>
            </a:r>
            <a:endParaRPr lang="en-US" sz="1250" dirty="0"/>
          </a:p>
        </p:txBody>
      </p:sp>
      <p:sp>
        <p:nvSpPr>
          <p:cNvPr id="19" name="Text 14"/>
          <p:cNvSpPr txBox="1"/>
          <p:nvPr/>
        </p:nvSpPr>
        <p:spPr>
          <a:xfrm>
            <a:off x="5184648" y="1874520"/>
            <a:ext cx="1737360" cy="8229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AST whitelist: 11 variables + arithmetic, no eval</a:t>
            </a:r>
            <a:endParaRPr lang="en-US" sz="1050" dirty="0"/>
          </a:p>
        </p:txBody>
      </p:sp>
      <p:sp>
        <p:nvSpPr>
          <p:cNvPr id="20" name="Text 15"/>
          <p:cNvSpPr txBox="1"/>
          <p:nvPr/>
        </p:nvSpPr>
        <p:spPr>
          <a:xfrm>
            <a:off x="7059168" y="1874520"/>
            <a:ext cx="237744" cy="365760"/>
          </a:xfrm>
          <a:prstGeom prst="rect">
            <a:avLst/>
          </a:prstGeom>
          <a:noFill/>
          <a:ln/>
        </p:spPr>
        <p:txBody>
          <a:bodyPr wrap="square" lIns="0" tIns="0" rIns="0" bIns="0" rtlCol="0" anchor="ctr"/>
          <a:lstStyle/>
          <a:p>
            <a:pPr algn="ctr" indent="0" marL="0">
              <a:buNone/>
            </a:pPr>
            <a:r>
              <a:rPr lang="en-US" sz="1600" b="1" dirty="0">
                <a:solidFill>
                  <a:srgbClr val="B24A2C"/>
                </a:solidFill>
                <a:latin typeface="Calibri" pitchFamily="34" charset="0"/>
                <a:ea typeface="Calibri" pitchFamily="34" charset="-122"/>
                <a:cs typeface="Calibri" pitchFamily="34" charset="-120"/>
              </a:rPr>
              <a:t>→</a:t>
            </a:r>
            <a:endParaRPr lang="en-US" sz="1600" dirty="0"/>
          </a:p>
        </p:txBody>
      </p:sp>
      <p:sp>
        <p:nvSpPr>
          <p:cNvPr id="21" name="Shape 16"/>
          <p:cNvSpPr/>
          <p:nvPr/>
        </p:nvSpPr>
        <p:spPr>
          <a:xfrm>
            <a:off x="7296912" y="1371600"/>
            <a:ext cx="2011680" cy="1417320"/>
          </a:xfrm>
          <a:prstGeom prst="rect">
            <a:avLst/>
          </a:prstGeom>
          <a:solidFill>
            <a:srgbClr val="F2F0EB"/>
          </a:solidFill>
          <a:ln w="12700">
            <a:solidFill>
              <a:srgbClr val="F2F0EB"/>
            </a:solidFill>
            <a:prstDash val="solid"/>
          </a:ln>
        </p:spPr>
      </p:sp>
      <p:pic>
        <p:nvPicPr>
          <p:cNvPr id="22" name="Image 3" descr="preencoded.png">    </p:cNvPr>
          <p:cNvPicPr>
            <a:picLocks noChangeAspect="1"/>
          </p:cNvPicPr>
          <p:nvPr/>
        </p:nvPicPr>
        <p:blipFill>
          <a:blip r:embed="rId4"/>
          <a:stretch>
            <a:fillRect/>
          </a:stretch>
        </p:blipFill>
        <p:spPr>
          <a:xfrm>
            <a:off x="7434072" y="1490472"/>
            <a:ext cx="292608" cy="292608"/>
          </a:xfrm>
          <a:prstGeom prst="rect">
            <a:avLst/>
          </a:prstGeom>
        </p:spPr>
      </p:pic>
      <p:sp>
        <p:nvSpPr>
          <p:cNvPr id="23" name="Text 17"/>
          <p:cNvSpPr txBox="1"/>
          <p:nvPr/>
        </p:nvSpPr>
        <p:spPr>
          <a:xfrm>
            <a:off x="7799832" y="1463040"/>
            <a:ext cx="1463040" cy="347472"/>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Model</a:t>
            </a:r>
            <a:endParaRPr lang="en-US" sz="1250" dirty="0"/>
          </a:p>
        </p:txBody>
      </p:sp>
      <p:sp>
        <p:nvSpPr>
          <p:cNvPr id="24" name="Text 18"/>
          <p:cNvSpPr txBox="1"/>
          <p:nvPr/>
        </p:nvSpPr>
        <p:spPr>
          <a:xfrm>
            <a:off x="7434072" y="1874520"/>
            <a:ext cx="1737360" cy="8229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Scope 2 = kWh × grid EF; exact corner search</a:t>
            </a:r>
            <a:endParaRPr lang="en-US" sz="1050" dirty="0"/>
          </a:p>
        </p:txBody>
      </p:sp>
      <p:sp>
        <p:nvSpPr>
          <p:cNvPr id="25" name="Text 19"/>
          <p:cNvSpPr txBox="1"/>
          <p:nvPr/>
        </p:nvSpPr>
        <p:spPr>
          <a:xfrm>
            <a:off x="9308592" y="1874520"/>
            <a:ext cx="237744" cy="365760"/>
          </a:xfrm>
          <a:prstGeom prst="rect">
            <a:avLst/>
          </a:prstGeom>
          <a:noFill/>
          <a:ln/>
        </p:spPr>
        <p:txBody>
          <a:bodyPr wrap="square" lIns="0" tIns="0" rIns="0" bIns="0" rtlCol="0" anchor="ctr"/>
          <a:lstStyle/>
          <a:p>
            <a:pPr algn="ctr" indent="0" marL="0">
              <a:buNone/>
            </a:pPr>
            <a:r>
              <a:rPr lang="en-US" sz="1600" b="1" dirty="0">
                <a:solidFill>
                  <a:srgbClr val="B24A2C"/>
                </a:solidFill>
                <a:latin typeface="Calibri" pitchFamily="34" charset="0"/>
                <a:ea typeface="Calibri" pitchFamily="34" charset="-122"/>
                <a:cs typeface="Calibri" pitchFamily="34" charset="-120"/>
              </a:rPr>
              <a:t>→</a:t>
            </a:r>
            <a:endParaRPr lang="en-US" sz="1600" dirty="0"/>
          </a:p>
        </p:txBody>
      </p:sp>
      <p:sp>
        <p:nvSpPr>
          <p:cNvPr id="26" name="Shape 20"/>
          <p:cNvSpPr/>
          <p:nvPr/>
        </p:nvSpPr>
        <p:spPr>
          <a:xfrm>
            <a:off x="9546336" y="1371600"/>
            <a:ext cx="2011680" cy="1417320"/>
          </a:xfrm>
          <a:prstGeom prst="rect">
            <a:avLst/>
          </a:prstGeom>
          <a:solidFill>
            <a:srgbClr val="F2F0EB"/>
          </a:solidFill>
          <a:ln w="12700">
            <a:solidFill>
              <a:srgbClr val="F2F0EB"/>
            </a:solidFill>
            <a:prstDash val="solid"/>
          </a:ln>
        </p:spPr>
      </p:sp>
      <p:pic>
        <p:nvPicPr>
          <p:cNvPr id="27" name="Image 4" descr="preencoded.png">    </p:cNvPr>
          <p:cNvPicPr>
            <a:picLocks noChangeAspect="1"/>
          </p:cNvPicPr>
          <p:nvPr/>
        </p:nvPicPr>
        <p:blipFill>
          <a:blip r:embed="rId5"/>
          <a:stretch>
            <a:fillRect/>
          </a:stretch>
        </p:blipFill>
        <p:spPr>
          <a:xfrm>
            <a:off x="9683496" y="1490472"/>
            <a:ext cx="292608" cy="292608"/>
          </a:xfrm>
          <a:prstGeom prst="rect">
            <a:avLst/>
          </a:prstGeom>
        </p:spPr>
      </p:pic>
      <p:sp>
        <p:nvSpPr>
          <p:cNvPr id="28" name="Text 21"/>
          <p:cNvSpPr txBox="1"/>
          <p:nvPr/>
        </p:nvSpPr>
        <p:spPr>
          <a:xfrm>
            <a:off x="10049256" y="1463040"/>
            <a:ext cx="1463040" cy="347472"/>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Web app</a:t>
            </a:r>
            <a:endParaRPr lang="en-US" sz="1250" dirty="0"/>
          </a:p>
        </p:txBody>
      </p:sp>
      <p:sp>
        <p:nvSpPr>
          <p:cNvPr id="29" name="Text 22"/>
          <p:cNvSpPr txBox="1"/>
          <p:nvPr/>
        </p:nvSpPr>
        <p:spPr>
          <a:xfrm>
            <a:off x="9683496" y="1874520"/>
            <a:ext cx="1737360" cy="8229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Streamlit: 5 views, live readout, light/dark</a:t>
            </a:r>
            <a:endParaRPr lang="en-US" sz="1050" dirty="0"/>
          </a:p>
        </p:txBody>
      </p:sp>
      <p:sp>
        <p:nvSpPr>
          <p:cNvPr id="30" name="Text 23"/>
          <p:cNvSpPr txBox="1"/>
          <p:nvPr/>
        </p:nvSpPr>
        <p:spPr>
          <a:xfrm>
            <a:off x="548640" y="3063240"/>
            <a:ext cx="5486400" cy="228600"/>
          </a:xfrm>
          <a:prstGeom prst="rect">
            <a:avLst/>
          </a:prstGeom>
          <a:noFill/>
          <a:ln/>
        </p:spPr>
        <p:txBody>
          <a:bodyPr wrap="square" lIns="0" tIns="0" rIns="0" bIns="0" rtlCol="0" anchor="ctr"/>
          <a:lstStyle/>
          <a:p>
            <a:pPr indent="0" marL="0">
              <a:buNone/>
            </a:pPr>
            <a:r>
              <a:rPr lang="en-US" sz="1050" b="1" spc="100" kern="0" dirty="0">
                <a:solidFill>
                  <a:srgbClr val="B24A2C"/>
                </a:solidFill>
                <a:latin typeface="Calibri" pitchFamily="34" charset="0"/>
                <a:ea typeface="Calibri" pitchFamily="34" charset="-122"/>
                <a:cs typeface="Calibri" pitchFamily="34" charset="-120"/>
              </a:rPr>
              <a:t>ROLLOUT AT A PLANT</a:t>
            </a:r>
            <a:endParaRPr lang="en-US" sz="1050" dirty="0"/>
          </a:p>
        </p:txBody>
      </p:sp>
      <p:sp>
        <p:nvSpPr>
          <p:cNvPr id="31" name="Shape 24"/>
          <p:cNvSpPr/>
          <p:nvPr/>
        </p:nvSpPr>
        <p:spPr>
          <a:xfrm>
            <a:off x="685800" y="3611880"/>
            <a:ext cx="6492240" cy="0"/>
          </a:xfrm>
          <a:prstGeom prst="line">
            <a:avLst/>
          </a:prstGeom>
          <a:noFill/>
          <a:ln w="25400">
            <a:solidFill>
              <a:srgbClr val="DDD9D0"/>
            </a:solidFill>
            <a:prstDash val="solid"/>
          </a:ln>
        </p:spPr>
      </p:sp>
      <p:sp>
        <p:nvSpPr>
          <p:cNvPr id="32" name="Shape 25"/>
          <p:cNvSpPr/>
          <p:nvPr/>
        </p:nvSpPr>
        <p:spPr>
          <a:xfrm>
            <a:off x="594360" y="3502152"/>
            <a:ext cx="219456" cy="219456"/>
          </a:xfrm>
          <a:prstGeom prst="ellipse">
            <a:avLst/>
          </a:prstGeom>
          <a:solidFill>
            <a:srgbClr val="B24A2C"/>
          </a:solidFill>
          <a:ln w="25400">
            <a:solidFill>
              <a:srgbClr val="B24A2C"/>
            </a:solidFill>
            <a:prstDash val="solid"/>
          </a:ln>
        </p:spPr>
      </p:sp>
      <p:sp>
        <p:nvSpPr>
          <p:cNvPr id="33" name="Text 26"/>
          <p:cNvSpPr txBox="1"/>
          <p:nvPr/>
        </p:nvSpPr>
        <p:spPr>
          <a:xfrm>
            <a:off x="548640" y="3794760"/>
            <a:ext cx="1554480" cy="228600"/>
          </a:xfrm>
          <a:prstGeom prst="rect">
            <a:avLst/>
          </a:prstGeom>
          <a:noFill/>
          <a:ln/>
        </p:spPr>
        <p:txBody>
          <a:bodyPr wrap="square" lIns="0" tIns="0" rIns="0" bIns="0" rtlCol="0" anchor="ctr"/>
          <a:lstStyle/>
          <a:p>
            <a:pPr indent="0" marL="0">
              <a:buNone/>
            </a:pPr>
            <a:r>
              <a:rPr lang="en-US" sz="950" b="1" spc="100" kern="0" dirty="0">
                <a:solidFill>
                  <a:srgbClr val="B24A2C"/>
                </a:solidFill>
                <a:latin typeface="Calibri" pitchFamily="34" charset="0"/>
                <a:ea typeface="Calibri" pitchFamily="34" charset="-122"/>
                <a:cs typeface="Calibri" pitchFamily="34" charset="-120"/>
              </a:rPr>
              <a:t>NOW</a:t>
            </a:r>
            <a:endParaRPr lang="en-US" sz="950" dirty="0"/>
          </a:p>
        </p:txBody>
      </p:sp>
      <p:sp>
        <p:nvSpPr>
          <p:cNvPr id="34" name="Text 27"/>
          <p:cNvSpPr txBox="1"/>
          <p:nvPr/>
        </p:nvSpPr>
        <p:spPr>
          <a:xfrm>
            <a:off x="548640" y="4041648"/>
            <a:ext cx="1554480" cy="274320"/>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Prototype live</a:t>
            </a:r>
            <a:endParaRPr lang="en-US" sz="1200" dirty="0"/>
          </a:p>
        </p:txBody>
      </p:sp>
      <p:sp>
        <p:nvSpPr>
          <p:cNvPr id="35" name="Text 28"/>
          <p:cNvSpPr txBox="1"/>
          <p:nvPr/>
        </p:nvSpPr>
        <p:spPr>
          <a:xfrm>
            <a:off x="548640" y="4343400"/>
            <a:ext cx="1508760" cy="105156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Public data, two reference plant profiles, calibrated coefficients.</a:t>
            </a:r>
            <a:endParaRPr lang="en-US" sz="1000" dirty="0"/>
          </a:p>
        </p:txBody>
      </p:sp>
      <p:sp>
        <p:nvSpPr>
          <p:cNvPr id="36" name="Shape 29"/>
          <p:cNvSpPr/>
          <p:nvPr/>
        </p:nvSpPr>
        <p:spPr>
          <a:xfrm>
            <a:off x="2286000" y="3502152"/>
            <a:ext cx="219456" cy="219456"/>
          </a:xfrm>
          <a:prstGeom prst="ellipse">
            <a:avLst/>
          </a:prstGeom>
          <a:solidFill>
            <a:srgbClr val="FFFFFF"/>
          </a:solidFill>
          <a:ln w="25400">
            <a:solidFill>
              <a:srgbClr val="B24A2C"/>
            </a:solidFill>
            <a:prstDash val="solid"/>
          </a:ln>
        </p:spPr>
      </p:sp>
      <p:sp>
        <p:nvSpPr>
          <p:cNvPr id="37" name="Text 30"/>
          <p:cNvSpPr txBox="1"/>
          <p:nvPr/>
        </p:nvSpPr>
        <p:spPr>
          <a:xfrm>
            <a:off x="2240280" y="3794760"/>
            <a:ext cx="1554480" cy="228600"/>
          </a:xfrm>
          <a:prstGeom prst="rect">
            <a:avLst/>
          </a:prstGeom>
          <a:noFill/>
          <a:ln/>
        </p:spPr>
        <p:txBody>
          <a:bodyPr wrap="square" lIns="0" tIns="0" rIns="0" bIns="0" rtlCol="0" anchor="ctr"/>
          <a:lstStyle/>
          <a:p>
            <a:pPr indent="0" marL="0">
              <a:buNone/>
            </a:pPr>
            <a:r>
              <a:rPr lang="en-US" sz="950" b="1" spc="100" kern="0" dirty="0">
                <a:solidFill>
                  <a:srgbClr val="B24A2C"/>
                </a:solidFill>
                <a:latin typeface="Calibri" pitchFamily="34" charset="0"/>
                <a:ea typeface="Calibri" pitchFamily="34" charset="-122"/>
                <a:cs typeface="Calibri" pitchFamily="34" charset="-120"/>
              </a:rPr>
              <a:t>0–3 MONTHS</a:t>
            </a:r>
            <a:endParaRPr lang="en-US" sz="950" dirty="0"/>
          </a:p>
        </p:txBody>
      </p:sp>
      <p:sp>
        <p:nvSpPr>
          <p:cNvPr id="38" name="Text 31"/>
          <p:cNvSpPr txBox="1"/>
          <p:nvPr/>
        </p:nvSpPr>
        <p:spPr>
          <a:xfrm>
            <a:off x="2240280" y="4041648"/>
            <a:ext cx="1554480" cy="274320"/>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Plug in plant data</a:t>
            </a:r>
            <a:endParaRPr lang="en-US" sz="1200" dirty="0"/>
          </a:p>
        </p:txBody>
      </p:sp>
      <p:sp>
        <p:nvSpPr>
          <p:cNvPr id="39" name="Text 32"/>
          <p:cNvSpPr txBox="1"/>
          <p:nvPr/>
        </p:nvSpPr>
        <p:spPr>
          <a:xfrm>
            <a:off x="2240280" y="4343400"/>
            <a:ext cx="1508760" cy="105156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Shop-level kWh from energy meters, DISCOM/PPA emission factors, charge-mix records.</a:t>
            </a:r>
            <a:endParaRPr lang="en-US" sz="1000" dirty="0"/>
          </a:p>
        </p:txBody>
      </p:sp>
      <p:sp>
        <p:nvSpPr>
          <p:cNvPr id="40" name="Shape 33"/>
          <p:cNvSpPr/>
          <p:nvPr/>
        </p:nvSpPr>
        <p:spPr>
          <a:xfrm>
            <a:off x="3977640" y="3502152"/>
            <a:ext cx="219456" cy="219456"/>
          </a:xfrm>
          <a:prstGeom prst="ellipse">
            <a:avLst/>
          </a:prstGeom>
          <a:solidFill>
            <a:srgbClr val="FFFFFF"/>
          </a:solidFill>
          <a:ln w="25400">
            <a:solidFill>
              <a:srgbClr val="B24A2C"/>
            </a:solidFill>
            <a:prstDash val="solid"/>
          </a:ln>
        </p:spPr>
      </p:sp>
      <p:sp>
        <p:nvSpPr>
          <p:cNvPr id="41" name="Text 34"/>
          <p:cNvSpPr txBox="1"/>
          <p:nvPr/>
        </p:nvSpPr>
        <p:spPr>
          <a:xfrm>
            <a:off x="3931920" y="3794760"/>
            <a:ext cx="1554480" cy="228600"/>
          </a:xfrm>
          <a:prstGeom prst="rect">
            <a:avLst/>
          </a:prstGeom>
          <a:noFill/>
          <a:ln/>
        </p:spPr>
        <p:txBody>
          <a:bodyPr wrap="square" lIns="0" tIns="0" rIns="0" bIns="0" rtlCol="0" anchor="ctr"/>
          <a:lstStyle/>
          <a:p>
            <a:pPr indent="0" marL="0">
              <a:buNone/>
            </a:pPr>
            <a:r>
              <a:rPr lang="en-US" sz="950" b="1" spc="100" kern="0" dirty="0">
                <a:solidFill>
                  <a:srgbClr val="B24A2C"/>
                </a:solidFill>
                <a:latin typeface="Calibri" pitchFamily="34" charset="0"/>
                <a:ea typeface="Calibri" pitchFamily="34" charset="-122"/>
                <a:cs typeface="Calibri" pitchFamily="34" charset="-120"/>
              </a:rPr>
              <a:t>3–9 MONTHS</a:t>
            </a:r>
            <a:endParaRPr lang="en-US" sz="950" dirty="0"/>
          </a:p>
        </p:txBody>
      </p:sp>
      <p:sp>
        <p:nvSpPr>
          <p:cNvPr id="42" name="Text 35"/>
          <p:cNvSpPr txBox="1"/>
          <p:nvPr/>
        </p:nvSpPr>
        <p:spPr>
          <a:xfrm>
            <a:off x="3931920" y="4041648"/>
            <a:ext cx="1554480" cy="274320"/>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Decide with it</a:t>
            </a:r>
            <a:endParaRPr lang="en-US" sz="1200" dirty="0"/>
          </a:p>
        </p:txBody>
      </p:sp>
      <p:sp>
        <p:nvSpPr>
          <p:cNvPr id="43" name="Text 36"/>
          <p:cNvSpPr txBox="1"/>
          <p:nvPr/>
        </p:nvSpPr>
        <p:spPr>
          <a:xfrm>
            <a:off x="3931920" y="4343400"/>
            <a:ext cx="1508760" cy="105156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Size RE PPAs and scrap contracts in the optimiser. Feed BRSR Core and CBAM filings.</a:t>
            </a:r>
            <a:endParaRPr lang="en-US" sz="1000" dirty="0"/>
          </a:p>
        </p:txBody>
      </p:sp>
      <p:sp>
        <p:nvSpPr>
          <p:cNvPr id="44" name="Shape 37"/>
          <p:cNvSpPr/>
          <p:nvPr/>
        </p:nvSpPr>
        <p:spPr>
          <a:xfrm>
            <a:off x="5669280" y="3502152"/>
            <a:ext cx="219456" cy="219456"/>
          </a:xfrm>
          <a:prstGeom prst="ellipse">
            <a:avLst/>
          </a:prstGeom>
          <a:solidFill>
            <a:srgbClr val="FFFFFF"/>
          </a:solidFill>
          <a:ln w="25400">
            <a:solidFill>
              <a:srgbClr val="B24A2C"/>
            </a:solidFill>
            <a:prstDash val="solid"/>
          </a:ln>
        </p:spPr>
      </p:sp>
      <p:sp>
        <p:nvSpPr>
          <p:cNvPr id="45" name="Text 38"/>
          <p:cNvSpPr txBox="1"/>
          <p:nvPr/>
        </p:nvSpPr>
        <p:spPr>
          <a:xfrm>
            <a:off x="5623560" y="3794760"/>
            <a:ext cx="1554480" cy="228600"/>
          </a:xfrm>
          <a:prstGeom prst="rect">
            <a:avLst/>
          </a:prstGeom>
          <a:noFill/>
          <a:ln/>
        </p:spPr>
        <p:txBody>
          <a:bodyPr wrap="square" lIns="0" tIns="0" rIns="0" bIns="0" rtlCol="0" anchor="ctr"/>
          <a:lstStyle/>
          <a:p>
            <a:pPr indent="0" marL="0">
              <a:buNone/>
            </a:pPr>
            <a:r>
              <a:rPr lang="en-US" sz="950" b="1" spc="100" kern="0" dirty="0">
                <a:solidFill>
                  <a:srgbClr val="B24A2C"/>
                </a:solidFill>
                <a:latin typeface="Calibri" pitchFamily="34" charset="0"/>
                <a:ea typeface="Calibri" pitchFamily="34" charset="-122"/>
                <a:cs typeface="Calibri" pitchFamily="34" charset="-120"/>
              </a:rPr>
              <a:t>9–18 MONTHS</a:t>
            </a:r>
            <a:endParaRPr lang="en-US" sz="950" dirty="0"/>
          </a:p>
        </p:txBody>
      </p:sp>
      <p:sp>
        <p:nvSpPr>
          <p:cNvPr id="46" name="Text 39"/>
          <p:cNvSpPr txBox="1"/>
          <p:nvPr/>
        </p:nvSpPr>
        <p:spPr>
          <a:xfrm>
            <a:off x="5623560" y="4041648"/>
            <a:ext cx="1554480" cy="274320"/>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Scale it</a:t>
            </a:r>
            <a:endParaRPr lang="en-US" sz="1200" dirty="0"/>
          </a:p>
        </p:txBody>
      </p:sp>
      <p:sp>
        <p:nvSpPr>
          <p:cNvPr id="47" name="Text 40"/>
          <p:cNvSpPr txBox="1"/>
          <p:nvPr/>
        </p:nvSpPr>
        <p:spPr>
          <a:xfrm>
            <a:off x="5623560" y="4343400"/>
            <a:ext cx="1508760" cy="105156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Per-grade and per-coil footprints for customers (EPD); every site on one grid.</a:t>
            </a:r>
            <a:endParaRPr lang="en-US" sz="1000" dirty="0"/>
          </a:p>
        </p:txBody>
      </p:sp>
      <p:sp>
        <p:nvSpPr>
          <p:cNvPr id="48" name="Shape 41"/>
          <p:cNvSpPr/>
          <p:nvPr/>
        </p:nvSpPr>
        <p:spPr>
          <a:xfrm>
            <a:off x="548640" y="5532120"/>
            <a:ext cx="6766560" cy="777240"/>
          </a:xfrm>
          <a:prstGeom prst="rect">
            <a:avLst/>
          </a:prstGeom>
          <a:solidFill>
            <a:srgbClr val="F2F0EB"/>
          </a:solidFill>
          <a:ln w="12700">
            <a:solidFill>
              <a:srgbClr val="F2F0EB"/>
            </a:solidFill>
            <a:prstDash val="solid"/>
          </a:ln>
        </p:spPr>
      </p:sp>
      <p:sp>
        <p:nvSpPr>
          <p:cNvPr id="49" name="Text 42"/>
          <p:cNvSpPr txBox="1"/>
          <p:nvPr/>
        </p:nvSpPr>
        <p:spPr>
          <a:xfrm>
            <a:off x="685800" y="5577840"/>
            <a:ext cx="6537960" cy="685800"/>
          </a:xfrm>
          <a:prstGeom prst="rect">
            <a:avLst/>
          </a:prstGeom>
          <a:noFill/>
          <a:ln/>
        </p:spPr>
        <p:txBody>
          <a:bodyPr wrap="square" lIns="0" tIns="0" rIns="0" bIns="0" rtlCol="0" anchor="ctr"/>
          <a:lstStyle/>
          <a:p>
            <a:pPr indent="0" marL="0">
              <a:buNone/>
            </a:pPr>
            <a:r>
              <a:rPr lang="en-US" sz="1050" b="1" dirty="0">
                <a:solidFill>
                  <a:srgbClr val="1F1F1E"/>
                </a:solidFill>
                <a:latin typeface="Calibri" pitchFamily="34" charset="0"/>
                <a:ea typeface="Calibri" pitchFamily="34" charset="-122"/>
                <a:cs typeface="Calibri" pitchFamily="34" charset="-120"/>
              </a:rPr>
              <a:t>Assumptions &amp; limits. </a:t>
            </a:r>
            <a:pPr indent="0" marL="0">
              <a:buNone/>
            </a:pPr>
            <a:r>
              <a:rPr lang="en-US" sz="1050" dirty="0">
                <a:solidFill>
                  <a:srgbClr val="5F5C55"/>
                </a:solidFill>
                <a:latin typeface="Calibri" pitchFamily="34" charset="0"/>
                <a:ea typeface="Calibri" pitchFamily="34" charset="-122"/>
                <a:cs typeface="Calibri" pitchFamily="34" charset="-120"/>
              </a:rPr>
              <a:t>Coefficients are calibrated to published benchmarks, not metered. Site grid splits, scrap ratios and haulage are estimates, and the app labels them. That's why Phase 1 is metered data.</a:t>
            </a:r>
            <a:endParaRPr lang="en-US" sz="1050" dirty="0"/>
          </a:p>
        </p:txBody>
      </p:sp>
      <p:sp>
        <p:nvSpPr>
          <p:cNvPr id="50" name="Shape 43"/>
          <p:cNvSpPr/>
          <p:nvPr/>
        </p:nvSpPr>
        <p:spPr>
          <a:xfrm>
            <a:off x="7598664" y="3072384"/>
            <a:ext cx="4096512" cy="1764350"/>
          </a:xfrm>
          <a:prstGeom prst="rect">
            <a:avLst/>
          </a:prstGeom>
          <a:solidFill>
            <a:srgbClr val="DDD9D0"/>
          </a:solidFill>
          <a:ln w="12700">
            <a:solidFill>
              <a:srgbClr val="DDD9D0"/>
            </a:solidFill>
            <a:prstDash val="solid"/>
          </a:ln>
          <a:effectLst>
            <a:outerShdw sx="100000" sy="100000" kx="0" ky="0" algn="bl" rotWithShape="0" blurRad="101600" dist="38100" dir="5400000">
              <a:srgbClr val="000000">
                <a:alpha val="18000"/>
              </a:srgbClr>
            </a:outerShdw>
          </a:effectLst>
        </p:spPr>
      </p:sp>
      <p:pic>
        <p:nvPicPr>
          <p:cNvPr id="51" name="Image 5" descr="/tmp/lo/crops/db_top.png">    </p:cNvPr>
          <p:cNvPicPr>
            <a:picLocks noChangeAspect="1"/>
          </p:cNvPicPr>
          <p:nvPr/>
        </p:nvPicPr>
        <p:blipFill>
          <a:blip r:embed="rId6"/>
          <a:stretch>
            <a:fillRect/>
          </a:stretch>
        </p:blipFill>
        <p:spPr>
          <a:xfrm>
            <a:off x="7635240" y="3108960"/>
            <a:ext cx="4023360" cy="1691198"/>
          </a:xfrm>
          <a:prstGeom prst="rect">
            <a:avLst/>
          </a:prstGeom>
        </p:spPr>
      </p:pic>
      <p:sp>
        <p:nvSpPr>
          <p:cNvPr id="52" name="Text 44"/>
          <p:cNvSpPr txBox="1"/>
          <p:nvPr/>
        </p:nvSpPr>
        <p:spPr>
          <a:xfrm>
            <a:off x="7635240" y="4983038"/>
            <a:ext cx="1143000" cy="411480"/>
          </a:xfrm>
          <a:prstGeom prst="rect">
            <a:avLst/>
          </a:prstGeom>
          <a:noFill/>
          <a:ln/>
        </p:spPr>
        <p:txBody>
          <a:bodyPr wrap="square" lIns="0" tIns="0" rIns="0" bIns="0" rtlCol="0" anchor="ctr"/>
          <a:lstStyle/>
          <a:p>
            <a:pPr indent="0" marL="0">
              <a:buNone/>
            </a:pPr>
            <a:r>
              <a:rPr lang="en-US" sz="2000" dirty="0">
                <a:solidFill>
                  <a:srgbClr val="B24A2C"/>
                </a:solidFill>
                <a:latin typeface="Cambria" pitchFamily="34" charset="0"/>
                <a:ea typeface="Cambria" pitchFamily="34" charset="-122"/>
                <a:cs typeface="Cambria" pitchFamily="34" charset="-120"/>
              </a:rPr>
              <a:t>47</a:t>
            </a:r>
            <a:endParaRPr lang="en-US" sz="2000" dirty="0"/>
          </a:p>
        </p:txBody>
      </p:sp>
      <p:sp>
        <p:nvSpPr>
          <p:cNvPr id="53" name="Text 45"/>
          <p:cNvSpPr txBox="1"/>
          <p:nvPr/>
        </p:nvSpPr>
        <p:spPr>
          <a:xfrm>
            <a:off x="8823960" y="4983038"/>
            <a:ext cx="2834640" cy="411480"/>
          </a:xfrm>
          <a:prstGeom prst="rect">
            <a:avLst/>
          </a:prstGeom>
          <a:noFill/>
          <a:ln/>
        </p:spPr>
        <p:txBody>
          <a:bodyPr wrap="square" lIns="0" tIns="0" rIns="0" bIns="0" rtlCol="0" anchor="ctr"/>
          <a:lstStyle/>
          <a:p>
            <a:pPr indent="0" marL="0">
              <a:buNone/>
            </a:pPr>
            <a:r>
              <a:rPr lang="en-US" sz="1050" dirty="0">
                <a:solidFill>
                  <a:srgbClr val="5F5C55"/>
                </a:solidFill>
                <a:latin typeface="Calibri" pitchFamily="34" charset="0"/>
                <a:ea typeface="Calibri" pitchFamily="34" charset="-122"/>
                <a:cs typeface="Calibri" pitchFamily="34" charset="-120"/>
              </a:rPr>
              <a:t>automated tests pass, incl. full re-derivation of workbook totals</a:t>
            </a:r>
            <a:endParaRPr lang="en-US" sz="1050" dirty="0"/>
          </a:p>
        </p:txBody>
      </p:sp>
      <p:sp>
        <p:nvSpPr>
          <p:cNvPr id="54" name="Text 46"/>
          <p:cNvSpPr txBox="1"/>
          <p:nvPr/>
        </p:nvSpPr>
        <p:spPr>
          <a:xfrm>
            <a:off x="7635240" y="5440238"/>
            <a:ext cx="1143000" cy="411480"/>
          </a:xfrm>
          <a:prstGeom prst="rect">
            <a:avLst/>
          </a:prstGeom>
          <a:noFill/>
          <a:ln/>
        </p:spPr>
        <p:txBody>
          <a:bodyPr wrap="square" lIns="0" tIns="0" rIns="0" bIns="0" rtlCol="0" anchor="ctr"/>
          <a:lstStyle/>
          <a:p>
            <a:pPr indent="0" marL="0">
              <a:buNone/>
            </a:pPr>
            <a:r>
              <a:rPr lang="en-US" sz="2000" dirty="0">
                <a:solidFill>
                  <a:srgbClr val="B24A2C"/>
                </a:solidFill>
                <a:latin typeface="Cambria" pitchFamily="34" charset="0"/>
                <a:ea typeface="Cambria" pitchFamily="34" charset="-122"/>
                <a:cs typeface="Cambria" pitchFamily="34" charset="-120"/>
              </a:rPr>
              <a:t>~15 ms</a:t>
            </a:r>
            <a:endParaRPr lang="en-US" sz="2000" dirty="0"/>
          </a:p>
        </p:txBody>
      </p:sp>
      <p:sp>
        <p:nvSpPr>
          <p:cNvPr id="55" name="Text 47"/>
          <p:cNvSpPr txBox="1"/>
          <p:nvPr/>
        </p:nvSpPr>
        <p:spPr>
          <a:xfrm>
            <a:off x="8823960" y="5440238"/>
            <a:ext cx="2834640" cy="411480"/>
          </a:xfrm>
          <a:prstGeom prst="rect">
            <a:avLst/>
          </a:prstGeom>
          <a:noFill/>
          <a:ln/>
        </p:spPr>
        <p:txBody>
          <a:bodyPr wrap="square" lIns="0" tIns="0" rIns="0" bIns="0" rtlCol="0" anchor="ctr"/>
          <a:lstStyle/>
          <a:p>
            <a:pPr indent="0" marL="0">
              <a:buNone/>
            </a:pPr>
            <a:r>
              <a:rPr lang="en-US" sz="1050" dirty="0">
                <a:solidFill>
                  <a:srgbClr val="5F5C55"/>
                </a:solidFill>
                <a:latin typeface="Calibri" pitchFamily="34" charset="0"/>
                <a:ea typeface="Calibri" pitchFamily="34" charset="-122"/>
                <a:cs typeface="Calibri" pitchFamily="34" charset="-120"/>
              </a:rPr>
              <a:t>exact optimiser run per ambition level</a:t>
            </a:r>
            <a:endParaRPr lang="en-US" sz="1050" dirty="0"/>
          </a:p>
        </p:txBody>
      </p:sp>
      <p:sp>
        <p:nvSpPr>
          <p:cNvPr id="56" name="Text 48"/>
          <p:cNvSpPr txBox="1"/>
          <p:nvPr/>
        </p:nvSpPr>
        <p:spPr>
          <a:xfrm>
            <a:off x="7635240" y="5897438"/>
            <a:ext cx="1143000" cy="411480"/>
          </a:xfrm>
          <a:prstGeom prst="rect">
            <a:avLst/>
          </a:prstGeom>
          <a:noFill/>
          <a:ln/>
        </p:spPr>
        <p:txBody>
          <a:bodyPr wrap="square" lIns="0" tIns="0" rIns="0" bIns="0" rtlCol="0" anchor="ctr"/>
          <a:lstStyle/>
          <a:p>
            <a:pPr indent="0" marL="0">
              <a:buNone/>
            </a:pPr>
            <a:r>
              <a:rPr lang="en-US" sz="2000" dirty="0">
                <a:solidFill>
                  <a:srgbClr val="B24A2C"/>
                </a:solidFill>
                <a:latin typeface="Cambria" pitchFamily="34" charset="0"/>
                <a:ea typeface="Cambria" pitchFamily="34" charset="-122"/>
                <a:cs typeface="Cambria" pitchFamily="34" charset="-120"/>
              </a:rPr>
              <a:t>₹0</a:t>
            </a:r>
            <a:endParaRPr lang="en-US" sz="2000" dirty="0"/>
          </a:p>
        </p:txBody>
      </p:sp>
      <p:sp>
        <p:nvSpPr>
          <p:cNvPr id="57" name="Text 49"/>
          <p:cNvSpPr txBox="1"/>
          <p:nvPr/>
        </p:nvSpPr>
        <p:spPr>
          <a:xfrm>
            <a:off x="8823960" y="5897438"/>
            <a:ext cx="2834640" cy="411480"/>
          </a:xfrm>
          <a:prstGeom prst="rect">
            <a:avLst/>
          </a:prstGeom>
          <a:noFill/>
          <a:ln/>
        </p:spPr>
        <p:txBody>
          <a:bodyPr wrap="square" lIns="0" tIns="0" rIns="0" bIns="0" rtlCol="0" anchor="ctr"/>
          <a:lstStyle/>
          <a:p>
            <a:pPr indent="0" marL="0">
              <a:buNone/>
            </a:pPr>
            <a:r>
              <a:rPr lang="en-US" sz="1050" dirty="0">
                <a:solidFill>
                  <a:srgbClr val="5F5C55"/>
                </a:solidFill>
                <a:latin typeface="Calibri" pitchFamily="34" charset="0"/>
                <a:ea typeface="Calibri" pitchFamily="34" charset="-122"/>
                <a:cs typeface="Calibri" pitchFamily="34" charset="-120"/>
              </a:rPr>
              <a:t>licences: Python, Streamlit, Plotly, one VM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1C1B"/>
        </a:solidFill>
      </p:bgPr>
    </p:bg>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24A2C"/>
          </a:solidFill>
          <a:ln w="12700">
            <a:solidFill>
              <a:srgbClr val="B24A2C"/>
            </a:solidFill>
            <a:prstDash val="solid"/>
          </a:ln>
        </p:spPr>
      </p:sp>
      <p:sp>
        <p:nvSpPr>
          <p:cNvPr id="3" name="Text 1"/>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 name="Text 2"/>
          <p:cNvSpPr txBox="1"/>
          <p:nvPr/>
        </p:nvSpPr>
        <p:spPr>
          <a:xfrm>
            <a:off x="1051560" y="329184"/>
            <a:ext cx="10058400" cy="256032"/>
          </a:xfrm>
          <a:prstGeom prst="rect">
            <a:avLst/>
          </a:prstGeom>
          <a:noFill/>
          <a:ln/>
        </p:spPr>
        <p:txBody>
          <a:bodyPr wrap="square" lIns="0" tIns="0" rIns="0" bIns="0" rtlCol="0" anchor="ctr"/>
          <a:lstStyle/>
          <a:p>
            <a:pPr indent="0" marL="0">
              <a:buNone/>
            </a:pPr>
            <a:r>
              <a:rPr lang="en-US" sz="1100" b="1" spc="100" kern="0" dirty="0">
                <a:solidFill>
                  <a:srgbClr val="E08A63"/>
                </a:solidFill>
                <a:latin typeface="Calibri" pitchFamily="34" charset="0"/>
                <a:ea typeface="Calibri" pitchFamily="34" charset="-122"/>
                <a:cs typeface="Calibri" pitchFamily="34" charset="-120"/>
              </a:rPr>
              <a:t>IMPACT  ·  WHAT IT IS WORTH</a:t>
            </a:r>
            <a:endParaRPr lang="en-US" sz="1100" dirty="0"/>
          </a:p>
        </p:txBody>
      </p:sp>
      <p:sp>
        <p:nvSpPr>
          <p:cNvPr id="5" name="Text 3"/>
          <p:cNvSpPr txBox="1"/>
          <p:nvPr/>
        </p:nvSpPr>
        <p:spPr>
          <a:xfrm>
            <a:off x="1051560" y="585216"/>
            <a:ext cx="10698480" cy="566928"/>
          </a:xfrm>
          <a:prstGeom prst="rect">
            <a:avLst/>
          </a:prstGeom>
          <a:noFill/>
          <a:ln/>
        </p:spPr>
        <p:txBody>
          <a:bodyPr wrap="square" lIns="0" tIns="0" rIns="0" bIns="0" rtlCol="0" anchor="t"/>
          <a:lstStyle/>
          <a:p>
            <a:pPr indent="0" marL="0">
              <a:buNone/>
            </a:pPr>
            <a:r>
              <a:rPr lang="en-US" sz="3000" dirty="0">
                <a:solidFill>
                  <a:srgbClr val="EDEAE3"/>
                </a:solidFill>
                <a:latin typeface="Cambria" pitchFamily="34" charset="0"/>
                <a:ea typeface="Cambria" pitchFamily="34" charset="-122"/>
                <a:cs typeface="Cambria" pitchFamily="34" charset="-120"/>
              </a:rPr>
              <a:t>639 kt CO₂e saved per Mt, using only what's buildable</a:t>
            </a:r>
            <a:endParaRPr lang="en-US" sz="3000" dirty="0"/>
          </a:p>
        </p:txBody>
      </p:sp>
      <p:graphicFrame>
        <p:nvGraphicFramePr>
          <p:cNvPr id="6" name="Chart 0" descr=""/>
          <p:cNvGraphicFramePr/>
          <p:nvPr/>
        </p:nvGraphicFramePr>
        <p:xfrm>
          <a:off x="457200" y="1371600"/>
          <a:ext cx="493776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394960"/>
            <a:ext cx="4846320" cy="274320"/>
          </a:xfrm>
          <a:prstGeom prst="rect">
            <a:avLst/>
          </a:prstGeom>
          <a:noFill/>
          <a:ln/>
        </p:spPr>
        <p:txBody>
          <a:bodyPr wrap="square" lIns="0" tIns="0" rIns="0" bIns="0" rtlCol="0" anchor="ctr"/>
          <a:lstStyle/>
          <a:p>
            <a:pPr indent="0" marL="0">
              <a:buNone/>
            </a:pPr>
            <a:r>
              <a:rPr lang="en-US" sz="1050" i="1" dirty="0">
                <a:solidFill>
                  <a:srgbClr val="A8A49B"/>
                </a:solidFill>
                <a:latin typeface="Calibri" pitchFamily="34" charset="0"/>
                <a:ea typeface="Calibri" pitchFamily="34" charset="-122"/>
                <a:cs typeface="Calibri" pitchFamily="34" charset="-120"/>
              </a:rPr>
              <a:t>Totals: 2.887 → 2.248 (−22%) → 1.514 (−48%) → 0.899 (−69%).</a:t>
            </a:r>
            <a:endParaRPr lang="en-US" sz="1050" dirty="0"/>
          </a:p>
        </p:txBody>
      </p:sp>
      <p:sp>
        <p:nvSpPr>
          <p:cNvPr id="8" name="Text 5"/>
          <p:cNvSpPr txBox="1"/>
          <p:nvPr/>
        </p:nvSpPr>
        <p:spPr>
          <a:xfrm>
            <a:off x="5760720" y="1371600"/>
            <a:ext cx="1737360" cy="685800"/>
          </a:xfrm>
          <a:prstGeom prst="rect">
            <a:avLst/>
          </a:prstGeom>
          <a:noFill/>
          <a:ln/>
        </p:spPr>
        <p:txBody>
          <a:bodyPr wrap="square" lIns="0" tIns="0" rIns="0" bIns="0" rtlCol="0" anchor="ctr"/>
          <a:lstStyle/>
          <a:p>
            <a:pPr indent="0" marL="0">
              <a:buNone/>
            </a:pPr>
            <a:r>
              <a:rPr lang="en-US" sz="2800" dirty="0">
                <a:solidFill>
                  <a:srgbClr val="E08A63"/>
                </a:solidFill>
                <a:latin typeface="Cambria" pitchFamily="34" charset="0"/>
                <a:ea typeface="Cambria" pitchFamily="34" charset="-122"/>
                <a:cs typeface="Cambria" pitchFamily="34" charset="-120"/>
              </a:rPr>
              <a:t>639 kt</a:t>
            </a:r>
            <a:endParaRPr lang="en-US" sz="2800" dirty="0"/>
          </a:p>
        </p:txBody>
      </p:sp>
      <p:sp>
        <p:nvSpPr>
          <p:cNvPr id="9" name="Text 6"/>
          <p:cNvSpPr txBox="1"/>
          <p:nvPr/>
        </p:nvSpPr>
        <p:spPr>
          <a:xfrm>
            <a:off x="7680960" y="1389888"/>
            <a:ext cx="3977640" cy="777240"/>
          </a:xfrm>
          <a:prstGeom prst="rect">
            <a:avLst/>
          </a:prstGeom>
          <a:noFill/>
          <a:ln/>
        </p:spPr>
        <p:txBody>
          <a:bodyPr wrap="square" lIns="0" tIns="0" rIns="0" bIns="0" rtlCol="0" anchor="ctr"/>
          <a:lstStyle/>
          <a:p>
            <a:pPr indent="0" marL="0">
              <a:buNone/>
            </a:pPr>
            <a:r>
              <a:rPr lang="en-US" sz="1100" dirty="0">
                <a:solidFill>
                  <a:srgbClr val="EDEAE3"/>
                </a:solidFill>
                <a:latin typeface="Calibri" pitchFamily="34" charset="0"/>
                <a:ea typeface="Calibri" pitchFamily="34" charset="-122"/>
                <a:cs typeface="Calibri" pitchFamily="34" charset="-120"/>
              </a:rPr>
              <a:t>CO₂e/yr avoided per million tonnes of steel on the buildable path (0.639 t/t)</a:t>
            </a:r>
            <a:endParaRPr lang="en-US" sz="1100" dirty="0"/>
          </a:p>
        </p:txBody>
      </p:sp>
      <p:sp>
        <p:nvSpPr>
          <p:cNvPr id="10" name="Text 7"/>
          <p:cNvSpPr txBox="1"/>
          <p:nvPr/>
        </p:nvSpPr>
        <p:spPr>
          <a:xfrm>
            <a:off x="5760720" y="2395728"/>
            <a:ext cx="1737360" cy="685800"/>
          </a:xfrm>
          <a:prstGeom prst="rect">
            <a:avLst/>
          </a:prstGeom>
          <a:noFill/>
          <a:ln/>
        </p:spPr>
        <p:txBody>
          <a:bodyPr wrap="square" lIns="0" tIns="0" rIns="0" bIns="0" rtlCol="0" anchor="ctr"/>
          <a:lstStyle/>
          <a:p>
            <a:pPr indent="0" marL="0">
              <a:buNone/>
            </a:pPr>
            <a:r>
              <a:rPr lang="en-US" sz="2800" dirty="0">
                <a:solidFill>
                  <a:srgbClr val="C9971F"/>
                </a:solidFill>
                <a:latin typeface="Cambria" pitchFamily="34" charset="0"/>
                <a:ea typeface="Cambria" pitchFamily="34" charset="-122"/>
                <a:cs typeface="Cambria" pitchFamily="34" charset="-120"/>
              </a:rPr>
              <a:t>−36%</a:t>
            </a:r>
            <a:endParaRPr lang="en-US" sz="2800" dirty="0"/>
          </a:p>
        </p:txBody>
      </p:sp>
      <p:sp>
        <p:nvSpPr>
          <p:cNvPr id="11" name="Text 8"/>
          <p:cNvSpPr txBox="1"/>
          <p:nvPr/>
        </p:nvSpPr>
        <p:spPr>
          <a:xfrm>
            <a:off x="7680960" y="2414016"/>
            <a:ext cx="3977640" cy="777240"/>
          </a:xfrm>
          <a:prstGeom prst="rect">
            <a:avLst/>
          </a:prstGeom>
          <a:noFill/>
          <a:ln/>
        </p:spPr>
        <p:txBody>
          <a:bodyPr wrap="square" lIns="0" tIns="0" rIns="0" bIns="0" rtlCol="0" anchor="ctr"/>
          <a:lstStyle/>
          <a:p>
            <a:pPr indent="0" marL="0">
              <a:buNone/>
            </a:pPr>
            <a:r>
              <a:rPr lang="en-US" sz="1100" dirty="0">
                <a:solidFill>
                  <a:srgbClr val="EDEAE3"/>
                </a:solidFill>
                <a:latin typeface="Calibri" pitchFamily="34" charset="0"/>
                <a:ea typeface="Calibri" pitchFamily="34" charset="-122"/>
                <a:cs typeface="Calibri" pitchFamily="34" charset="-120"/>
              </a:rPr>
              <a:t>Scope 2 (0.832 → 0.529 t/t) from power procurement alone</a:t>
            </a:r>
            <a:endParaRPr lang="en-US" sz="1100" dirty="0"/>
          </a:p>
        </p:txBody>
      </p:sp>
      <p:sp>
        <p:nvSpPr>
          <p:cNvPr id="12" name="Text 9"/>
          <p:cNvSpPr txBox="1"/>
          <p:nvPr/>
        </p:nvSpPr>
        <p:spPr>
          <a:xfrm>
            <a:off x="5760720" y="3419856"/>
            <a:ext cx="1737360" cy="685800"/>
          </a:xfrm>
          <a:prstGeom prst="rect">
            <a:avLst/>
          </a:prstGeom>
          <a:noFill/>
          <a:ln/>
        </p:spPr>
        <p:txBody>
          <a:bodyPr wrap="square" lIns="0" tIns="0" rIns="0" bIns="0" rtlCol="0" anchor="ctr"/>
          <a:lstStyle/>
          <a:p>
            <a:pPr indent="0" marL="0">
              <a:buNone/>
            </a:pPr>
            <a:r>
              <a:rPr lang="en-US" sz="2800" dirty="0">
                <a:solidFill>
                  <a:srgbClr val="5AA2D0"/>
                </a:solidFill>
                <a:latin typeface="Cambria" pitchFamily="34" charset="0"/>
                <a:ea typeface="Cambria" pitchFamily="34" charset="-122"/>
                <a:cs typeface="Cambria" pitchFamily="34" charset="-120"/>
              </a:rPr>
              <a:t>1.37 Mt</a:t>
            </a:r>
            <a:endParaRPr lang="en-US" sz="2800" dirty="0"/>
          </a:p>
        </p:txBody>
      </p:sp>
      <p:sp>
        <p:nvSpPr>
          <p:cNvPr id="13" name="Text 10"/>
          <p:cNvSpPr txBox="1"/>
          <p:nvPr/>
        </p:nvSpPr>
        <p:spPr>
          <a:xfrm>
            <a:off x="7680960" y="3438144"/>
            <a:ext cx="3977640" cy="777240"/>
          </a:xfrm>
          <a:prstGeom prst="rect">
            <a:avLst/>
          </a:prstGeom>
          <a:noFill/>
          <a:ln/>
        </p:spPr>
        <p:txBody>
          <a:bodyPr wrap="square" lIns="0" tIns="0" rIns="0" bIns="0" rtlCol="0" anchor="ctr"/>
          <a:lstStyle/>
          <a:p>
            <a:pPr indent="0" marL="0">
              <a:buNone/>
            </a:pPr>
            <a:r>
              <a:rPr lang="en-US" sz="1100" dirty="0">
                <a:solidFill>
                  <a:srgbClr val="EDEAE3"/>
                </a:solidFill>
                <a:latin typeface="Calibri" pitchFamily="34" charset="0"/>
                <a:ea typeface="Calibri" pitchFamily="34" charset="-122"/>
                <a:cs typeface="Calibri" pitchFamily="34" charset="-120"/>
              </a:rPr>
              <a:t>CO₂e/yr per Mt on the stretch path, nearly half the footprint: a concrete Net Zero 2050 waypoint</a:t>
            </a:r>
            <a:endParaRPr lang="en-US" sz="1100" dirty="0"/>
          </a:p>
        </p:txBody>
      </p:sp>
      <p:sp>
        <p:nvSpPr>
          <p:cNvPr id="14" name="Shape 11"/>
          <p:cNvSpPr/>
          <p:nvPr/>
        </p:nvSpPr>
        <p:spPr>
          <a:xfrm>
            <a:off x="5760720" y="4526280"/>
            <a:ext cx="1874520" cy="1280160"/>
          </a:xfrm>
          <a:prstGeom prst="rect">
            <a:avLst/>
          </a:prstGeom>
          <a:solidFill>
            <a:srgbClr val="2A2927"/>
          </a:solidFill>
          <a:ln w="12700">
            <a:solidFill>
              <a:srgbClr val="3A3835"/>
            </a:solidFill>
            <a:prstDash val="solid"/>
          </a:ln>
        </p:spPr>
      </p:sp>
      <p:sp>
        <p:nvSpPr>
          <p:cNvPr id="15" name="Text 12"/>
          <p:cNvSpPr txBox="1"/>
          <p:nvPr/>
        </p:nvSpPr>
        <p:spPr>
          <a:xfrm>
            <a:off x="5888736" y="4599432"/>
            <a:ext cx="1645920" cy="274320"/>
          </a:xfrm>
          <a:prstGeom prst="rect">
            <a:avLst/>
          </a:prstGeom>
          <a:noFill/>
          <a:ln/>
        </p:spPr>
        <p:txBody>
          <a:bodyPr wrap="square" lIns="0" tIns="0" rIns="0" bIns="0" rtlCol="0" anchor="ctr"/>
          <a:lstStyle/>
          <a:p>
            <a:pPr indent="0" marL="0">
              <a:buNone/>
            </a:pPr>
            <a:r>
              <a:rPr lang="en-US" sz="1150" b="1" dirty="0">
                <a:solidFill>
                  <a:srgbClr val="E08A63"/>
                </a:solidFill>
                <a:latin typeface="Calibri" pitchFamily="34" charset="0"/>
                <a:ea typeface="Calibri" pitchFamily="34" charset="-122"/>
                <a:cs typeface="Calibri" pitchFamily="34" charset="-120"/>
              </a:rPr>
              <a:t>Operational</a:t>
            </a:r>
            <a:endParaRPr lang="en-US" sz="1150" dirty="0"/>
          </a:p>
        </p:txBody>
      </p:sp>
      <p:sp>
        <p:nvSpPr>
          <p:cNvPr id="16" name="Text 13"/>
          <p:cNvSpPr txBox="1"/>
          <p:nvPr/>
        </p:nvSpPr>
        <p:spPr>
          <a:xfrm>
            <a:off x="5888736" y="4892040"/>
            <a:ext cx="1645920" cy="868680"/>
          </a:xfrm>
          <a:prstGeom prst="rect">
            <a:avLst/>
          </a:prstGeom>
          <a:noFill/>
          <a:ln/>
        </p:spPr>
        <p:txBody>
          <a:bodyPr wrap="square" lIns="0" tIns="0" rIns="0" bIns="0" rtlCol="0" anchor="t"/>
          <a:lstStyle/>
          <a:p>
            <a:pPr indent="0" marL="0">
              <a:buNone/>
            </a:pPr>
            <a:r>
              <a:rPr lang="en-US" sz="1000" dirty="0">
                <a:solidFill>
                  <a:srgbClr val="A8A49B"/>
                </a:solidFill>
                <a:latin typeface="Calibri" pitchFamily="34" charset="0"/>
                <a:ea typeface="Calibri" pitchFamily="34" charset="-122"/>
                <a:cs typeface="Calibri" pitchFamily="34" charset="-120"/>
              </a:rPr>
              <a:t>Any plan priced in seconds, per scope and department</a:t>
            </a:r>
            <a:endParaRPr lang="en-US" sz="1000" dirty="0"/>
          </a:p>
        </p:txBody>
      </p:sp>
      <p:sp>
        <p:nvSpPr>
          <p:cNvPr id="17" name="Shape 14"/>
          <p:cNvSpPr/>
          <p:nvPr/>
        </p:nvSpPr>
        <p:spPr>
          <a:xfrm>
            <a:off x="7772400" y="4526280"/>
            <a:ext cx="1874520" cy="1280160"/>
          </a:xfrm>
          <a:prstGeom prst="rect">
            <a:avLst/>
          </a:prstGeom>
          <a:solidFill>
            <a:srgbClr val="2A2927"/>
          </a:solidFill>
          <a:ln w="12700">
            <a:solidFill>
              <a:srgbClr val="3A3835"/>
            </a:solidFill>
            <a:prstDash val="solid"/>
          </a:ln>
        </p:spPr>
      </p:sp>
      <p:sp>
        <p:nvSpPr>
          <p:cNvPr id="18" name="Text 15"/>
          <p:cNvSpPr txBox="1"/>
          <p:nvPr/>
        </p:nvSpPr>
        <p:spPr>
          <a:xfrm>
            <a:off x="7900416" y="4599432"/>
            <a:ext cx="1645920" cy="274320"/>
          </a:xfrm>
          <a:prstGeom prst="rect">
            <a:avLst/>
          </a:prstGeom>
          <a:noFill/>
          <a:ln/>
        </p:spPr>
        <p:txBody>
          <a:bodyPr wrap="square" lIns="0" tIns="0" rIns="0" bIns="0" rtlCol="0" anchor="ctr"/>
          <a:lstStyle/>
          <a:p>
            <a:pPr indent="0" marL="0">
              <a:buNone/>
            </a:pPr>
            <a:r>
              <a:rPr lang="en-US" sz="1150" b="1" dirty="0">
                <a:solidFill>
                  <a:srgbClr val="E08A63"/>
                </a:solidFill>
                <a:latin typeface="Calibri" pitchFamily="34" charset="0"/>
                <a:ea typeface="Calibri" pitchFamily="34" charset="-122"/>
                <a:cs typeface="Calibri" pitchFamily="34" charset="-120"/>
              </a:rPr>
              <a:t>Commercial</a:t>
            </a:r>
            <a:endParaRPr lang="en-US" sz="1150" dirty="0"/>
          </a:p>
        </p:txBody>
      </p:sp>
      <p:sp>
        <p:nvSpPr>
          <p:cNvPr id="19" name="Text 16"/>
          <p:cNvSpPr txBox="1"/>
          <p:nvPr/>
        </p:nvSpPr>
        <p:spPr>
          <a:xfrm>
            <a:off x="7900416" y="4892040"/>
            <a:ext cx="1645920" cy="868680"/>
          </a:xfrm>
          <a:prstGeom prst="rect">
            <a:avLst/>
          </a:prstGeom>
          <a:noFill/>
          <a:ln/>
        </p:spPr>
        <p:txBody>
          <a:bodyPr wrap="square" lIns="0" tIns="0" rIns="0" bIns="0" rtlCol="0" anchor="t"/>
          <a:lstStyle/>
          <a:p>
            <a:pPr indent="0" marL="0">
              <a:buNone/>
            </a:pPr>
            <a:r>
              <a:rPr lang="en-US" sz="1000" dirty="0">
                <a:solidFill>
                  <a:srgbClr val="A8A49B"/>
                </a:solidFill>
                <a:latin typeface="Calibri" pitchFamily="34" charset="0"/>
                <a:ea typeface="Calibri" pitchFamily="34" charset="-122"/>
                <a:cs typeface="Calibri" pitchFamily="34" charset="-120"/>
              </a:rPr>
              <a:t>At an illustrative €80/tCO₂, each 0.1 t/t cut ≈ €8 per tonne of exposure</a:t>
            </a:r>
            <a:endParaRPr lang="en-US" sz="1000" dirty="0"/>
          </a:p>
        </p:txBody>
      </p:sp>
      <p:sp>
        <p:nvSpPr>
          <p:cNvPr id="20" name="Shape 17"/>
          <p:cNvSpPr/>
          <p:nvPr/>
        </p:nvSpPr>
        <p:spPr>
          <a:xfrm>
            <a:off x="9784080" y="4526280"/>
            <a:ext cx="1874520" cy="1280160"/>
          </a:xfrm>
          <a:prstGeom prst="rect">
            <a:avLst/>
          </a:prstGeom>
          <a:solidFill>
            <a:srgbClr val="2A2927"/>
          </a:solidFill>
          <a:ln w="12700">
            <a:solidFill>
              <a:srgbClr val="3A3835"/>
            </a:solidFill>
            <a:prstDash val="solid"/>
          </a:ln>
        </p:spPr>
      </p:sp>
      <p:sp>
        <p:nvSpPr>
          <p:cNvPr id="21" name="Text 18"/>
          <p:cNvSpPr txBox="1"/>
          <p:nvPr/>
        </p:nvSpPr>
        <p:spPr>
          <a:xfrm>
            <a:off x="9912096" y="4599432"/>
            <a:ext cx="1645920" cy="274320"/>
          </a:xfrm>
          <a:prstGeom prst="rect">
            <a:avLst/>
          </a:prstGeom>
          <a:noFill/>
          <a:ln/>
        </p:spPr>
        <p:txBody>
          <a:bodyPr wrap="square" lIns="0" tIns="0" rIns="0" bIns="0" rtlCol="0" anchor="ctr"/>
          <a:lstStyle/>
          <a:p>
            <a:pPr indent="0" marL="0">
              <a:buNone/>
            </a:pPr>
            <a:r>
              <a:rPr lang="en-US" sz="1150" b="1" dirty="0">
                <a:solidFill>
                  <a:srgbClr val="E08A63"/>
                </a:solidFill>
                <a:latin typeface="Calibri" pitchFamily="34" charset="0"/>
                <a:ea typeface="Calibri" pitchFamily="34" charset="-122"/>
                <a:cs typeface="Calibri" pitchFamily="34" charset="-120"/>
              </a:rPr>
              <a:t>Sustainability</a:t>
            </a:r>
            <a:endParaRPr lang="en-US" sz="1150" dirty="0"/>
          </a:p>
        </p:txBody>
      </p:sp>
      <p:sp>
        <p:nvSpPr>
          <p:cNvPr id="22" name="Text 19"/>
          <p:cNvSpPr txBox="1"/>
          <p:nvPr/>
        </p:nvSpPr>
        <p:spPr>
          <a:xfrm>
            <a:off x="9912096" y="4892040"/>
            <a:ext cx="1645920" cy="868680"/>
          </a:xfrm>
          <a:prstGeom prst="rect">
            <a:avLst/>
          </a:prstGeom>
          <a:noFill/>
          <a:ln/>
        </p:spPr>
        <p:txBody>
          <a:bodyPr wrap="square" lIns="0" tIns="0" rIns="0" bIns="0" rtlCol="0" anchor="t"/>
          <a:lstStyle/>
          <a:p>
            <a:pPr indent="0" marL="0">
              <a:buNone/>
            </a:pPr>
            <a:r>
              <a:rPr lang="en-US" sz="1000" dirty="0">
                <a:solidFill>
                  <a:srgbClr val="A8A49B"/>
                </a:solidFill>
                <a:latin typeface="Calibri" pitchFamily="34" charset="0"/>
                <a:ea typeface="Calibri" pitchFamily="34" charset="-122"/>
                <a:cs typeface="Calibri" pitchFamily="34" charset="-120"/>
              </a:rPr>
              <a:t>An auditable intensity trail for BRSR Core, CBAM and customer EPDs</a:t>
            </a:r>
            <a:endParaRPr lang="en-US" sz="1000" dirty="0"/>
          </a:p>
        </p:txBody>
      </p:sp>
      <p:sp>
        <p:nvSpPr>
          <p:cNvPr id="23" name="Text 20"/>
          <p:cNvSpPr txBox="1"/>
          <p:nvPr/>
        </p:nvSpPr>
        <p:spPr>
          <a:xfrm>
            <a:off x="548640" y="6172200"/>
            <a:ext cx="11064240" cy="274320"/>
          </a:xfrm>
          <a:prstGeom prst="rect">
            <a:avLst/>
          </a:prstGeom>
          <a:noFill/>
          <a:ln/>
        </p:spPr>
        <p:txBody>
          <a:bodyPr wrap="square" lIns="0" tIns="0" rIns="0" bIns="0" rtlCol="0" anchor="ctr"/>
          <a:lstStyle/>
          <a:p>
            <a:pPr indent="0" marL="0">
              <a:buNone/>
            </a:pPr>
            <a:r>
              <a:rPr lang="en-US" sz="1000" i="1" dirty="0">
                <a:solidFill>
                  <a:srgbClr val="A8A49B"/>
                </a:solidFill>
                <a:latin typeface="Calibri" pitchFamily="34" charset="0"/>
                <a:ea typeface="Calibri" pitchFamily="34" charset="-122"/>
                <a:cs typeface="Calibri" pitchFamily="34" charset="-120"/>
              </a:rPr>
              <a:t>Built on the supplied workbook · open-source stack · every figure on this slide can be reproduced live in the tool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CarbonSpark</dc:title>
  <dc:subject>PptxGenJS Presentation</dc:subject>
  <dc:creator>PptxGenJS</dc:creator>
  <cp:lastModifiedBy>PptxGenJS</cp:lastModifiedBy>
  <cp:revision>1</cp:revision>
  <dcterms:created xsi:type="dcterms:W3CDTF">2026-09-27T14:27:44Z</dcterms:created>
  <dcterms:modified xsi:type="dcterms:W3CDTF">2026-09-27T14:27:44Z</dcterms:modified>
</cp:coreProperties>
</file>