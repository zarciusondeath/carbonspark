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DEAE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DEAE3"/>
                </a:solidFill>
                <a:latin typeface="Calibri"/>
              </a:rPr>
              <a:t>More scrap, less carbon (tCO₂e per tonne)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t/t</c:v>
                </c:pt>
              </c:strCache>
            </c:strRef>
          </c:tx>
          <c:spPr>
            <a:solidFill>
              <a:srgbClr val="E08A63"/>
            </a:solidFill>
            <a:ln w="38100" cap="flat">
              <a:solidFill>
                <a:srgbClr val="E08A63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8A63"/>
              </a:solidFill>
              <a:ln w="9525" cap="flat">
                <a:solidFill>
                  <a:srgbClr val="E08A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40%</c:v>
                  </c:pt>
                  <c:pt idx="1">
                    <c:v>50%</c:v>
                  </c:pt>
                  <c:pt idx="2">
                    <c:v>60%</c:v>
                  </c:pt>
                  <c:pt idx="3">
                    <c:v>70%</c:v>
                  </c:pt>
                  <c:pt idx="4">
                    <c:v>80%</c:v>
                  </c:pt>
                  <c:pt idx="5">
                    <c:v>90%</c:v>
                  </c:pt>
                  <c:pt idx="6">
                    <c:v>100%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3.862</c:v>
                </c:pt>
                <c:pt idx="1">
                  <c:v>3.513</c:v>
                </c:pt>
                <c:pt idx="2">
                  <c:v>3.165</c:v>
                </c:pt>
                <c:pt idx="3">
                  <c:v>2.817</c:v>
                </c:pt>
                <c:pt idx="4">
                  <c:v>2.469</c:v>
                </c:pt>
                <c:pt idx="5">
                  <c:v>2.121</c:v>
                </c:pt>
                <c:pt idx="6">
                  <c:v>1.772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DEAE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4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1.5"/>
        </c:scaling>
        <c:delete val="0"/>
        <c:axPos val="l"/>
        <c:majorGridlines>
          <c:spPr>
            <a:ln w="6350" cap="flat">
              <a:solidFill>
                <a:srgbClr val="3A38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A4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DEAE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DEAE3"/>
                </a:solidFill>
                <a:latin typeface="Calibri"/>
              </a:rPr>
              <a:t>What each lever saves on its own (t/t)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</c:v>
                </c:pt>
              </c:strCache>
            </c:strRef>
          </c:tx>
          <c:spPr>
            <a:solidFill>
              <a:srgbClr val="C9971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Cleaner grid</c:v>
                  </c:pt>
                  <c:pt idx="1">
                    <c:v>More scrap</c:v>
                  </c:pt>
                  <c:pt idx="2">
                    <c:v>Process technology</c:v>
                  </c:pt>
                  <c:pt idx="3">
                    <c:v>Rail over road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0.352</c:v>
                </c:pt>
                <c:pt idx="1">
                  <c:v>0.244</c:v>
                </c:pt>
                <c:pt idx="2">
                  <c:v>0.04</c:v>
                </c:pt>
                <c:pt idx="3">
                  <c:v>0.008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DEA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Scope 1</c:v>
                </c:pt>
              </c:strCache>
            </c:strRef>
          </c:tx>
          <c:spPr>
            <a:solidFill>
              <a:srgbClr val="C1633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release</c:v>
                  </c:pt>
                  <c:pt idx="1">
                    <c:v>Current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</c:v>
                </c:pt>
                <c:pt idx="1">
                  <c:v>0.443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Scope 2</c:v>
                </c:pt>
              </c:strCache>
            </c:strRef>
          </c:tx>
          <c:spPr>
            <a:solidFill>
              <a:srgbClr val="C997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release</c:v>
                  </c:pt>
                  <c:pt idx="1">
                    <c:v>Current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2.503</c:v>
                </c:pt>
                <c:pt idx="1">
                  <c:v>0.832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Scope 3</c:v>
                </c:pt>
              </c:strCache>
            </c:strRef>
          </c:tx>
          <c:spPr>
            <a:solidFill>
              <a:srgbClr val="1F6E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release</c:v>
                  </c:pt>
                  <c:pt idx="1">
                    <c:v>Current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1.404</c:v>
                </c:pt>
                <c:pt idx="1">
                  <c:v>1.612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C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5C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1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F1E"/>
                </a:solidFill>
                <a:latin typeface="Calibri"/>
              </a:rPr>
              <a:t>tCO₂e per tonne, reference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Scope 1</c:v>
                </c:pt>
              </c:strCache>
            </c:strRef>
          </c:tx>
          <c:spPr>
            <a:solidFill>
              <a:srgbClr val="C163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Buildable</c:v>
                  </c:pt>
                  <c:pt idx="2">
                    <c:v>Stretch</c:v>
                  </c:pt>
                  <c:pt idx="3">
                    <c:v>Floor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0.443</c:v>
                </c:pt>
                <c:pt idx="1">
                  <c:v>0.338</c:v>
                </c:pt>
                <c:pt idx="2">
                  <c:v>0.313</c:v>
                </c:pt>
                <c:pt idx="3">
                  <c:v>0.309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Scope 2</c:v>
                </c:pt>
              </c:strCache>
            </c:strRef>
          </c:tx>
          <c:spPr>
            <a:solidFill>
              <a:srgbClr val="C997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Buildable</c:v>
                  </c:pt>
                  <c:pt idx="2">
                    <c:v>Stretch</c:v>
                  </c:pt>
                  <c:pt idx="3">
                    <c:v>Floor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0.832</c:v>
                </c:pt>
                <c:pt idx="1">
                  <c:v>0.529</c:v>
                </c:pt>
                <c:pt idx="2">
                  <c:v>0.135</c:v>
                </c:pt>
                <c:pt idx="3">
                  <c:v>0.013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Scope 3</c:v>
                </c:pt>
              </c:strCache>
            </c:strRef>
          </c:tx>
          <c:spPr>
            <a:solidFill>
              <a:srgbClr val="1F6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Buildable</c:v>
                  </c:pt>
                  <c:pt idx="2">
                    <c:v>Stretch</c:v>
                  </c:pt>
                  <c:pt idx="3">
                    <c:v>Floor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1.612</c:v>
                </c:pt>
                <c:pt idx="1">
                  <c:v>1.38</c:v>
                </c:pt>
                <c:pt idx="2">
                  <c:v>1.065</c:v>
                </c:pt>
                <c:pt idx="3">
                  <c:v>0.578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C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C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5C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from the brief (Problem Statement 3). Stainless steelmaking is energy- and emissions-intensive, and carbon per tonne depends heavily on the input mix and the energy source. With Net Zero by 2050 as the commitment, what's missing is a simple tool that makes the emissions effect of each choice visible and helps find lower-carbon combinations that stay practical. The five boxes are the brief's own key considerations, which is what we built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model tells us. Left: holding the grid and route fixed, scrap from 40% to 100% takes the tonne from 3.86 to 1.77, a straight line at about 35 kg per percentage point, because the upstream carbon of virgin ferrochrome, nickel and iron units disappears with scrap. Right: each lever moved on its own to what a plant could buy or build within a year. The grid is worth 0.352 t/t and scrap 0.244; technology and rail together are under 0.05. That ranking is what the tool should put in front of a planner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CarbonSpark as a flow the eye can follow. One: set the inputs, here the grid energy mix, seven sources each with its emission factor. Two: read the tonne; the readout splits it into Scope 1, 2 and 3 and specific energy, and moves as a slider is dragged. Three: see where it sits, by department. Everything is computed from a 67-step accounting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tools, all running on the same model. The input calculator covers the brief's two levers and goes further: haulage and every process step. Compare puts two plans side by side. The optimiser finds the lowest-carbon plan within an ambition level (buildable today, stretch, theoretical floor) and shows exactly where the saving comes from. The database is open: every formula, factor and source can be read and downloaded, so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behind steelmaking move: national grid emission factors fall every year, new routes such as hydrogen-based reduction and green power contracts arrive, and plants can supply metered data. CarbonSpark keeps up because the accounting workbook is the single source of truth. Change one row with a note on why, regenerate with one command, and 47 automated checks re-derive every total before it goes live in every tool at once. We've already done this once: our first release overstated the tonne because electricity per tonne was far above real furnaces. We re-checked all 67 rows against benchmarks and the reference plant went from 4.60 to 2.89 tCO2e per tonne and from 3,283 to 1,091 kWh.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Implementation. The prototype runs today on public data. Phase one connects a plant: metered electricity by shop, the actual emission factors in its power contracts, and the charge records the melt shop already keeps. Phase two puts it into decisions: sizing renewable contracts and scrap sourcing. Phase three scales to every site and produces per-grade footprints for customers. It needs no licences and no special hardware; the real requirement is access to plant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Impact. The brief asks for a measurable reduction in estimated emissions. On the buildable path, only changes a plant could contract or commission within a year, the reference plant falls from 2.887 to 2.248 tCO2e per tonne: 22%, or 639 kt a year for every million tonnes. The stretch path cuts 48%, a concrete waypoint toward Net Zero 2050. Beyond the numbers, the brief's goal is transparency and informed decision-making: carbon becomes visible when a choice is made, scrap and power are priced side by side, and the path to Net Zero becomes a series of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/ts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lo/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24116" cy="980968"/>
          </a:xfrm>
          <a:prstGeom prst="rect">
            <a:avLst/>
          </a:prstGeom>
        </p:spPr>
      </p:pic>
      <p:pic>
        <p:nvPicPr>
          <p:cNvPr id="4" name="Image 2" descr="/tmp/lo/ts/ppt/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854" y="0"/>
            <a:ext cx="1836115" cy="98096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38989" y="1055126"/>
            <a:ext cx="8283641" cy="9807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1633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3:</a:t>
            </a:r>
            <a:endParaRPr lang="en-US" sz="2800" dirty="0"/>
          </a:p>
          <a:p>
            <a:pPr indent="0" marL="0">
              <a:buNone/>
            </a:pPr>
            <a:r>
              <a:rPr lang="en-US" sz="2400" dirty="0">
                <a:solidFill>
                  <a:srgbClr val="33333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Carbon and Energy Calculator for Steelmaking</a:t>
            </a:r>
            <a:endParaRPr lang="en-US" sz="2800" dirty="0"/>
          </a:p>
        </p:txBody>
      </p:sp>
      <p:sp>
        <p:nvSpPr>
          <p:cNvPr id="6" name="Text 1"/>
          <p:cNvSpPr txBox="1"/>
          <p:nvPr/>
        </p:nvSpPr>
        <p:spPr>
          <a:xfrm>
            <a:off x="138989" y="5263195"/>
            <a:ext cx="3184398" cy="417241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Presenting:</a:t>
            </a:r>
            <a:endParaRPr lang="en-US" sz="2400" dirty="0"/>
          </a:p>
        </p:txBody>
      </p:sp>
      <p:sp>
        <p:nvSpPr>
          <p:cNvPr id="7" name="Text 2"/>
          <p:cNvSpPr txBox="1"/>
          <p:nvPr/>
        </p:nvSpPr>
        <p:spPr>
          <a:xfrm>
            <a:off x="120061" y="5149535"/>
            <a:ext cx="6934444" cy="1624432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b"/>
          <a:lstStyle/>
          <a:p>
            <a:pPr indent="0" marL="0">
              <a:buNone/>
            </a:pPr>
            <a:r>
              <a:rPr lang="en-US" sz="69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</a:t>
            </a:r>
            <a:pPr indent="0" marL="0">
              <a:buNone/>
            </a:pPr>
            <a:r>
              <a:rPr lang="en-US" sz="6900" i="1" dirty="0">
                <a:solidFill>
                  <a:srgbClr val="C16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</a:t>
            </a:r>
            <a:endParaRPr lang="en-US" sz="6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tonne of stainless carries a carbon cost</a:t>
            </a:r>
            <a:endParaRPr lang="en-US" sz="3000" dirty="0"/>
          </a:p>
        </p:txBody>
      </p:sp>
      <p:pic>
        <p:nvPicPr>
          <p:cNvPr id="6" name="Image 0" descr="/home/user/CarbonSpark/static/photos/mel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420624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074920"/>
            <a:ext cx="4206240" cy="1234440"/>
          </a:xfrm>
          <a:prstGeom prst="rect">
            <a:avLst/>
          </a:prstGeom>
          <a:solidFill>
            <a:srgbClr val="1C1C1B">
              <a:alpha val="80000"/>
            </a:srgbClr>
          </a:solidFill>
          <a:ln w="12700">
            <a:solidFill>
              <a:srgbClr val="1C1C1B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Zero by 2050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623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commitment, and the clock every choice now runs against.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0" y="1463040"/>
            <a:ext cx="512064" cy="512064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5819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14447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 and emissions-intensive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17922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Melting, refining and rolling stainless use a lot of power and heat.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20640" y="2487168"/>
            <a:ext cx="512064" cy="512064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06440" y="24688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choices set the number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806440" y="28163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per tonne depends heavily on the input mix (scrap vs virgin) and the energy source.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120640" y="3511296"/>
            <a:ext cx="512064" cy="512064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63016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06440" y="349300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see it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38404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simple way to see the emissions effect of a choice before it's made.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120640" y="4572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GOOD TOOL MUST DELIVER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120640" y="4892040"/>
            <a:ext cx="2057400" cy="53035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30368" y="489204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532120" y="48920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reasonable emissions model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315200" y="4892040"/>
            <a:ext cx="2057400" cy="53035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424928" y="489204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726680" y="48920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input → result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509760" y="4892040"/>
            <a:ext cx="2057400" cy="53035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619488" y="489204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921240" y="48920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and simple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120640" y="5550408"/>
            <a:ext cx="2057400" cy="53035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230368" y="555040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5532120" y="55504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optimisation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315200" y="5550408"/>
            <a:ext cx="2057400" cy="53035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424928" y="555040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7726680" y="55504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D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levers carry the tonne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34290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417320"/>
            <a:ext cx="5440680" cy="34290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40080" y="1508760"/>
          <a:ext cx="5257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91072" y="1508760"/>
          <a:ext cx="5257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kg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2057400" y="5120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saved per tonne for every extra point of scrap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9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 t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5120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tonne for every 0.1 kg/kWh off the grid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AA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0.05 t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9555480" y="5120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technology and haulage combined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EAF stainless plant (68% scrap, coal-heavy grid). Right: each lever moved alone to a buildable limit.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CarbonSpark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calculator that prices every choice behind a tonne of stainless, live as you move it.</a:t>
            </a:r>
            <a:endParaRPr lang="en-US" sz="1400" dirty="0"/>
          </a:p>
        </p:txBody>
      </p:sp>
      <p:pic>
        <p:nvPicPr>
          <p:cNvPr id="7" name="Image 0" descr="/tmp/lo/crops/f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315968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  <p:pic>
        <p:nvPicPr>
          <p:cNvPr id="8" name="Image 1" descr="/tmp/lo/crops/f_readou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691640"/>
            <a:ext cx="6135624" cy="201829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  <p:pic>
        <p:nvPicPr>
          <p:cNvPr id="9" name="Image 2" descr="/tmp/lo/crops/f_de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3984257"/>
            <a:ext cx="6135624" cy="25249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2624328" y="180136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C1C1B"/>
          </a:solidFill>
          <a:ln w="12700">
            <a:solidFill>
              <a:srgbClr val="1C1C1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679192" y="1847088"/>
            <a:ext cx="310896" cy="310896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679192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3081528" y="18013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inputs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400032" y="2297129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C1C1B"/>
          </a:solidFill>
          <a:ln w="12700">
            <a:solidFill>
              <a:srgbClr val="1C1C1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454896" y="2342849"/>
            <a:ext cx="310896" cy="310896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454896" y="23428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857232" y="2297129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tonne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400032" y="4075697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C1C1B"/>
          </a:solidFill>
          <a:ln w="12700">
            <a:solidFill>
              <a:srgbClr val="1C1C1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54896" y="4121417"/>
            <a:ext cx="310896" cy="310896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454896" y="41214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857232" y="407569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it sits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01768" y="2517909"/>
            <a:ext cx="365760" cy="365760"/>
          </a:xfrm>
          <a:prstGeom prst="rightArrow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33288" y="3728225"/>
            <a:ext cx="274320" cy="237744"/>
          </a:xfrm>
          <a:prstGeom prst="downArrow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CARBONSPARK TOOLS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D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tools, one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384048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2432304" cy="1106424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pic>
        <p:nvPicPr>
          <p:cNvPr id="8" name="Image 0" descr="/tmp/lo/crops/t_pl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3184"/>
            <a:ext cx="2432304" cy="11055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880360"/>
            <a:ext cx="475488" cy="47548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992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calculator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886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share, grid mix, rail vs road, and 67 process steps to switch on or off.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64992" y="1463040"/>
            <a:ext cx="2651760" cy="384048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74720" y="1572768"/>
            <a:ext cx="2432304" cy="1106424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pic>
        <p:nvPicPr>
          <p:cNvPr id="15" name="Image 2" descr="/tmp/lo/crops/t_comp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73184"/>
            <a:ext cx="2432304" cy="11055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547872" y="2880360"/>
            <a:ext cx="475488" cy="47548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99923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547872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3547872" y="3886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plans side by side, with the difference in every scope.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81344" y="1463040"/>
            <a:ext cx="2651760" cy="384048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91072" y="1572768"/>
            <a:ext cx="2432304" cy="1106424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pic>
        <p:nvPicPr>
          <p:cNvPr id="22" name="Image 4" descr="/tmp/lo/crops/t_o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73184"/>
            <a:ext cx="2432304" cy="1105593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364224" y="2880360"/>
            <a:ext cx="475488" cy="47548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299923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64224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Optimiser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6364224" y="3886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Lowest-carbon plan at three ambition levels, and a waterfall of where the saving comes from.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997696" y="1463040"/>
            <a:ext cx="2651760" cy="384048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9107424" y="1572768"/>
            <a:ext cx="2432304" cy="1106424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pic>
        <p:nvPicPr>
          <p:cNvPr id="29" name="Image 6" descr="/tmp/lo/crops/t_d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1573184"/>
            <a:ext cx="2432304" cy="1105593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180576" y="2880360"/>
            <a:ext cx="475488" cy="47548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48" y="299923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180576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database</a:t>
            </a:r>
            <a:endParaRPr lang="en-US" sz="1700" dirty="0"/>
          </a:p>
        </p:txBody>
      </p:sp>
      <p:sp>
        <p:nvSpPr>
          <p:cNvPr id="33" name="Text 23"/>
          <p:cNvSpPr txBox="1"/>
          <p:nvPr/>
        </p:nvSpPr>
        <p:spPr>
          <a:xfrm>
            <a:off x="9180576" y="3886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formula, factor and source, free for anyone to read and download.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7724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underneath: </a:t>
            </a:r>
            <a:pPr indent="0" marL="0">
              <a:buNone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67-step accounting grid, so every tool gives the same answer for the same plant.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CHANGING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that keeps up with the industry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0" cy="3657600"/>
          </a:xfrm>
          <a:prstGeom prst="line">
            <a:avLst/>
          </a:prstGeom>
          <a:noFill/>
          <a:ln w="2540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5486400"/>
            <a:ext cx="548640" cy="0"/>
          </a:xfrm>
          <a:prstGeom prst="line">
            <a:avLst/>
          </a:prstGeom>
          <a:noFill/>
          <a:ln w="19050">
            <a:solidFill>
              <a:srgbClr val="C1633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0" cy="3657600"/>
          </a:xfrm>
          <a:prstGeom prst="line">
            <a:avLst/>
          </a:prstGeom>
          <a:noFill/>
          <a:ln w="19050">
            <a:solidFill>
              <a:srgbClr val="C1633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521208" cy="0"/>
          </a:xfrm>
          <a:prstGeom prst="line">
            <a:avLst/>
          </a:prstGeom>
          <a:noFill/>
          <a:ln w="19050">
            <a:solidFill>
              <a:srgbClr val="C1633F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143000" y="1600200"/>
            <a:ext cx="457200" cy="45720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554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grid factors, plant meters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2514600"/>
            <a:ext cx="457200" cy="45720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468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one row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2761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workbook, with a note on why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43000" y="3429000"/>
            <a:ext cx="457200" cy="45720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rebuilds the database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43000" y="4343400"/>
            <a:ext cx="457200" cy="45720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Re-test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automated checks re-derive every total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43000" y="5257800"/>
            <a:ext cx="457200" cy="45720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5212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5504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tool at once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whenever the data moves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463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ALREADY DONE IT ONCE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6309360" y="1737360"/>
          <a:ext cx="2743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923544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4.60 → 2.89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per tonne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2354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3,283 → 1,091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923544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per tonne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2354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rows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923544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re-checked, each with its reason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4983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CHANGE NEXT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00800" y="5285232"/>
            <a:ext cx="2542032" cy="43891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37960" y="52852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factors fall each year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052560" y="5285232"/>
            <a:ext cx="2542032" cy="43891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89720" y="52852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routes: H₂-DRI, green PPAs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0" y="5815584"/>
            <a:ext cx="2542032" cy="43891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37960" y="58155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plant data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052560" y="5815584"/>
            <a:ext cx="2542032" cy="438912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89720" y="58155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prices and CBAM rules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D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every 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725912" cy="0"/>
          </a:xfrm>
          <a:prstGeom prst="line">
            <a:avLst/>
          </a:prstGeom>
          <a:noFill/>
          <a:ln w="25400">
            <a:solidFill>
              <a:srgbClr val="3A38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274320" cy="274320"/>
          </a:xfrm>
          <a:prstGeom prst="ellipse">
            <a:avLst/>
          </a:prstGeom>
          <a:solidFill>
            <a:srgbClr val="C1633F"/>
          </a:solidFill>
          <a:ln w="25400">
            <a:solidFill>
              <a:srgbClr val="C163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reference plant profiles.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7278" y="1737360"/>
            <a:ext cx="274320" cy="274320"/>
          </a:xfrm>
          <a:prstGeom prst="ellipse">
            <a:avLst/>
          </a:prstGeom>
          <a:solidFill>
            <a:srgbClr val="1C1C1B"/>
          </a:solidFill>
          <a:ln w="25400">
            <a:solidFill>
              <a:srgbClr val="C163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1558" y="21945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21558" y="24688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 in the plant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21558" y="288036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power, contract emission factors, charge records.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0196" y="1737360"/>
            <a:ext cx="274320" cy="274320"/>
          </a:xfrm>
          <a:prstGeom prst="ellipse">
            <a:avLst/>
          </a:prstGeom>
          <a:solidFill>
            <a:srgbClr val="1C1C1B"/>
          </a:solidFill>
          <a:ln w="25400">
            <a:solidFill>
              <a:srgbClr val="C163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4476" y="21945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4688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with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094476" y="288036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renewable contracts and scrap sourcing.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3114" y="1737360"/>
            <a:ext cx="274320" cy="274320"/>
          </a:xfrm>
          <a:prstGeom prst="ellipse">
            <a:avLst/>
          </a:prstGeom>
          <a:solidFill>
            <a:srgbClr val="1C1C1B"/>
          </a:solidFill>
          <a:ln w="25400">
            <a:solidFill>
              <a:srgbClr val="C163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7394" y="21945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867394" y="24688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867394" y="288036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site; per-grade footprints for customers.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27024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716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plant provides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Shop-level energy 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contract factors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Charge-mix records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97680" y="3977640"/>
            <a:ext cx="3566160" cy="210312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4160520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4270248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1206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shop planning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reporting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046720" y="3977640"/>
            <a:ext cx="3566160" cy="210312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4270248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8696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832104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virtual machine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CarbonSpark is worth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−22% buildable today · −48% stretch · −69% theoretical floor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16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639 kt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a year saved per million tonnes, with only buildable changes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9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−36%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331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2, from power procurement alone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200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price any plan, instead of a manual spreadsheet run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206240"/>
            <a:ext cx="1691640" cy="16916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4343400"/>
            <a:ext cx="438912" cy="438912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4453128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4652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5230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visible at the moment of choice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10728" y="4206240"/>
            <a:ext cx="1691640" cy="16916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47888" y="4343400"/>
            <a:ext cx="438912" cy="438912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45312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47888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8247888" y="5230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and power priced side by side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912096" y="4206240"/>
            <a:ext cx="1691640" cy="1691640"/>
          </a:xfrm>
          <a:prstGeom prst="rect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49256" y="4343400"/>
            <a:ext cx="438912" cy="438912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445312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049256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Zero 2050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10049256" y="52303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stepwise path, not a single leap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CarbonSpark</dc:title>
  <dc:subject>PptxGenJS Presentation</dc:subject>
  <dc:creator>PptxGenJS</dc:creator>
  <cp:lastModifiedBy>PptxGenJS</cp:lastModifiedBy>
  <cp:revision>1</cp:revision>
  <dcterms:created xsi:type="dcterms:W3CDTF">2026-09-27T14:50:29Z</dcterms:created>
  <dcterms:modified xsi:type="dcterms:W3CDTF">2026-09-27T14:50:29Z</dcterms:modified>
</cp:coreProperties>
</file>