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Lower carbon</c:v>
                </c:pt>
              </c:strCache>
            </c:strRef>
          </c:tx>
          <c:spPr>
            <a:solidFill>
              <a:srgbClr val="2A9D8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Scrap share  50% ↔ 85%</c:v>
                  </c:pt>
                  <c:pt idx="1">
                    <c:v>Grid  0.80 ↔ 0.39 kg/kWh</c:v>
                  </c:pt>
                  <c:pt idx="2">
                    <c:v>Rail share  0% ↔ 100%</c:v>
                  </c:pt>
                  <c:pt idx="3">
                    <c:v>Technology  EAF/IF/AOD/VOD…</c:v>
                  </c:pt>
                </c:lvl>
              </c:multiLvlStrCache>
            </c:multiLvlStrRef>
          </c:cat>
          <c:val>
            <c:numRef>
              <c:f>Sheet1!$B$2:$B$5</c:f>
              <c:numCache>
                <c:formatCode>General</c:formatCode>
                <c:ptCount val="4"/>
                <c:pt idx="0">
                  <c:v>-0.592</c:v>
                </c:pt>
                <c:pt idx="1">
                  <c:v>-0.404</c:v>
                </c:pt>
                <c:pt idx="2">
                  <c:v>-0.016</c:v>
                </c:pt>
                <c:pt idx="3">
                  <c:v>-0.003</c:v>
                </c:pt>
              </c:numCache>
            </c:numRef>
          </c:val>
        </c:ser>
        <c:ser>
          <c:idx val="1"/>
          <c:order val="1"/>
          <c:tx>
            <c:strRef>
              <c:f>Sheet1!$C$1</c:f>
              <c:strCache>
                <c:ptCount val="1"/>
                <c:pt idx="0">
                  <c:v>Higher carbon</c:v>
                </c:pt>
              </c:strCache>
            </c:strRef>
          </c:tx>
          <c:spPr>
            <a:solidFill>
              <a:srgbClr val="D1495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Scrap share  50% ↔ 85%</c:v>
                  </c:pt>
                  <c:pt idx="1">
                    <c:v>Grid  0.80 ↔ 0.39 kg/kWh</c:v>
                  </c:pt>
                  <c:pt idx="2">
                    <c:v>Rail share  0% ↔ 100%</c:v>
                  </c:pt>
                  <c:pt idx="3">
                    <c:v>Technology  EAF/IF/AOD/VOD…</c:v>
                  </c:pt>
                </c:lvl>
              </c:multiLvlStrCache>
            </c:multiLvlStrRef>
          </c:cat>
          <c:val>
            <c:numRef>
              <c:f>Sheet1!$C$2:$C$5</c:f>
              <c:numCache>
                <c:formatCode>General</c:formatCode>
                <c:ptCount val="4"/>
                <c:pt idx="0">
                  <c:v>0.627</c:v>
                </c:pt>
                <c:pt idx="1">
                  <c:v>0.045</c:v>
                </c:pt>
                <c:pt idx="2">
                  <c:v>0.027</c:v>
                </c:pt>
                <c:pt idx="3">
                  <c:v>0.015</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35"/>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F3F4F6"/>
                </a:solidFill>
                <a:latin typeface="Calibri"/>
              </a:defRPr>
            </a:pPr>
            <a:endParaRPr lang="en-US"/>
          </a:p>
        </c:txPr>
        <c:crossAx val="2094734552"/>
        <c:crosses val="autoZero"/>
        <c:auto val="1"/>
        <c:lblAlgn val="ctr"/>
        <c:noMultiLvlLbl val="1"/>
      </c:catAx>
      <c:valAx>
        <c:axId val="2094734552"/>
        <c:scaling>
          <c:orientation val="minMax"/>
          <c:max val="0.7"/>
          <c:min val="-0.7"/>
        </c:scaling>
        <c:delete val="0"/>
        <c:axPos val="b"/>
        <c:majorGridlines>
          <c:spPr>
            <a:ln w="6350" cap="flat">
              <a:solidFill>
                <a:srgbClr val="2C3E66"/>
              </a:solidFill>
              <a:prstDash val="solid"/>
              <a:round/>
            </a:ln>
          </c:spPr>
        </c:majorGridlines>
        <c:numFmt formatCode="+0.0;-0.0;0" sourceLinked="0"/>
        <c:majorTickMark val="out"/>
        <c:minorTickMark val="none"/>
        <c:tickLblPos val="low"/>
        <c:spPr>
          <a:ln w="12700" cap="flat">
            <a:solidFill>
              <a:srgbClr val="888888"/>
            </a:solidFill>
            <a:prstDash val="solid"/>
            <a:round/>
          </a:ln>
        </c:spPr>
        <c:txPr>
          <a:bodyPr/>
          <a:lstStyle/>
          <a:p>
            <a:pPr>
              <a:defRPr sz="900" b="0" i="0" u="none" strike="noStrike">
                <a:solidFill>
                  <a:srgbClr val="AAB4C3"/>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AAB4C3"/>
              </a:solidFil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11827"/>
                </a:solidFill>
                <a:latin typeface="Calibri"/>
              </a:defRPr>
            </a:pPr>
            <a:r>
              <a:rPr sz="1100" b="0" i="0" u="none" strike="noStrike">
                <a:solidFill>
                  <a:srgbClr val="111827"/>
                </a:solidFill>
                <a:latin typeface="Calibri"/>
              </a:rPr>
              <a:t>JSL Jajpur, tCO₂e per tonne</a:t>
            </a:r>
          </a:p>
        </c:rich>
      </c:tx>
      <c:layout/>
      <c:overlay val="0"/>
    </c:title>
    <c:autoTitleDeleted val="0"/>
    <c:plotArea>
      <c:layout/>
      <c:lineChart>
        <c:varyColors val="0"/>
        <c:ser>
          <c:idx val="0"/>
          <c:order val="0"/>
          <c:tx>
            <c:strRef>
              <c:f>Sheet1!$B$1</c:f>
              <c:strCache>
                <c:ptCount val="1"/>
                <c:pt idx="0">
                  <c:v>No action</c:v>
                </c:pt>
              </c:strCache>
            </c:strRef>
          </c:tx>
          <c:spPr>
            <a:solidFill>
              <a:srgbClr val="9CA3AF"/>
            </a:solidFill>
            <a:ln w="38100" cap="flat">
              <a:solidFill>
                <a:srgbClr val="9CA3A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8"/>
            <c:spPr>
              <a:solidFill>
                <a:srgbClr val="9CA3AF"/>
              </a:solidFill>
              <a:ln w="9525" cap="flat">
                <a:solidFill>
                  <a:srgbClr val="9CA3AF"/>
                </a:solidFill>
                <a:prstDash val="solid"/>
                <a:round/>
              </a:ln>
              <a:effectLst/>
            </c:spPr>
          </c:marker>
          <c:cat>
            <c:multiLvlStrRef>
              <c:f>Sheet1!$A$2:$A$7</c:f>
              <c:multiLvlStrCache>
                <c:ptCount val="6"/>
                <c:lvl>
                  <c:pt idx="0">
                    <c:v>2026</c:v>
                  </c:pt>
                  <c:pt idx="1">
                    <c:v>2027</c:v>
                  </c:pt>
                  <c:pt idx="2">
                    <c:v>2030</c:v>
                  </c:pt>
                  <c:pt idx="3">
                    <c:v>2035</c:v>
                  </c:pt>
                  <c:pt idx="4">
                    <c:v>2040</c:v>
                  </c:pt>
                  <c:pt idx="5">
                    <c:v>2050</c:v>
                  </c:pt>
                </c:lvl>
              </c:multiLvlStrCache>
            </c:multiLvlStrRef>
          </c:cat>
          <c:val>
            <c:numRef>
              <c:f>Sheet1!$B$2:$B$7</c:f>
              <c:numCache>
                <c:formatCode>General</c:formatCode>
                <c:ptCount val="6"/>
                <c:pt idx="0">
                  <c:v>2.887</c:v>
                </c:pt>
                <c:pt idx="1">
                  <c:v>2.887</c:v>
                </c:pt>
                <c:pt idx="2">
                  <c:v>2.887</c:v>
                </c:pt>
                <c:pt idx="3">
                  <c:v>2.887</c:v>
                </c:pt>
                <c:pt idx="4">
                  <c:v>2.887</c:v>
                </c:pt>
                <c:pt idx="5">
                  <c:v>2.887</c:v>
                </c:pt>
              </c:numCache>
            </c:numRef>
          </c:val>
          <c:smooth val="0"/>
        </c:ser>
        <c:ser>
          <c:idx val="1"/>
          <c:order val="1"/>
          <c:tx>
            <c:strRef>
              <c:f>Sheet1!$C$1</c:f>
              <c:strCache>
                <c:ptCount val="1"/>
                <c:pt idx="0">
                  <c:v>CarbonSpark path</c:v>
                </c:pt>
              </c:strCache>
            </c:strRef>
          </c:tx>
          <c:spPr>
            <a:solidFill>
              <a:srgbClr val="C97A00"/>
            </a:solidFill>
            <a:ln w="38100" cap="flat">
              <a:solidFill>
                <a:srgbClr val="C97A0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8"/>
            <c:spPr>
              <a:solidFill>
                <a:srgbClr val="C97A00"/>
              </a:solidFill>
              <a:ln w="9525" cap="flat">
                <a:solidFill>
                  <a:srgbClr val="C97A00"/>
                </a:solidFill>
                <a:prstDash val="solid"/>
                <a:round/>
              </a:ln>
              <a:effectLst/>
            </c:spPr>
          </c:marker>
          <c:cat>
            <c:multiLvlStrRef>
              <c:f>Sheet1!$A$2:$A$7</c:f>
              <c:multiLvlStrCache>
                <c:ptCount val="6"/>
                <c:lvl>
                  <c:pt idx="0">
                    <c:v>2026</c:v>
                  </c:pt>
                  <c:pt idx="1">
                    <c:v>2027</c:v>
                  </c:pt>
                  <c:pt idx="2">
                    <c:v>2030</c:v>
                  </c:pt>
                  <c:pt idx="3">
                    <c:v>2035</c:v>
                  </c:pt>
                  <c:pt idx="4">
                    <c:v>2040</c:v>
                  </c:pt>
                  <c:pt idx="5">
                    <c:v>2050</c:v>
                  </c:pt>
                </c:lvl>
              </c:multiLvlStrCache>
            </c:multiLvlStrRef>
          </c:cat>
          <c:val>
            <c:numRef>
              <c:f>Sheet1!$C$2:$C$7</c:f>
              <c:numCache>
                <c:formatCode>General</c:formatCode>
                <c:ptCount val="6"/>
                <c:pt idx="0">
                  <c:v>2.887</c:v>
                </c:pt>
                <c:pt idx="1">
                  <c:v>2.248</c:v>
                </c:pt>
                <c:pt idx="2">
                  <c:v>1.95</c:v>
                </c:pt>
                <c:pt idx="3">
                  <c:v>1.514</c:v>
                </c:pt>
                <c:pt idx="4">
                  <c:v>1.25</c:v>
                </c:pt>
                <c:pt idx="5">
                  <c:v>0.899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B5563"/>
                </a:solidFill>
                <a:latin typeface="Arial"/>
              </a:defRPr>
            </a:pPr>
            <a:endParaRPr lang="en-US"/>
          </a:p>
        </c:txPr>
        <c:crossAx val="2094734552"/>
        <c:crosses val="autoZero"/>
        <c:auto val="1"/>
        <c:lblAlgn val="ctr"/>
        <c:noMultiLvlLbl val="1"/>
      </c:catAx>
      <c:valAx>
        <c:axId val="2094734552"/>
        <c:scaling>
          <c:orientation val="minMax"/>
          <c:max val="3.2"/>
          <c:min val="0"/>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4B5563"/>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4B5563"/>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Alternate framing: instead of walking through features, this deck follows the three decisions that set a tonne's carbon. Fill in the team line. Open with the question: who at the plant actually decides the carbon of a tonne, and do they see the number when they decide?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framed as people. Four roles set the carbon of a tonne, and none of them sees the number when they decide. The sensitivities in the blind-spot lines are from our model on the Jajpur profile. The bottom bar is the core gap: carbon is decided daily but only becomes visible in the annual BRSR disclosure. The brief asks for a tool that makes the effect of each choice visible. That means closing this lag.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Anatomy of the tonne on the left: 56% of Jajpur's 2.887 is Scope 3, the upstream carbon of ferrochrome, nickel and pig iron in the charge. Scope 2 is electricity, and 71% of the total sits in the melt shop. On the right, a tornado chart: each lever swung across a practical range with everything else held at today's Jajpur settings. Scrap and grid make up 96% of the total swing. Rail and the choice among realistic technologies are each under 0.05 t/t. That tells a plant where to spend its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framework: a carbon map for the two levers that matter. Rows are scrap share, columns are grid emission factor; each cell is the model's tonne on the Jajpur route. It turns the brief's two levers into a trade-off a planner can act on. The exchange rate is roughly 10 points of scrap for 0.32 kg/kWh of grid. Two very different strategies reach the same tonne, so the choice between them comes down to cost and availability, which is exactly what the optimiser's ambition levels encode.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solution as a loop rather than a list of screens. Measure, explore, compare, optimise, act. Each step is one view of the tool, and the output of the last feeds the next decision. The screenshot is Compare with a real what-if: Jajpur today against a plan with 75% scrap and a 50% renewable grid, which is 22% lower. Right column is what changed since Round 1. The most important change is accuracy: the model now reconciles with JSL's own disclosed intensity.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user journey instead of a feature list. In under four minutes a planner goes from today's number to a ranked, buildable plan. Every screenshot is the live tool on the Jajpur profile. The point for judges: usability is measured in minutes to a decision, not in the number of charts.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Feasibility as a concrete pilot. Twelve weeks at Jajpur. Weeks 0 to 4 connect the data the plant already has: shop-level energy meters, the actual PPA and DISCOM emission factors, and the melt shop's charge records. Then recalibrate, put it in planners' hands, and use it on at least one real procurement decision before a go/no-go to roll to Hisar. Pilot success criteria are on the right. The stack is open-source Python and Streamlit on one VM, so cost is not the constraint. Data access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impact as a trajectory. The grey line is doing nothing; the amber line uses the optimiser's own three answers as waypoints: buildable within a year, stretch within a decade, and the physical floor by 2050. The intermediate years are drawn for illustration only. Scaled to JSL's roughly 3 MTPA, the buildable path alone is about 1.8 Mt CO2e a year. On the right, we score ourselves against the five key considerations printed in the problem statement, so the judges can check each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2.jpg"/><Relationship Id="rId3" Type="http://schemas.openxmlformats.org/officeDocument/2006/relationships/image" Target="../media/image-2-3.jpg"/><Relationship Id="rId4" Type="http://schemas.openxmlformats.org/officeDocument/2006/relationships/image" Target="../media/image-2-4.jp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3-1.jp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1.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pic>
        <p:nvPicPr>
          <p:cNvPr id="2" name="Image 0" descr="/home/user/CarbonSpark/static/photos/hero.jp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14213D">
              <a:alpha val="82000"/>
            </a:srgbClr>
          </a:solidFill>
          <a:ln w="12700">
            <a:solidFill>
              <a:srgbClr val="14213D">
                <a:alpha val="0"/>
              </a:srgbClr>
            </a:solidFill>
            <a:prstDash val="solid"/>
          </a:ln>
        </p:spPr>
      </p:sp>
      <p:sp>
        <p:nvSpPr>
          <p:cNvPr id="4" name="Text 1"/>
          <p:cNvSpPr txBox="1"/>
          <p:nvPr/>
        </p:nvSpPr>
        <p:spPr>
          <a:xfrm>
            <a:off x="640080" y="548640"/>
            <a:ext cx="10972800" cy="274320"/>
          </a:xfrm>
          <a:prstGeom prst="rect">
            <a:avLst/>
          </a:prstGeom>
          <a:noFill/>
          <a:ln/>
        </p:spPr>
        <p:txBody>
          <a:bodyPr wrap="square" lIns="0" tIns="0" rIns="0" bIns="0" rtlCol="0" anchor="ctr"/>
          <a:lstStyle/>
          <a:p>
            <a:pPr indent="0" marL="0">
              <a:buNone/>
            </a:pPr>
            <a:r>
              <a:rPr lang="en-US" sz="1100" b="1" spc="200" kern="0" dirty="0">
                <a:solidFill>
                  <a:srgbClr val="FCA311"/>
                </a:solidFill>
                <a:latin typeface="Calibri" pitchFamily="34" charset="0"/>
                <a:ea typeface="Calibri" pitchFamily="34" charset="-122"/>
                <a:cs typeface="Calibri" pitchFamily="34" charset="-120"/>
              </a:rPr>
              <a:t>JINDAL STAINLESS ENGINEERING CASE STUDY 2026  ·  PROBLEM STATEMENT 3  ·  ROUND 2</a:t>
            </a:r>
            <a:endParaRPr lang="en-US" sz="1100" dirty="0"/>
          </a:p>
        </p:txBody>
      </p:sp>
      <p:sp>
        <p:nvSpPr>
          <p:cNvPr id="5" name="Text 2"/>
          <p:cNvSpPr txBox="1"/>
          <p:nvPr/>
        </p:nvSpPr>
        <p:spPr>
          <a:xfrm>
            <a:off x="640080" y="1371600"/>
            <a:ext cx="8229600" cy="2194560"/>
          </a:xfrm>
          <a:prstGeom prst="rect">
            <a:avLst/>
          </a:prstGeom>
          <a:noFill/>
          <a:ln/>
        </p:spPr>
        <p:txBody>
          <a:bodyPr wrap="square" lIns="0" tIns="0" rIns="0" bIns="0" rtlCol="0" anchor="t"/>
          <a:lstStyle/>
          <a:p>
            <a:pPr indent="0" marL="0">
              <a:lnSpc>
                <a:spcPct val="95000"/>
              </a:lnSpc>
              <a:buNone/>
            </a:pPr>
            <a:r>
              <a:rPr lang="en-US" sz="6000" b="1" dirty="0">
                <a:solidFill>
                  <a:srgbClr val="FFFFFF"/>
                </a:solidFill>
                <a:latin typeface="Arial" pitchFamily="34" charset="0"/>
                <a:ea typeface="Arial" pitchFamily="34" charset="-122"/>
                <a:cs typeface="Arial" pitchFamily="34" charset="-120"/>
              </a:rPr>
              <a:t>One tonne.</a:t>
            </a:r>
            <a:endParaRPr lang="en-US" sz="6000" dirty="0"/>
          </a:p>
          <a:p>
            <a:pPr indent="0" marL="0">
              <a:lnSpc>
                <a:spcPct val="95000"/>
              </a:lnSpc>
              <a:buNone/>
            </a:pPr>
            <a:r>
              <a:rPr lang="en-US" sz="6000" b="1" dirty="0">
                <a:solidFill>
                  <a:srgbClr val="FFFFFF"/>
                </a:solidFill>
                <a:latin typeface="Arial" pitchFamily="34" charset="0"/>
                <a:ea typeface="Arial" pitchFamily="34" charset="-122"/>
                <a:cs typeface="Arial" pitchFamily="34" charset="-120"/>
              </a:rPr>
              <a:t>Three decisions.</a:t>
            </a:r>
            <a:endParaRPr lang="en-US" sz="6000" dirty="0"/>
          </a:p>
        </p:txBody>
      </p:sp>
      <p:sp>
        <p:nvSpPr>
          <p:cNvPr id="6" name="Text 3"/>
          <p:cNvSpPr txBox="1"/>
          <p:nvPr/>
        </p:nvSpPr>
        <p:spPr>
          <a:xfrm>
            <a:off x="640080" y="3703320"/>
            <a:ext cx="6583680" cy="822960"/>
          </a:xfrm>
          <a:prstGeom prst="rect">
            <a:avLst/>
          </a:prstGeom>
          <a:noFill/>
          <a:ln/>
        </p:spPr>
        <p:txBody>
          <a:bodyPr wrap="square" lIns="0" tIns="0" rIns="0" bIns="0" rtlCol="0" anchor="t"/>
          <a:lstStyle/>
          <a:p>
            <a:pPr indent="0" marL="0">
              <a:buNone/>
            </a:pPr>
            <a:r>
              <a:rPr lang="en-US" sz="1700" dirty="0">
                <a:solidFill>
                  <a:srgbClr val="F3F4F6"/>
                </a:solidFill>
                <a:latin typeface="Calibri" pitchFamily="34" charset="0"/>
                <a:ea typeface="Calibri" pitchFamily="34" charset="-122"/>
                <a:cs typeface="Calibri" pitchFamily="34" charset="-120"/>
              </a:rPr>
              <a:t>Charge, power and route set the carbon of every tonne of stainless. CarbonSpark puts a live number on each one and finds the cheapest path down.</a:t>
            </a:r>
            <a:endParaRPr lang="en-US" sz="1700" dirty="0"/>
          </a:p>
        </p:txBody>
      </p:sp>
      <p:sp>
        <p:nvSpPr>
          <p:cNvPr id="7" name="Text 4"/>
          <p:cNvSpPr txBox="1"/>
          <p:nvPr/>
        </p:nvSpPr>
        <p:spPr>
          <a:xfrm>
            <a:off x="640080" y="4846320"/>
            <a:ext cx="3657600" cy="548640"/>
          </a:xfrm>
          <a:prstGeom prst="rect">
            <a:avLst/>
          </a:prstGeom>
          <a:noFill/>
          <a:ln/>
        </p:spPr>
        <p:txBody>
          <a:bodyPr wrap="square" lIns="0" tIns="0" rIns="0" bIns="0" rtlCol="0" anchor="ctr"/>
          <a:lstStyle/>
          <a:p>
            <a:pPr indent="0" marL="0">
              <a:buNone/>
            </a:pPr>
            <a:r>
              <a:rPr lang="en-US" sz="3000" dirty="0">
                <a:solidFill>
                  <a:srgbClr val="FFFFFF"/>
                </a:solidFill>
                <a:latin typeface="Cambria" pitchFamily="34" charset="0"/>
                <a:ea typeface="Cambria" pitchFamily="34" charset="-122"/>
                <a:cs typeface="Cambria" pitchFamily="34" charset="-120"/>
              </a:rPr>
              <a:t>Carbon</a:t>
            </a:r>
            <a:pPr indent="0" marL="0">
              <a:buNone/>
            </a:pPr>
            <a:r>
              <a:rPr lang="en-US" sz="3000" i="1" dirty="0">
                <a:solidFill>
                  <a:srgbClr val="FCA311"/>
                </a:solidFill>
                <a:latin typeface="Cambria" pitchFamily="34" charset="0"/>
                <a:ea typeface="Cambria" pitchFamily="34" charset="-122"/>
                <a:cs typeface="Cambria" pitchFamily="34" charset="-120"/>
              </a:rPr>
              <a:t>Spark</a:t>
            </a:r>
            <a:endParaRPr lang="en-US" sz="3000" dirty="0"/>
          </a:p>
        </p:txBody>
      </p:sp>
      <p:sp>
        <p:nvSpPr>
          <p:cNvPr id="8" name="Text 5"/>
          <p:cNvSpPr txBox="1"/>
          <p:nvPr/>
        </p:nvSpPr>
        <p:spPr>
          <a:xfrm>
            <a:off x="640080" y="5394960"/>
            <a:ext cx="5486400" cy="274320"/>
          </a:xfrm>
          <a:prstGeom prst="rect">
            <a:avLst/>
          </a:prstGeom>
          <a:noFill/>
          <a:ln/>
        </p:spPr>
        <p:txBody>
          <a:bodyPr wrap="square" lIns="0" tIns="0" rIns="0" bIns="0" rtlCol="0" anchor="ctr"/>
          <a:lstStyle/>
          <a:p>
            <a:pPr indent="0" marL="0">
              <a:buNone/>
            </a:pPr>
            <a:r>
              <a:rPr lang="en-US" sz="1300" dirty="0">
                <a:solidFill>
                  <a:srgbClr val="AAB4C3"/>
                </a:solidFill>
                <a:latin typeface="Calibri" pitchFamily="34" charset="0"/>
                <a:ea typeface="Calibri" pitchFamily="34" charset="-122"/>
                <a:cs typeface="Calibri" pitchFamily="34" charset="-120"/>
              </a:rPr>
              <a:t>Carbon &amp; energy calculator for stainless steelmaking</a:t>
            </a:r>
            <a:endParaRPr lang="en-US" sz="1300" dirty="0"/>
          </a:p>
        </p:txBody>
      </p:sp>
      <p:sp>
        <p:nvSpPr>
          <p:cNvPr id="9" name="Text 6"/>
          <p:cNvSpPr txBox="1"/>
          <p:nvPr/>
        </p:nvSpPr>
        <p:spPr>
          <a:xfrm>
            <a:off x="640080" y="6035040"/>
            <a:ext cx="5486400" cy="320040"/>
          </a:xfrm>
          <a:prstGeom prst="rect">
            <a:avLst/>
          </a:prstGeom>
          <a:noFill/>
          <a:ln/>
        </p:spPr>
        <p:txBody>
          <a:bodyPr wrap="square" lIns="0" tIns="0" rIns="0" bIns="0" rtlCol="0" anchor="ctr"/>
          <a:lstStyle/>
          <a:p>
            <a:pPr indent="0" marL="0">
              <a:buNone/>
            </a:pPr>
            <a:r>
              <a:rPr lang="en-US" sz="1300" dirty="0">
                <a:solidFill>
                  <a:srgbClr val="F3F4F6"/>
                </a:solidFill>
                <a:latin typeface="Calibri" pitchFamily="34" charset="0"/>
                <a:ea typeface="Calibri" pitchFamily="34" charset="-122"/>
                <a:cs typeface="Calibri" pitchFamily="34" charset="-120"/>
              </a:rPr>
              <a:t>Team name  ·  Members  ·  Institute</a:t>
            </a:r>
            <a:endParaRPr lang="en-US" sz="1300" dirty="0"/>
          </a:p>
        </p:txBody>
      </p:sp>
      <p:sp>
        <p:nvSpPr>
          <p:cNvPr id="10" name="Shape 7"/>
          <p:cNvSpPr/>
          <p:nvPr/>
        </p:nvSpPr>
        <p:spPr>
          <a:xfrm>
            <a:off x="8321040" y="3840480"/>
            <a:ext cx="3291840" cy="731520"/>
          </a:xfrm>
          <a:prstGeom prst="rect">
            <a:avLst/>
          </a:prstGeom>
          <a:solidFill>
            <a:srgbClr val="14213D">
              <a:alpha val="75000"/>
            </a:srgbClr>
          </a:solidFill>
          <a:ln w="12700">
            <a:solidFill>
              <a:srgbClr val="FCA311"/>
            </a:solidFill>
            <a:prstDash val="solid"/>
          </a:ln>
        </p:spPr>
      </p:sp>
      <p:sp>
        <p:nvSpPr>
          <p:cNvPr id="11" name="Text 8"/>
          <p:cNvSpPr txBox="1"/>
          <p:nvPr/>
        </p:nvSpPr>
        <p:spPr>
          <a:xfrm>
            <a:off x="8458200" y="3840480"/>
            <a:ext cx="548640" cy="731520"/>
          </a:xfrm>
          <a:prstGeom prst="rect">
            <a:avLst/>
          </a:prstGeom>
          <a:noFill/>
          <a:ln/>
        </p:spPr>
        <p:txBody>
          <a:bodyPr wrap="square" lIns="0" tIns="0" rIns="0" bIns="0" rtlCol="0" anchor="ctr"/>
          <a:lstStyle/>
          <a:p>
            <a:pPr indent="0" marL="0">
              <a:buNone/>
            </a:pPr>
            <a:r>
              <a:rPr lang="en-US" sz="2000" b="1" dirty="0">
                <a:solidFill>
                  <a:srgbClr val="FCA311"/>
                </a:solidFill>
                <a:latin typeface="Arial" pitchFamily="34" charset="0"/>
                <a:ea typeface="Arial" pitchFamily="34" charset="-122"/>
                <a:cs typeface="Arial" pitchFamily="34" charset="-120"/>
              </a:rPr>
              <a:t>01</a:t>
            </a:r>
            <a:endParaRPr lang="en-US" sz="2000" dirty="0"/>
          </a:p>
        </p:txBody>
      </p:sp>
      <p:sp>
        <p:nvSpPr>
          <p:cNvPr id="12" name="Text 9"/>
          <p:cNvSpPr txBox="1"/>
          <p:nvPr/>
        </p:nvSpPr>
        <p:spPr>
          <a:xfrm>
            <a:off x="9052560" y="3931920"/>
            <a:ext cx="2468880" cy="27432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Charge</a:t>
            </a:r>
            <a:endParaRPr lang="en-US" sz="1400" dirty="0"/>
          </a:p>
        </p:txBody>
      </p:sp>
      <p:sp>
        <p:nvSpPr>
          <p:cNvPr id="13" name="Text 10"/>
          <p:cNvSpPr txBox="1"/>
          <p:nvPr/>
        </p:nvSpPr>
        <p:spPr>
          <a:xfrm>
            <a:off x="9052560" y="4206240"/>
            <a:ext cx="2468880" cy="274320"/>
          </a:xfrm>
          <a:prstGeom prst="rect">
            <a:avLst/>
          </a:prstGeom>
          <a:noFill/>
          <a:ln/>
        </p:spPr>
        <p:txBody>
          <a:bodyPr wrap="square" lIns="0" tIns="0" rIns="0" bIns="0" rtlCol="0" anchor="ctr"/>
          <a:lstStyle/>
          <a:p>
            <a:pPr indent="0" marL="0">
              <a:buNone/>
            </a:pPr>
            <a:r>
              <a:rPr lang="en-US" sz="1150" dirty="0">
                <a:solidFill>
                  <a:srgbClr val="F3F4F6"/>
                </a:solidFill>
                <a:latin typeface="Calibri" pitchFamily="34" charset="0"/>
                <a:ea typeface="Calibri" pitchFamily="34" charset="-122"/>
                <a:cs typeface="Calibri" pitchFamily="34" charset="-120"/>
              </a:rPr>
              <a:t>How much scrap vs virgin?</a:t>
            </a:r>
            <a:endParaRPr lang="en-US" sz="1150" dirty="0"/>
          </a:p>
        </p:txBody>
      </p:sp>
      <p:sp>
        <p:nvSpPr>
          <p:cNvPr id="14" name="Shape 11"/>
          <p:cNvSpPr/>
          <p:nvPr/>
        </p:nvSpPr>
        <p:spPr>
          <a:xfrm>
            <a:off x="8321040" y="4709160"/>
            <a:ext cx="3291840" cy="731520"/>
          </a:xfrm>
          <a:prstGeom prst="rect">
            <a:avLst/>
          </a:prstGeom>
          <a:solidFill>
            <a:srgbClr val="14213D">
              <a:alpha val="75000"/>
            </a:srgbClr>
          </a:solidFill>
          <a:ln w="12700">
            <a:solidFill>
              <a:srgbClr val="FCA311"/>
            </a:solidFill>
            <a:prstDash val="solid"/>
          </a:ln>
        </p:spPr>
      </p:sp>
      <p:sp>
        <p:nvSpPr>
          <p:cNvPr id="15" name="Text 12"/>
          <p:cNvSpPr txBox="1"/>
          <p:nvPr/>
        </p:nvSpPr>
        <p:spPr>
          <a:xfrm>
            <a:off x="8458200" y="4709160"/>
            <a:ext cx="548640" cy="731520"/>
          </a:xfrm>
          <a:prstGeom prst="rect">
            <a:avLst/>
          </a:prstGeom>
          <a:noFill/>
          <a:ln/>
        </p:spPr>
        <p:txBody>
          <a:bodyPr wrap="square" lIns="0" tIns="0" rIns="0" bIns="0" rtlCol="0" anchor="ctr"/>
          <a:lstStyle/>
          <a:p>
            <a:pPr indent="0" marL="0">
              <a:buNone/>
            </a:pPr>
            <a:r>
              <a:rPr lang="en-US" sz="2000" b="1" dirty="0">
                <a:solidFill>
                  <a:srgbClr val="FCA311"/>
                </a:solidFill>
                <a:latin typeface="Arial" pitchFamily="34" charset="0"/>
                <a:ea typeface="Arial" pitchFamily="34" charset="-122"/>
                <a:cs typeface="Arial" pitchFamily="34" charset="-120"/>
              </a:rPr>
              <a:t>02</a:t>
            </a:r>
            <a:endParaRPr lang="en-US" sz="2000" dirty="0"/>
          </a:p>
        </p:txBody>
      </p:sp>
      <p:sp>
        <p:nvSpPr>
          <p:cNvPr id="16" name="Text 13"/>
          <p:cNvSpPr txBox="1"/>
          <p:nvPr/>
        </p:nvSpPr>
        <p:spPr>
          <a:xfrm>
            <a:off x="9052560" y="4800600"/>
            <a:ext cx="2468880" cy="27432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Power</a:t>
            </a:r>
            <a:endParaRPr lang="en-US" sz="1400" dirty="0"/>
          </a:p>
        </p:txBody>
      </p:sp>
      <p:sp>
        <p:nvSpPr>
          <p:cNvPr id="17" name="Text 14"/>
          <p:cNvSpPr txBox="1"/>
          <p:nvPr/>
        </p:nvSpPr>
        <p:spPr>
          <a:xfrm>
            <a:off x="9052560" y="5074920"/>
            <a:ext cx="2468880" cy="274320"/>
          </a:xfrm>
          <a:prstGeom prst="rect">
            <a:avLst/>
          </a:prstGeom>
          <a:noFill/>
          <a:ln/>
        </p:spPr>
        <p:txBody>
          <a:bodyPr wrap="square" lIns="0" tIns="0" rIns="0" bIns="0" rtlCol="0" anchor="ctr"/>
          <a:lstStyle/>
          <a:p>
            <a:pPr indent="0" marL="0">
              <a:buNone/>
            </a:pPr>
            <a:r>
              <a:rPr lang="en-US" sz="1150" dirty="0">
                <a:solidFill>
                  <a:srgbClr val="F3F4F6"/>
                </a:solidFill>
                <a:latin typeface="Calibri" pitchFamily="34" charset="0"/>
                <a:ea typeface="Calibri" pitchFamily="34" charset="-122"/>
                <a:cs typeface="Calibri" pitchFamily="34" charset="-120"/>
              </a:rPr>
              <a:t>Which grid feeds the furnaces?</a:t>
            </a:r>
            <a:endParaRPr lang="en-US" sz="1150" dirty="0"/>
          </a:p>
        </p:txBody>
      </p:sp>
      <p:sp>
        <p:nvSpPr>
          <p:cNvPr id="18" name="Shape 15"/>
          <p:cNvSpPr/>
          <p:nvPr/>
        </p:nvSpPr>
        <p:spPr>
          <a:xfrm>
            <a:off x="8321040" y="5577840"/>
            <a:ext cx="3291840" cy="731520"/>
          </a:xfrm>
          <a:prstGeom prst="rect">
            <a:avLst/>
          </a:prstGeom>
          <a:solidFill>
            <a:srgbClr val="14213D">
              <a:alpha val="75000"/>
            </a:srgbClr>
          </a:solidFill>
          <a:ln w="12700">
            <a:solidFill>
              <a:srgbClr val="FCA311"/>
            </a:solidFill>
            <a:prstDash val="solid"/>
          </a:ln>
        </p:spPr>
      </p:sp>
      <p:sp>
        <p:nvSpPr>
          <p:cNvPr id="19" name="Text 16"/>
          <p:cNvSpPr txBox="1"/>
          <p:nvPr/>
        </p:nvSpPr>
        <p:spPr>
          <a:xfrm>
            <a:off x="8458200" y="5577840"/>
            <a:ext cx="548640" cy="731520"/>
          </a:xfrm>
          <a:prstGeom prst="rect">
            <a:avLst/>
          </a:prstGeom>
          <a:noFill/>
          <a:ln/>
        </p:spPr>
        <p:txBody>
          <a:bodyPr wrap="square" lIns="0" tIns="0" rIns="0" bIns="0" rtlCol="0" anchor="ctr"/>
          <a:lstStyle/>
          <a:p>
            <a:pPr indent="0" marL="0">
              <a:buNone/>
            </a:pPr>
            <a:r>
              <a:rPr lang="en-US" sz="2000" b="1" dirty="0">
                <a:solidFill>
                  <a:srgbClr val="FCA311"/>
                </a:solidFill>
                <a:latin typeface="Arial" pitchFamily="34" charset="0"/>
                <a:ea typeface="Arial" pitchFamily="34" charset="-122"/>
                <a:cs typeface="Arial" pitchFamily="34" charset="-120"/>
              </a:rPr>
              <a:t>03</a:t>
            </a:r>
            <a:endParaRPr lang="en-US" sz="2000" dirty="0"/>
          </a:p>
        </p:txBody>
      </p:sp>
      <p:sp>
        <p:nvSpPr>
          <p:cNvPr id="20" name="Text 17"/>
          <p:cNvSpPr txBox="1"/>
          <p:nvPr/>
        </p:nvSpPr>
        <p:spPr>
          <a:xfrm>
            <a:off x="9052560" y="5669280"/>
            <a:ext cx="2468880" cy="27432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Route</a:t>
            </a:r>
            <a:endParaRPr lang="en-US" sz="1400" dirty="0"/>
          </a:p>
        </p:txBody>
      </p:sp>
      <p:sp>
        <p:nvSpPr>
          <p:cNvPr id="21" name="Text 18"/>
          <p:cNvSpPr txBox="1"/>
          <p:nvPr/>
        </p:nvSpPr>
        <p:spPr>
          <a:xfrm>
            <a:off x="9052560" y="5943600"/>
            <a:ext cx="2468880" cy="274320"/>
          </a:xfrm>
          <a:prstGeom prst="rect">
            <a:avLst/>
          </a:prstGeom>
          <a:noFill/>
          <a:ln/>
        </p:spPr>
        <p:txBody>
          <a:bodyPr wrap="square" lIns="0" tIns="0" rIns="0" bIns="0" rtlCol="0" anchor="ctr"/>
          <a:lstStyle/>
          <a:p>
            <a:pPr indent="0" marL="0">
              <a:buNone/>
            </a:pPr>
            <a:r>
              <a:rPr lang="en-US" sz="1150" dirty="0">
                <a:solidFill>
                  <a:srgbClr val="F3F4F6"/>
                </a:solidFill>
                <a:latin typeface="Calibri" pitchFamily="34" charset="0"/>
                <a:ea typeface="Calibri" pitchFamily="34" charset="-122"/>
                <a:cs typeface="Calibri" pitchFamily="34" charset="-120"/>
              </a:rPr>
              <a:t>Which technology, which haul?</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548640" cy="274320"/>
          </a:xfrm>
          <a:prstGeom prst="rect">
            <a:avLst/>
          </a:prstGeom>
          <a:noFill/>
          <a:ln/>
        </p:spPr>
        <p:txBody>
          <a:bodyPr wrap="square" lIns="0" tIns="0" rIns="0" bIns="0" rtlCol="0" anchor="ctr"/>
          <a:lstStyle/>
          <a:p>
            <a:pPr indent="0" marL="0">
              <a:buNone/>
            </a:pPr>
            <a:r>
              <a:rPr lang="en-US" sz="1400" b="1" dirty="0">
                <a:solidFill>
                  <a:srgbClr val="FCA311"/>
                </a:solidFill>
                <a:latin typeface="Arial" pitchFamily="34" charset="0"/>
                <a:ea typeface="Arial" pitchFamily="34" charset="-122"/>
                <a:cs typeface="Arial" pitchFamily="34" charset="-120"/>
              </a:rPr>
              <a:t>01</a:t>
            </a:r>
            <a:endParaRPr lang="en-US" sz="1400" dirty="0"/>
          </a:p>
        </p:txBody>
      </p:sp>
      <p:sp>
        <p:nvSpPr>
          <p:cNvPr id="3" name="Text 1"/>
          <p:cNvSpPr txBox="1"/>
          <p:nvPr/>
        </p:nvSpPr>
        <p:spPr>
          <a:xfrm>
            <a:off x="1051560" y="384048"/>
            <a:ext cx="9144000" cy="274320"/>
          </a:xfrm>
          <a:prstGeom prst="rect">
            <a:avLst/>
          </a:prstGeom>
          <a:noFill/>
          <a:ln/>
        </p:spPr>
        <p:txBody>
          <a:bodyPr wrap="square" lIns="0" tIns="0" rIns="0" bIns="0" rtlCol="0" anchor="ctr"/>
          <a:lstStyle/>
          <a:p>
            <a:pPr indent="0" marL="0">
              <a:buNone/>
            </a:pPr>
            <a:r>
              <a:rPr lang="en-US" sz="1100" b="1" spc="150" kern="0" dirty="0">
                <a:solidFill>
                  <a:srgbClr val="6B7280"/>
                </a:solidFill>
                <a:latin typeface="Calibri" pitchFamily="34" charset="0"/>
                <a:ea typeface="Calibri" pitchFamily="34" charset="-122"/>
                <a:cs typeface="Calibri" pitchFamily="34" charset="-120"/>
              </a:rPr>
              <a:t>PROBLEM</a:t>
            </a:r>
            <a:endParaRPr lang="en-US" sz="1100" dirty="0"/>
          </a:p>
        </p:txBody>
      </p:sp>
      <p:sp>
        <p:nvSpPr>
          <p:cNvPr id="4" name="Text 2"/>
          <p:cNvSpPr txBox="1"/>
          <p:nvPr/>
        </p:nvSpPr>
        <p:spPr>
          <a:xfrm>
            <a:off x="548640" y="713232"/>
            <a:ext cx="11064240" cy="566928"/>
          </a:xfrm>
          <a:prstGeom prst="rect">
            <a:avLst/>
          </a:prstGeom>
          <a:noFill/>
          <a:ln/>
        </p:spPr>
        <p:txBody>
          <a:bodyPr wrap="square" lIns="0" tIns="0" rIns="0" bIns="0" rtlCol="0" anchor="t"/>
          <a:lstStyle/>
          <a:p>
            <a:pPr indent="0" marL="0">
              <a:buNone/>
            </a:pPr>
            <a:r>
              <a:rPr lang="en-US" sz="2800" b="1" dirty="0">
                <a:solidFill>
                  <a:srgbClr val="14213D"/>
                </a:solidFill>
                <a:latin typeface="Arial" pitchFamily="34" charset="0"/>
                <a:ea typeface="Arial" pitchFamily="34" charset="-122"/>
                <a:cs typeface="Arial" pitchFamily="34" charset="-120"/>
              </a:rPr>
              <a:t>Carbon is decided every day, and reported once a year</a:t>
            </a:r>
            <a:endParaRPr lang="en-US" sz="2800" dirty="0"/>
          </a:p>
        </p:txBody>
      </p:sp>
      <p:sp>
        <p:nvSpPr>
          <p:cNvPr id="5" name="Shape 3"/>
          <p:cNvSpPr/>
          <p:nvPr/>
        </p:nvSpPr>
        <p:spPr>
          <a:xfrm>
            <a:off x="548640" y="1508760"/>
            <a:ext cx="2651760" cy="3200400"/>
          </a:xfrm>
          <a:prstGeom prst="rect">
            <a:avLst/>
          </a:prstGeom>
          <a:solidFill>
            <a:srgbClr val="EEF1F5"/>
          </a:solidFill>
          <a:ln w="12700">
            <a:solidFill>
              <a:srgbClr val="EEF1F5"/>
            </a:solidFill>
            <a:prstDash val="solid"/>
          </a:ln>
        </p:spPr>
      </p:sp>
      <p:pic>
        <p:nvPicPr>
          <p:cNvPr id="6" name="Image 0" descr="/home/user/CarbonSpark/static/photos/grid.jpg">    </p:cNvPr>
          <p:cNvPicPr>
            <a:picLocks noChangeAspect="1"/>
          </p:cNvPicPr>
          <p:nvPr/>
        </p:nvPicPr>
        <p:blipFill>
          <a:blip r:embed="rId1"/>
          <a:srcRect l="0" r="0" t="0" b="0"/>
          <a:stretch/>
        </p:blipFill>
        <p:spPr>
          <a:xfrm>
            <a:off x="548640" y="1508760"/>
            <a:ext cx="2651760" cy="1325880"/>
          </a:xfrm>
          <a:prstGeom prst="rect">
            <a:avLst/>
          </a:prstGeom>
        </p:spPr>
      </p:pic>
      <p:sp>
        <p:nvSpPr>
          <p:cNvPr id="7" name="Text 4"/>
          <p:cNvSpPr txBox="1"/>
          <p:nvPr/>
        </p:nvSpPr>
        <p:spPr>
          <a:xfrm>
            <a:off x="713232" y="2944368"/>
            <a:ext cx="2377440" cy="320040"/>
          </a:xfrm>
          <a:prstGeom prst="rect">
            <a:avLst/>
          </a:prstGeom>
          <a:noFill/>
          <a:ln/>
        </p:spPr>
        <p:txBody>
          <a:bodyPr wrap="square" lIns="0" tIns="0" rIns="0" bIns="0" rtlCol="0" anchor="ctr"/>
          <a:lstStyle/>
          <a:p>
            <a:pPr indent="0" marL="0">
              <a:buNone/>
            </a:pPr>
            <a:r>
              <a:rPr lang="en-US" sz="1500" b="1" dirty="0">
                <a:solidFill>
                  <a:srgbClr val="14213D"/>
                </a:solidFill>
                <a:latin typeface="Arial" pitchFamily="34" charset="0"/>
                <a:ea typeface="Arial" pitchFamily="34" charset="-122"/>
                <a:cs typeface="Arial" pitchFamily="34" charset="-120"/>
              </a:rPr>
              <a:t>Procurement</a:t>
            </a:r>
            <a:endParaRPr lang="en-US" sz="1500" dirty="0"/>
          </a:p>
        </p:txBody>
      </p:sp>
      <p:sp>
        <p:nvSpPr>
          <p:cNvPr id="8" name="Text 5"/>
          <p:cNvSpPr txBox="1"/>
          <p:nvPr/>
        </p:nvSpPr>
        <p:spPr>
          <a:xfrm>
            <a:off x="713232" y="3264408"/>
            <a:ext cx="2377440" cy="274320"/>
          </a:xfrm>
          <a:prstGeom prst="rect">
            <a:avLst/>
          </a:prstGeom>
          <a:noFill/>
          <a:ln/>
        </p:spPr>
        <p:txBody>
          <a:bodyPr wrap="square" lIns="0" tIns="0" rIns="0" bIns="0" rtlCol="0" anchor="ctr"/>
          <a:lstStyle/>
          <a:p>
            <a:pPr indent="0" marL="0">
              <a:buNone/>
            </a:pPr>
            <a:r>
              <a:rPr lang="en-US" sz="1200" dirty="0">
                <a:solidFill>
                  <a:srgbClr val="4B5563"/>
                </a:solidFill>
                <a:latin typeface="Calibri" pitchFamily="34" charset="0"/>
                <a:ea typeface="Calibri" pitchFamily="34" charset="-122"/>
                <a:cs typeface="Calibri" pitchFamily="34" charset="-120"/>
              </a:rPr>
              <a:t>Signs power contracts</a:t>
            </a:r>
            <a:endParaRPr lang="en-US" sz="1200" dirty="0"/>
          </a:p>
        </p:txBody>
      </p:sp>
      <p:sp>
        <p:nvSpPr>
          <p:cNvPr id="9" name="Text 6"/>
          <p:cNvSpPr txBox="1"/>
          <p:nvPr/>
        </p:nvSpPr>
        <p:spPr>
          <a:xfrm>
            <a:off x="713232" y="3657600"/>
            <a:ext cx="1828800" cy="201168"/>
          </a:xfrm>
          <a:prstGeom prst="rect">
            <a:avLst/>
          </a:prstGeom>
          <a:noFill/>
          <a:ln/>
        </p:spPr>
        <p:txBody>
          <a:bodyPr wrap="square" lIns="0" tIns="0" rIns="0" bIns="0" rtlCol="0" anchor="ctr"/>
          <a:lstStyle/>
          <a:p>
            <a:pPr indent="0" marL="0">
              <a:buNone/>
            </a:pPr>
            <a:r>
              <a:rPr lang="en-US" sz="950" b="1" spc="150" kern="0" dirty="0">
                <a:solidFill>
                  <a:srgbClr val="C97A00"/>
                </a:solidFill>
                <a:latin typeface="Calibri" pitchFamily="34" charset="0"/>
                <a:ea typeface="Calibri" pitchFamily="34" charset="-122"/>
                <a:cs typeface="Calibri" pitchFamily="34" charset="-120"/>
              </a:rPr>
              <a:t>BLIND SPOT</a:t>
            </a:r>
            <a:endParaRPr lang="en-US" sz="950" dirty="0"/>
          </a:p>
        </p:txBody>
      </p:sp>
      <p:sp>
        <p:nvSpPr>
          <p:cNvPr id="10" name="Text 7"/>
          <p:cNvSpPr txBox="1"/>
          <p:nvPr/>
        </p:nvSpPr>
        <p:spPr>
          <a:xfrm>
            <a:off x="713232" y="3858768"/>
            <a:ext cx="2350008" cy="777240"/>
          </a:xfrm>
          <a:prstGeom prst="rect">
            <a:avLst/>
          </a:prstGeom>
          <a:noFill/>
          <a:ln/>
        </p:spPr>
        <p:txBody>
          <a:bodyPr wrap="square" lIns="0" tIns="0" rIns="0" bIns="0" rtlCol="0" anchor="t"/>
          <a:lstStyle/>
          <a:p>
            <a:pPr indent="0" marL="0">
              <a:buNone/>
            </a:pPr>
            <a:r>
              <a:rPr lang="en-US" sz="1150" dirty="0">
                <a:solidFill>
                  <a:srgbClr val="111827"/>
                </a:solidFill>
                <a:latin typeface="Calibri" pitchFamily="34" charset="0"/>
                <a:ea typeface="Calibri" pitchFamily="34" charset="-122"/>
                <a:cs typeface="Calibri" pitchFamily="34" charset="-120"/>
              </a:rPr>
              <a:t>Can't see that 0.1 kg/kWh on the grid ≈ 0.11 t per tonne of steel</a:t>
            </a:r>
            <a:endParaRPr lang="en-US" sz="1150" dirty="0"/>
          </a:p>
        </p:txBody>
      </p:sp>
      <p:sp>
        <p:nvSpPr>
          <p:cNvPr id="11" name="Shape 8"/>
          <p:cNvSpPr/>
          <p:nvPr/>
        </p:nvSpPr>
        <p:spPr>
          <a:xfrm>
            <a:off x="3355848" y="1508760"/>
            <a:ext cx="2651760" cy="3200400"/>
          </a:xfrm>
          <a:prstGeom prst="rect">
            <a:avLst/>
          </a:prstGeom>
          <a:solidFill>
            <a:srgbClr val="EEF1F5"/>
          </a:solidFill>
          <a:ln w="12700">
            <a:solidFill>
              <a:srgbClr val="EEF1F5"/>
            </a:solidFill>
            <a:prstDash val="solid"/>
          </a:ln>
        </p:spPr>
      </p:sp>
      <p:pic>
        <p:nvPicPr>
          <p:cNvPr id="12" name="Image 1" descr="/home/user/CarbonSpark/static/photos/scrap.jpg">    </p:cNvPr>
          <p:cNvPicPr>
            <a:picLocks noChangeAspect="1"/>
          </p:cNvPicPr>
          <p:nvPr/>
        </p:nvPicPr>
        <p:blipFill>
          <a:blip r:embed="rId2"/>
          <a:srcRect l="0" r="0" t="0" b="0"/>
          <a:stretch/>
        </p:blipFill>
        <p:spPr>
          <a:xfrm>
            <a:off x="3355848" y="1508760"/>
            <a:ext cx="2651760" cy="1325880"/>
          </a:xfrm>
          <a:prstGeom prst="rect">
            <a:avLst/>
          </a:prstGeom>
        </p:spPr>
      </p:pic>
      <p:sp>
        <p:nvSpPr>
          <p:cNvPr id="13" name="Text 9"/>
          <p:cNvSpPr txBox="1"/>
          <p:nvPr/>
        </p:nvSpPr>
        <p:spPr>
          <a:xfrm>
            <a:off x="3520440" y="2944368"/>
            <a:ext cx="2377440" cy="320040"/>
          </a:xfrm>
          <a:prstGeom prst="rect">
            <a:avLst/>
          </a:prstGeom>
          <a:noFill/>
          <a:ln/>
        </p:spPr>
        <p:txBody>
          <a:bodyPr wrap="square" lIns="0" tIns="0" rIns="0" bIns="0" rtlCol="0" anchor="ctr"/>
          <a:lstStyle/>
          <a:p>
            <a:pPr indent="0" marL="0">
              <a:buNone/>
            </a:pPr>
            <a:r>
              <a:rPr lang="en-US" sz="1500" b="1" dirty="0">
                <a:solidFill>
                  <a:srgbClr val="14213D"/>
                </a:solidFill>
                <a:latin typeface="Arial" pitchFamily="34" charset="0"/>
                <a:ea typeface="Arial" pitchFamily="34" charset="-122"/>
                <a:cs typeface="Arial" pitchFamily="34" charset="-120"/>
              </a:rPr>
              <a:t>Melt shop</a:t>
            </a:r>
            <a:endParaRPr lang="en-US" sz="1500" dirty="0"/>
          </a:p>
        </p:txBody>
      </p:sp>
      <p:sp>
        <p:nvSpPr>
          <p:cNvPr id="14" name="Text 10"/>
          <p:cNvSpPr txBox="1"/>
          <p:nvPr/>
        </p:nvSpPr>
        <p:spPr>
          <a:xfrm>
            <a:off x="3520440" y="3264408"/>
            <a:ext cx="2377440" cy="274320"/>
          </a:xfrm>
          <a:prstGeom prst="rect">
            <a:avLst/>
          </a:prstGeom>
          <a:noFill/>
          <a:ln/>
        </p:spPr>
        <p:txBody>
          <a:bodyPr wrap="square" lIns="0" tIns="0" rIns="0" bIns="0" rtlCol="0" anchor="ctr"/>
          <a:lstStyle/>
          <a:p>
            <a:pPr indent="0" marL="0">
              <a:buNone/>
            </a:pPr>
            <a:r>
              <a:rPr lang="en-US" sz="1200" dirty="0">
                <a:solidFill>
                  <a:srgbClr val="4B5563"/>
                </a:solidFill>
                <a:latin typeface="Calibri" pitchFamily="34" charset="0"/>
                <a:ea typeface="Calibri" pitchFamily="34" charset="-122"/>
                <a:cs typeface="Calibri" pitchFamily="34" charset="-120"/>
              </a:rPr>
              <a:t>Sets the charge mix</a:t>
            </a:r>
            <a:endParaRPr lang="en-US" sz="1200" dirty="0"/>
          </a:p>
        </p:txBody>
      </p:sp>
      <p:sp>
        <p:nvSpPr>
          <p:cNvPr id="15" name="Text 11"/>
          <p:cNvSpPr txBox="1"/>
          <p:nvPr/>
        </p:nvSpPr>
        <p:spPr>
          <a:xfrm>
            <a:off x="3520440" y="3657600"/>
            <a:ext cx="1828800" cy="201168"/>
          </a:xfrm>
          <a:prstGeom prst="rect">
            <a:avLst/>
          </a:prstGeom>
          <a:noFill/>
          <a:ln/>
        </p:spPr>
        <p:txBody>
          <a:bodyPr wrap="square" lIns="0" tIns="0" rIns="0" bIns="0" rtlCol="0" anchor="ctr"/>
          <a:lstStyle/>
          <a:p>
            <a:pPr indent="0" marL="0">
              <a:buNone/>
            </a:pPr>
            <a:r>
              <a:rPr lang="en-US" sz="950" b="1" spc="150" kern="0" dirty="0">
                <a:solidFill>
                  <a:srgbClr val="C97A00"/>
                </a:solidFill>
                <a:latin typeface="Calibri" pitchFamily="34" charset="0"/>
                <a:ea typeface="Calibri" pitchFamily="34" charset="-122"/>
                <a:cs typeface="Calibri" pitchFamily="34" charset="-120"/>
              </a:rPr>
              <a:t>BLIND SPOT</a:t>
            </a:r>
            <a:endParaRPr lang="en-US" sz="950" dirty="0"/>
          </a:p>
        </p:txBody>
      </p:sp>
      <p:sp>
        <p:nvSpPr>
          <p:cNvPr id="16" name="Text 12"/>
          <p:cNvSpPr txBox="1"/>
          <p:nvPr/>
        </p:nvSpPr>
        <p:spPr>
          <a:xfrm>
            <a:off x="3520440" y="3858768"/>
            <a:ext cx="2350008" cy="777240"/>
          </a:xfrm>
          <a:prstGeom prst="rect">
            <a:avLst/>
          </a:prstGeom>
          <a:noFill/>
          <a:ln/>
        </p:spPr>
        <p:txBody>
          <a:bodyPr wrap="square" lIns="0" tIns="0" rIns="0" bIns="0" rtlCol="0" anchor="t"/>
          <a:lstStyle/>
          <a:p>
            <a:pPr indent="0" marL="0">
              <a:buNone/>
            </a:pPr>
            <a:r>
              <a:rPr lang="en-US" sz="1150" dirty="0">
                <a:solidFill>
                  <a:srgbClr val="111827"/>
                </a:solidFill>
                <a:latin typeface="Calibri" pitchFamily="34" charset="0"/>
                <a:ea typeface="Calibri" pitchFamily="34" charset="-122"/>
                <a:cs typeface="Calibri" pitchFamily="34" charset="-120"/>
              </a:rPr>
              <a:t>Can't see that each point of scrap ≈ 35 kg CO₂e per tonne</a:t>
            </a:r>
            <a:endParaRPr lang="en-US" sz="1150" dirty="0"/>
          </a:p>
        </p:txBody>
      </p:sp>
      <p:sp>
        <p:nvSpPr>
          <p:cNvPr id="17" name="Shape 13"/>
          <p:cNvSpPr/>
          <p:nvPr/>
        </p:nvSpPr>
        <p:spPr>
          <a:xfrm>
            <a:off x="6163056" y="1508760"/>
            <a:ext cx="2651760" cy="3200400"/>
          </a:xfrm>
          <a:prstGeom prst="rect">
            <a:avLst/>
          </a:prstGeom>
          <a:solidFill>
            <a:srgbClr val="EEF1F5"/>
          </a:solidFill>
          <a:ln w="12700">
            <a:solidFill>
              <a:srgbClr val="EEF1F5"/>
            </a:solidFill>
            <a:prstDash val="solid"/>
          </a:ln>
        </p:spPr>
      </p:sp>
      <p:pic>
        <p:nvPicPr>
          <p:cNvPr id="18" name="Image 2" descr="/home/user/CarbonSpark/static/photos/dept_inbound.jpg">    </p:cNvPr>
          <p:cNvPicPr>
            <a:picLocks noChangeAspect="1"/>
          </p:cNvPicPr>
          <p:nvPr/>
        </p:nvPicPr>
        <p:blipFill>
          <a:blip r:embed="rId3"/>
          <a:srcRect l="0" r="0" t="0" b="0"/>
          <a:stretch/>
        </p:blipFill>
        <p:spPr>
          <a:xfrm>
            <a:off x="6163056" y="1508760"/>
            <a:ext cx="2651760" cy="1325880"/>
          </a:xfrm>
          <a:prstGeom prst="rect">
            <a:avLst/>
          </a:prstGeom>
        </p:spPr>
      </p:pic>
      <p:sp>
        <p:nvSpPr>
          <p:cNvPr id="19" name="Text 14"/>
          <p:cNvSpPr txBox="1"/>
          <p:nvPr/>
        </p:nvSpPr>
        <p:spPr>
          <a:xfrm>
            <a:off x="6327648" y="2944368"/>
            <a:ext cx="2377440" cy="320040"/>
          </a:xfrm>
          <a:prstGeom prst="rect">
            <a:avLst/>
          </a:prstGeom>
          <a:noFill/>
          <a:ln/>
        </p:spPr>
        <p:txBody>
          <a:bodyPr wrap="square" lIns="0" tIns="0" rIns="0" bIns="0" rtlCol="0" anchor="ctr"/>
          <a:lstStyle/>
          <a:p>
            <a:pPr indent="0" marL="0">
              <a:buNone/>
            </a:pPr>
            <a:r>
              <a:rPr lang="en-US" sz="1500" b="1" dirty="0">
                <a:solidFill>
                  <a:srgbClr val="14213D"/>
                </a:solidFill>
                <a:latin typeface="Arial" pitchFamily="34" charset="0"/>
                <a:ea typeface="Arial" pitchFamily="34" charset="-122"/>
                <a:cs typeface="Arial" pitchFamily="34" charset="-120"/>
              </a:rPr>
              <a:t>Logistics</a:t>
            </a:r>
            <a:endParaRPr lang="en-US" sz="1500" dirty="0"/>
          </a:p>
        </p:txBody>
      </p:sp>
      <p:sp>
        <p:nvSpPr>
          <p:cNvPr id="20" name="Text 15"/>
          <p:cNvSpPr txBox="1"/>
          <p:nvPr/>
        </p:nvSpPr>
        <p:spPr>
          <a:xfrm>
            <a:off x="6327648" y="3264408"/>
            <a:ext cx="2377440" cy="274320"/>
          </a:xfrm>
          <a:prstGeom prst="rect">
            <a:avLst/>
          </a:prstGeom>
          <a:noFill/>
          <a:ln/>
        </p:spPr>
        <p:txBody>
          <a:bodyPr wrap="square" lIns="0" tIns="0" rIns="0" bIns="0" rtlCol="0" anchor="ctr"/>
          <a:lstStyle/>
          <a:p>
            <a:pPr indent="0" marL="0">
              <a:buNone/>
            </a:pPr>
            <a:r>
              <a:rPr lang="en-US" sz="1200" dirty="0">
                <a:solidFill>
                  <a:srgbClr val="4B5563"/>
                </a:solidFill>
                <a:latin typeface="Calibri" pitchFamily="34" charset="0"/>
                <a:ea typeface="Calibri" pitchFamily="34" charset="-122"/>
                <a:cs typeface="Calibri" pitchFamily="34" charset="-120"/>
              </a:rPr>
              <a:t>Books rail or road</a:t>
            </a:r>
            <a:endParaRPr lang="en-US" sz="1200" dirty="0"/>
          </a:p>
        </p:txBody>
      </p:sp>
      <p:sp>
        <p:nvSpPr>
          <p:cNvPr id="21" name="Text 16"/>
          <p:cNvSpPr txBox="1"/>
          <p:nvPr/>
        </p:nvSpPr>
        <p:spPr>
          <a:xfrm>
            <a:off x="6327648" y="3657600"/>
            <a:ext cx="1828800" cy="201168"/>
          </a:xfrm>
          <a:prstGeom prst="rect">
            <a:avLst/>
          </a:prstGeom>
          <a:noFill/>
          <a:ln/>
        </p:spPr>
        <p:txBody>
          <a:bodyPr wrap="square" lIns="0" tIns="0" rIns="0" bIns="0" rtlCol="0" anchor="ctr"/>
          <a:lstStyle/>
          <a:p>
            <a:pPr indent="0" marL="0">
              <a:buNone/>
            </a:pPr>
            <a:r>
              <a:rPr lang="en-US" sz="950" b="1" spc="150" kern="0" dirty="0">
                <a:solidFill>
                  <a:srgbClr val="C97A00"/>
                </a:solidFill>
                <a:latin typeface="Calibri" pitchFamily="34" charset="0"/>
                <a:ea typeface="Calibri" pitchFamily="34" charset="-122"/>
                <a:cs typeface="Calibri" pitchFamily="34" charset="-120"/>
              </a:rPr>
              <a:t>BLIND SPOT</a:t>
            </a:r>
            <a:endParaRPr lang="en-US" sz="950" dirty="0"/>
          </a:p>
        </p:txBody>
      </p:sp>
      <p:sp>
        <p:nvSpPr>
          <p:cNvPr id="22" name="Text 17"/>
          <p:cNvSpPr txBox="1"/>
          <p:nvPr/>
        </p:nvSpPr>
        <p:spPr>
          <a:xfrm>
            <a:off x="6327648" y="3858768"/>
            <a:ext cx="2350008" cy="777240"/>
          </a:xfrm>
          <a:prstGeom prst="rect">
            <a:avLst/>
          </a:prstGeom>
          <a:noFill/>
          <a:ln/>
        </p:spPr>
        <p:txBody>
          <a:bodyPr wrap="square" lIns="0" tIns="0" rIns="0" bIns="0" rtlCol="0" anchor="t"/>
          <a:lstStyle/>
          <a:p>
            <a:pPr indent="0" marL="0">
              <a:buNone/>
            </a:pPr>
            <a:r>
              <a:rPr lang="en-US" sz="1150" dirty="0">
                <a:solidFill>
                  <a:srgbClr val="111827"/>
                </a:solidFill>
                <a:latin typeface="Calibri" pitchFamily="34" charset="0"/>
                <a:ea typeface="Calibri" pitchFamily="34" charset="-122"/>
                <a:cs typeface="Calibri" pitchFamily="34" charset="-120"/>
              </a:rPr>
              <a:t>Can't see that it's worth under 1% of the tonne</a:t>
            </a:r>
            <a:endParaRPr lang="en-US" sz="1150" dirty="0"/>
          </a:p>
        </p:txBody>
      </p:sp>
      <p:sp>
        <p:nvSpPr>
          <p:cNvPr id="23" name="Shape 18"/>
          <p:cNvSpPr/>
          <p:nvPr/>
        </p:nvSpPr>
        <p:spPr>
          <a:xfrm>
            <a:off x="8970264" y="1508760"/>
            <a:ext cx="2651760" cy="3200400"/>
          </a:xfrm>
          <a:prstGeom prst="rect">
            <a:avLst/>
          </a:prstGeom>
          <a:solidFill>
            <a:srgbClr val="EEF1F5"/>
          </a:solidFill>
          <a:ln w="12700">
            <a:solidFill>
              <a:srgbClr val="EEF1F5"/>
            </a:solidFill>
            <a:prstDash val="solid"/>
          </a:ln>
        </p:spPr>
      </p:sp>
      <p:pic>
        <p:nvPicPr>
          <p:cNvPr id="24" name="Image 3" descr="/home/user/CarbonSpark/static/photos/mill.jpg">    </p:cNvPr>
          <p:cNvPicPr>
            <a:picLocks noChangeAspect="1"/>
          </p:cNvPicPr>
          <p:nvPr/>
        </p:nvPicPr>
        <p:blipFill>
          <a:blip r:embed="rId4"/>
          <a:srcRect l="0" r="0" t="0" b="0"/>
          <a:stretch/>
        </p:blipFill>
        <p:spPr>
          <a:xfrm>
            <a:off x="8970264" y="1508760"/>
            <a:ext cx="2651760" cy="1325880"/>
          </a:xfrm>
          <a:prstGeom prst="rect">
            <a:avLst/>
          </a:prstGeom>
        </p:spPr>
      </p:pic>
      <p:sp>
        <p:nvSpPr>
          <p:cNvPr id="25" name="Text 19"/>
          <p:cNvSpPr txBox="1"/>
          <p:nvPr/>
        </p:nvSpPr>
        <p:spPr>
          <a:xfrm>
            <a:off x="9134856" y="2944368"/>
            <a:ext cx="2377440" cy="320040"/>
          </a:xfrm>
          <a:prstGeom prst="rect">
            <a:avLst/>
          </a:prstGeom>
          <a:noFill/>
          <a:ln/>
        </p:spPr>
        <p:txBody>
          <a:bodyPr wrap="square" lIns="0" tIns="0" rIns="0" bIns="0" rtlCol="0" anchor="ctr"/>
          <a:lstStyle/>
          <a:p>
            <a:pPr indent="0" marL="0">
              <a:buNone/>
            </a:pPr>
            <a:r>
              <a:rPr lang="en-US" sz="1500" b="1" dirty="0">
                <a:solidFill>
                  <a:srgbClr val="14213D"/>
                </a:solidFill>
                <a:latin typeface="Arial" pitchFamily="34" charset="0"/>
                <a:ea typeface="Arial" pitchFamily="34" charset="-122"/>
                <a:cs typeface="Arial" pitchFamily="34" charset="-120"/>
              </a:rPr>
              <a:t>Operations</a:t>
            </a:r>
            <a:endParaRPr lang="en-US" sz="1500" dirty="0"/>
          </a:p>
        </p:txBody>
      </p:sp>
      <p:sp>
        <p:nvSpPr>
          <p:cNvPr id="26" name="Text 20"/>
          <p:cNvSpPr txBox="1"/>
          <p:nvPr/>
        </p:nvSpPr>
        <p:spPr>
          <a:xfrm>
            <a:off x="9134856" y="3264408"/>
            <a:ext cx="2377440" cy="274320"/>
          </a:xfrm>
          <a:prstGeom prst="rect">
            <a:avLst/>
          </a:prstGeom>
          <a:noFill/>
          <a:ln/>
        </p:spPr>
        <p:txBody>
          <a:bodyPr wrap="square" lIns="0" tIns="0" rIns="0" bIns="0" rtlCol="0" anchor="ctr"/>
          <a:lstStyle/>
          <a:p>
            <a:pPr indent="0" marL="0">
              <a:buNone/>
            </a:pPr>
            <a:r>
              <a:rPr lang="en-US" sz="1200" dirty="0">
                <a:solidFill>
                  <a:srgbClr val="4B5563"/>
                </a:solidFill>
                <a:latin typeface="Calibri" pitchFamily="34" charset="0"/>
                <a:ea typeface="Calibri" pitchFamily="34" charset="-122"/>
                <a:cs typeface="Calibri" pitchFamily="34" charset="-120"/>
              </a:rPr>
              <a:t>Runs the process route</a:t>
            </a:r>
            <a:endParaRPr lang="en-US" sz="1200" dirty="0"/>
          </a:p>
        </p:txBody>
      </p:sp>
      <p:sp>
        <p:nvSpPr>
          <p:cNvPr id="27" name="Text 21"/>
          <p:cNvSpPr txBox="1"/>
          <p:nvPr/>
        </p:nvSpPr>
        <p:spPr>
          <a:xfrm>
            <a:off x="9134856" y="3657600"/>
            <a:ext cx="1828800" cy="201168"/>
          </a:xfrm>
          <a:prstGeom prst="rect">
            <a:avLst/>
          </a:prstGeom>
          <a:noFill/>
          <a:ln/>
        </p:spPr>
        <p:txBody>
          <a:bodyPr wrap="square" lIns="0" tIns="0" rIns="0" bIns="0" rtlCol="0" anchor="ctr"/>
          <a:lstStyle/>
          <a:p>
            <a:pPr indent="0" marL="0">
              <a:buNone/>
            </a:pPr>
            <a:r>
              <a:rPr lang="en-US" sz="950" b="1" spc="150" kern="0" dirty="0">
                <a:solidFill>
                  <a:srgbClr val="C97A00"/>
                </a:solidFill>
                <a:latin typeface="Calibri" pitchFamily="34" charset="0"/>
                <a:ea typeface="Calibri" pitchFamily="34" charset="-122"/>
                <a:cs typeface="Calibri" pitchFamily="34" charset="-120"/>
              </a:rPr>
              <a:t>BLIND SPOT</a:t>
            </a:r>
            <a:endParaRPr lang="en-US" sz="950" dirty="0"/>
          </a:p>
        </p:txBody>
      </p:sp>
      <p:sp>
        <p:nvSpPr>
          <p:cNvPr id="28" name="Text 22"/>
          <p:cNvSpPr txBox="1"/>
          <p:nvPr/>
        </p:nvSpPr>
        <p:spPr>
          <a:xfrm>
            <a:off x="9134856" y="3858768"/>
            <a:ext cx="2350008" cy="777240"/>
          </a:xfrm>
          <a:prstGeom prst="rect">
            <a:avLst/>
          </a:prstGeom>
          <a:noFill/>
          <a:ln/>
        </p:spPr>
        <p:txBody>
          <a:bodyPr wrap="square" lIns="0" tIns="0" rIns="0" bIns="0" rtlCol="0" anchor="t"/>
          <a:lstStyle/>
          <a:p>
            <a:pPr indent="0" marL="0">
              <a:buNone/>
            </a:pPr>
            <a:r>
              <a:rPr lang="en-US" sz="1150" dirty="0">
                <a:solidFill>
                  <a:srgbClr val="111827"/>
                </a:solidFill>
                <a:latin typeface="Calibri" pitchFamily="34" charset="0"/>
                <a:ea typeface="Calibri" pitchFamily="34" charset="-122"/>
                <a:cs typeface="Calibri" pitchFamily="34" charset="-120"/>
              </a:rPr>
              <a:t>Can't see which stage the carbon actually sits in</a:t>
            </a:r>
            <a:endParaRPr lang="en-US" sz="1150" dirty="0"/>
          </a:p>
        </p:txBody>
      </p:sp>
      <p:sp>
        <p:nvSpPr>
          <p:cNvPr id="29" name="Shape 23"/>
          <p:cNvSpPr/>
          <p:nvPr/>
        </p:nvSpPr>
        <p:spPr>
          <a:xfrm>
            <a:off x="548640" y="4983480"/>
            <a:ext cx="11091672" cy="1371600"/>
          </a:xfrm>
          <a:prstGeom prst="rect">
            <a:avLst/>
          </a:prstGeom>
          <a:solidFill>
            <a:srgbClr val="14213D"/>
          </a:solidFill>
          <a:ln w="12700">
            <a:solidFill>
              <a:srgbClr val="14213D"/>
            </a:solidFill>
            <a:prstDash val="solid"/>
          </a:ln>
        </p:spPr>
      </p:sp>
      <p:sp>
        <p:nvSpPr>
          <p:cNvPr id="30" name="Text 24"/>
          <p:cNvSpPr txBox="1"/>
          <p:nvPr/>
        </p:nvSpPr>
        <p:spPr>
          <a:xfrm>
            <a:off x="777240" y="5138928"/>
            <a:ext cx="1371600" cy="27432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Decision</a:t>
            </a:r>
            <a:endParaRPr lang="en-US" sz="1300" dirty="0"/>
          </a:p>
        </p:txBody>
      </p:sp>
      <p:sp>
        <p:nvSpPr>
          <p:cNvPr id="31" name="Text 25"/>
          <p:cNvSpPr txBox="1"/>
          <p:nvPr/>
        </p:nvSpPr>
        <p:spPr>
          <a:xfrm>
            <a:off x="777240" y="5413248"/>
            <a:ext cx="1371600" cy="228600"/>
          </a:xfrm>
          <a:prstGeom prst="rect">
            <a:avLst/>
          </a:prstGeom>
          <a:noFill/>
          <a:ln/>
        </p:spPr>
        <p:txBody>
          <a:bodyPr wrap="square" lIns="0" tIns="0" rIns="0" bIns="0" rtlCol="0" anchor="ctr"/>
          <a:lstStyle/>
          <a:p>
            <a:pPr indent="0" marL="0">
              <a:buNone/>
            </a:pPr>
            <a:r>
              <a:rPr lang="en-US" sz="1100" dirty="0">
                <a:solidFill>
                  <a:srgbClr val="AAB4C3"/>
                </a:solidFill>
                <a:latin typeface="Calibri" pitchFamily="34" charset="0"/>
                <a:ea typeface="Calibri" pitchFamily="34" charset="-122"/>
                <a:cs typeface="Calibri" pitchFamily="34" charset="-120"/>
              </a:rPr>
              <a:t>Day 1</a:t>
            </a:r>
            <a:endParaRPr lang="en-US" sz="1100" dirty="0"/>
          </a:p>
        </p:txBody>
      </p:sp>
      <p:sp>
        <p:nvSpPr>
          <p:cNvPr id="32" name="Shape 26"/>
          <p:cNvSpPr/>
          <p:nvPr/>
        </p:nvSpPr>
        <p:spPr>
          <a:xfrm>
            <a:off x="2103120" y="5321808"/>
            <a:ext cx="4023360" cy="0"/>
          </a:xfrm>
          <a:prstGeom prst="line">
            <a:avLst/>
          </a:prstGeom>
          <a:noFill/>
          <a:ln w="25400">
            <a:solidFill>
              <a:srgbClr val="FCA311"/>
            </a:solidFill>
            <a:prstDash val="dash"/>
            <a:tailEnd type="triangle"/>
          </a:ln>
        </p:spPr>
      </p:sp>
      <p:sp>
        <p:nvSpPr>
          <p:cNvPr id="33" name="Text 27"/>
          <p:cNvSpPr txBox="1"/>
          <p:nvPr/>
        </p:nvSpPr>
        <p:spPr>
          <a:xfrm>
            <a:off x="3200400" y="5394960"/>
            <a:ext cx="2011680" cy="228600"/>
          </a:xfrm>
          <a:prstGeom prst="rect">
            <a:avLst/>
          </a:prstGeom>
          <a:noFill/>
          <a:ln/>
        </p:spPr>
        <p:txBody>
          <a:bodyPr wrap="square" lIns="0" tIns="0" rIns="0" bIns="0" rtlCol="0" anchor="ctr"/>
          <a:lstStyle/>
          <a:p>
            <a:pPr algn="ctr" indent="0" marL="0">
              <a:buNone/>
            </a:pPr>
            <a:r>
              <a:rPr lang="en-US" sz="1100" i="1" dirty="0">
                <a:solidFill>
                  <a:srgbClr val="FCA311"/>
                </a:solidFill>
                <a:latin typeface="Calibri" pitchFamily="34" charset="0"/>
                <a:ea typeface="Calibri" pitchFamily="34" charset="-122"/>
                <a:cs typeface="Calibri" pitchFamily="34" charset="-120"/>
              </a:rPr>
              <a:t>up to 365 days</a:t>
            </a:r>
            <a:endParaRPr lang="en-US" sz="1100" dirty="0"/>
          </a:p>
        </p:txBody>
      </p:sp>
      <p:sp>
        <p:nvSpPr>
          <p:cNvPr id="34" name="Text 28"/>
          <p:cNvSpPr txBox="1"/>
          <p:nvPr/>
        </p:nvSpPr>
        <p:spPr>
          <a:xfrm>
            <a:off x="6263640" y="5138928"/>
            <a:ext cx="2103120" cy="27432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BRSR / annual report</a:t>
            </a:r>
            <a:endParaRPr lang="en-US" sz="1300" dirty="0"/>
          </a:p>
        </p:txBody>
      </p:sp>
      <p:sp>
        <p:nvSpPr>
          <p:cNvPr id="35" name="Text 29"/>
          <p:cNvSpPr txBox="1"/>
          <p:nvPr/>
        </p:nvSpPr>
        <p:spPr>
          <a:xfrm>
            <a:off x="6263640" y="5413248"/>
            <a:ext cx="2103120" cy="228600"/>
          </a:xfrm>
          <a:prstGeom prst="rect">
            <a:avLst/>
          </a:prstGeom>
          <a:noFill/>
          <a:ln/>
        </p:spPr>
        <p:txBody>
          <a:bodyPr wrap="square" lIns="0" tIns="0" rIns="0" bIns="0" rtlCol="0" anchor="ctr"/>
          <a:lstStyle/>
          <a:p>
            <a:pPr indent="0" marL="0">
              <a:buNone/>
            </a:pPr>
            <a:r>
              <a:rPr lang="en-US" sz="1100" dirty="0">
                <a:solidFill>
                  <a:srgbClr val="AAB4C3"/>
                </a:solidFill>
                <a:latin typeface="Calibri" pitchFamily="34" charset="0"/>
                <a:ea typeface="Calibri" pitchFamily="34" charset="-122"/>
                <a:cs typeface="Calibri" pitchFamily="34" charset="-120"/>
              </a:rPr>
              <a:t>Carbon becomes visible</a:t>
            </a:r>
            <a:endParaRPr lang="en-US" sz="1100" dirty="0"/>
          </a:p>
        </p:txBody>
      </p:sp>
      <p:sp>
        <p:nvSpPr>
          <p:cNvPr id="36" name="Text 30"/>
          <p:cNvSpPr txBox="1"/>
          <p:nvPr/>
        </p:nvSpPr>
        <p:spPr>
          <a:xfrm>
            <a:off x="8686800" y="5074920"/>
            <a:ext cx="2834640" cy="1188720"/>
          </a:xfrm>
          <a:prstGeom prst="rect">
            <a:avLst/>
          </a:prstGeom>
          <a:noFill/>
          <a:ln/>
        </p:spPr>
        <p:txBody>
          <a:bodyPr wrap="square" lIns="0" tIns="0" rIns="0" bIns="0" rtlCol="0" anchor="ctr"/>
          <a:lstStyle/>
          <a:p>
            <a:pPr indent="0" marL="0">
              <a:buNone/>
            </a:pPr>
            <a:r>
              <a:rPr lang="en-US" sz="3000" b="1" dirty="0">
                <a:solidFill>
                  <a:srgbClr val="FCA311"/>
                </a:solidFill>
                <a:latin typeface="Arial" pitchFamily="34" charset="0"/>
                <a:ea typeface="Arial" pitchFamily="34" charset="-122"/>
                <a:cs typeface="Arial" pitchFamily="34" charset="-120"/>
              </a:rPr>
              <a:t>2.887</a:t>
            </a:r>
            <a:endParaRPr lang="en-US" sz="3000" dirty="0"/>
          </a:p>
          <a:p>
            <a:pPr indent="0" marL="0">
              <a:buNone/>
            </a:pPr>
            <a:r>
              <a:rPr lang="en-US" sz="1100" dirty="0">
                <a:solidFill>
                  <a:srgbClr val="F3F4F6"/>
                </a:solidFill>
                <a:latin typeface="Calibri" pitchFamily="34" charset="0"/>
                <a:ea typeface="Calibri" pitchFamily="34" charset="-122"/>
                <a:cs typeface="Calibri" pitchFamily="34" charset="-120"/>
              </a:rPr>
              <a:t>tCO₂e per tonne at JSL Jajpur, as modelled. It arrives after the choices are made.</a:t>
            </a:r>
            <a:endParaRPr lang="en-US" sz="3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213D"/>
        </a:solidFill>
      </p:bgPr>
    </p:bg>
    <p:spTree>
      <p:nvGrpSpPr>
        <p:cNvPr id="1" name=""/>
        <p:cNvGrpSpPr/>
        <p:nvPr/>
      </p:nvGrpSpPr>
      <p:grpSpPr>
        <a:xfrm>
          <a:off x="0" y="0"/>
          <a:ext cx="0" cy="0"/>
          <a:chOff x="0" y="0"/>
          <a:chExt cx="0" cy="0"/>
        </a:xfrm>
      </p:grpSpPr>
      <p:pic>
        <p:nvPicPr>
          <p:cNvPr id="2" name="Image 0" descr="/home/user/CarbonSpark/static/photos/melt.jpg">    </p:cNvPr>
          <p:cNvPicPr>
            <a:picLocks noChangeAspect="1"/>
          </p:cNvPicPr>
          <p:nvPr/>
        </p:nvPicPr>
        <p:blipFill>
          <a:blip r:embed="rId1"/>
          <a:srcRect l="0" r="0" t="0" b="0"/>
          <a:stretch/>
        </p:blipFill>
        <p:spPr>
          <a:xfrm>
            <a:off x="0" y="0"/>
            <a:ext cx="4206240" cy="6858000"/>
          </a:xfrm>
          <a:prstGeom prst="rect">
            <a:avLst/>
          </a:prstGeom>
        </p:spPr>
      </p:pic>
      <p:sp>
        <p:nvSpPr>
          <p:cNvPr id="3" name="Shape 0"/>
          <p:cNvSpPr/>
          <p:nvPr/>
        </p:nvSpPr>
        <p:spPr>
          <a:xfrm>
            <a:off x="0" y="0"/>
            <a:ext cx="4206240" cy="6858000"/>
          </a:xfrm>
          <a:prstGeom prst="rect">
            <a:avLst/>
          </a:prstGeom>
          <a:solidFill>
            <a:srgbClr val="14213D">
              <a:alpha val="70000"/>
            </a:srgbClr>
          </a:solidFill>
          <a:ln w="12700">
            <a:solidFill>
              <a:srgbClr val="14213D">
                <a:alpha val="0"/>
              </a:srgbClr>
            </a:solidFill>
            <a:prstDash val="solid"/>
          </a:ln>
        </p:spPr>
      </p:sp>
      <p:sp>
        <p:nvSpPr>
          <p:cNvPr id="4" name="Text 1"/>
          <p:cNvSpPr txBox="1"/>
          <p:nvPr/>
        </p:nvSpPr>
        <p:spPr>
          <a:xfrm>
            <a:off x="457200" y="384048"/>
            <a:ext cx="548640" cy="274320"/>
          </a:xfrm>
          <a:prstGeom prst="rect">
            <a:avLst/>
          </a:prstGeom>
          <a:noFill/>
          <a:ln/>
        </p:spPr>
        <p:txBody>
          <a:bodyPr wrap="square" lIns="0" tIns="0" rIns="0" bIns="0" rtlCol="0" anchor="ctr"/>
          <a:lstStyle/>
          <a:p>
            <a:pPr indent="0" marL="0">
              <a:buNone/>
            </a:pPr>
            <a:r>
              <a:rPr lang="en-US" sz="1400" b="1" dirty="0">
                <a:solidFill>
                  <a:srgbClr val="FCA311"/>
                </a:solidFill>
                <a:latin typeface="Arial" pitchFamily="34" charset="0"/>
                <a:ea typeface="Arial" pitchFamily="34" charset="-122"/>
                <a:cs typeface="Arial" pitchFamily="34" charset="-120"/>
              </a:rPr>
              <a:t>02</a:t>
            </a:r>
            <a:endParaRPr lang="en-US" sz="1400" dirty="0"/>
          </a:p>
        </p:txBody>
      </p:sp>
      <p:sp>
        <p:nvSpPr>
          <p:cNvPr id="5" name="Text 2"/>
          <p:cNvSpPr txBox="1"/>
          <p:nvPr/>
        </p:nvSpPr>
        <p:spPr>
          <a:xfrm>
            <a:off x="960120" y="384048"/>
            <a:ext cx="3108960" cy="274320"/>
          </a:xfrm>
          <a:prstGeom prst="rect">
            <a:avLst/>
          </a:prstGeom>
          <a:noFill/>
          <a:ln/>
        </p:spPr>
        <p:txBody>
          <a:bodyPr wrap="square" lIns="0" tIns="0" rIns="0" bIns="0" rtlCol="0" anchor="ctr"/>
          <a:lstStyle/>
          <a:p>
            <a:pPr indent="0" marL="0">
              <a:buNone/>
            </a:pPr>
            <a:r>
              <a:rPr lang="en-US" sz="1100" b="1" spc="150" kern="0" dirty="0">
                <a:solidFill>
                  <a:srgbClr val="F3F4F6"/>
                </a:solidFill>
                <a:latin typeface="Calibri" pitchFamily="34" charset="0"/>
                <a:ea typeface="Calibri" pitchFamily="34" charset="-122"/>
                <a:cs typeface="Calibri" pitchFamily="34" charset="-120"/>
              </a:rPr>
              <a:t>INSIGHT · THE TONNE</a:t>
            </a:r>
            <a:endParaRPr lang="en-US" sz="1100" dirty="0"/>
          </a:p>
        </p:txBody>
      </p:sp>
      <p:sp>
        <p:nvSpPr>
          <p:cNvPr id="6" name="Text 3"/>
          <p:cNvSpPr txBox="1"/>
          <p:nvPr/>
        </p:nvSpPr>
        <p:spPr>
          <a:xfrm>
            <a:off x="457200" y="1005840"/>
            <a:ext cx="3474720" cy="914400"/>
          </a:xfrm>
          <a:prstGeom prst="rect">
            <a:avLst/>
          </a:prstGeom>
          <a:noFill/>
          <a:ln/>
        </p:spPr>
        <p:txBody>
          <a:bodyPr wrap="square" lIns="0" tIns="0" rIns="0" bIns="0" rtlCol="0" anchor="ctr"/>
          <a:lstStyle/>
          <a:p>
            <a:pPr indent="0" marL="0">
              <a:buNone/>
            </a:pPr>
            <a:r>
              <a:rPr lang="en-US" sz="6000" b="1" dirty="0">
                <a:solidFill>
                  <a:srgbClr val="FFFFFF"/>
                </a:solidFill>
                <a:latin typeface="Arial" pitchFamily="34" charset="0"/>
                <a:ea typeface="Arial" pitchFamily="34" charset="-122"/>
                <a:cs typeface="Arial" pitchFamily="34" charset="-120"/>
              </a:rPr>
              <a:t>2.887</a:t>
            </a:r>
            <a:endParaRPr lang="en-US" sz="6000" dirty="0"/>
          </a:p>
        </p:txBody>
      </p:sp>
      <p:sp>
        <p:nvSpPr>
          <p:cNvPr id="7" name="Text 4"/>
          <p:cNvSpPr txBox="1"/>
          <p:nvPr/>
        </p:nvSpPr>
        <p:spPr>
          <a:xfrm>
            <a:off x="457200" y="1920240"/>
            <a:ext cx="3474720" cy="274320"/>
          </a:xfrm>
          <a:prstGeom prst="rect">
            <a:avLst/>
          </a:prstGeom>
          <a:noFill/>
          <a:ln/>
        </p:spPr>
        <p:txBody>
          <a:bodyPr wrap="square" lIns="0" tIns="0" rIns="0" bIns="0" rtlCol="0" anchor="ctr"/>
          <a:lstStyle/>
          <a:p>
            <a:pPr indent="0" marL="0">
              <a:buNone/>
            </a:pPr>
            <a:r>
              <a:rPr lang="en-US" sz="1300" dirty="0">
                <a:solidFill>
                  <a:srgbClr val="F3F4F6"/>
                </a:solidFill>
                <a:latin typeface="Calibri" pitchFamily="34" charset="0"/>
                <a:ea typeface="Calibri" pitchFamily="34" charset="-122"/>
                <a:cs typeface="Calibri" pitchFamily="34" charset="-120"/>
              </a:rPr>
              <a:t>tCO₂e per tonne · JSL Jajpur</a:t>
            </a:r>
            <a:endParaRPr lang="en-US" sz="1300" dirty="0"/>
          </a:p>
        </p:txBody>
      </p:sp>
      <p:sp>
        <p:nvSpPr>
          <p:cNvPr id="8" name="Text 5"/>
          <p:cNvSpPr txBox="1"/>
          <p:nvPr/>
        </p:nvSpPr>
        <p:spPr>
          <a:xfrm>
            <a:off x="457200" y="2606040"/>
            <a:ext cx="2377440" cy="256032"/>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Scope 3 · the charge</a:t>
            </a:r>
            <a:endParaRPr lang="en-US" sz="1200" dirty="0"/>
          </a:p>
        </p:txBody>
      </p:sp>
      <p:sp>
        <p:nvSpPr>
          <p:cNvPr id="9" name="Text 6"/>
          <p:cNvSpPr txBox="1"/>
          <p:nvPr/>
        </p:nvSpPr>
        <p:spPr>
          <a:xfrm>
            <a:off x="3017520" y="2606040"/>
            <a:ext cx="822960" cy="256032"/>
          </a:xfrm>
          <a:prstGeom prst="rect">
            <a:avLst/>
          </a:prstGeom>
          <a:noFill/>
          <a:ln/>
        </p:spPr>
        <p:txBody>
          <a:bodyPr wrap="square" lIns="0" tIns="0" rIns="0" bIns="0" rtlCol="0" anchor="ctr"/>
          <a:lstStyle/>
          <a:p>
            <a:pPr algn="r" indent="0" marL="0">
              <a:buNone/>
            </a:pPr>
            <a:r>
              <a:rPr lang="en-US" sz="1300" b="1" dirty="0">
                <a:solidFill>
                  <a:srgbClr val="FFFFFF"/>
                </a:solidFill>
                <a:latin typeface="Arial" pitchFamily="34" charset="0"/>
                <a:ea typeface="Arial" pitchFamily="34" charset="-122"/>
                <a:cs typeface="Arial" pitchFamily="34" charset="-120"/>
              </a:rPr>
              <a:t>1.61</a:t>
            </a:r>
            <a:endParaRPr lang="en-US" sz="1300" dirty="0"/>
          </a:p>
        </p:txBody>
      </p:sp>
      <p:sp>
        <p:nvSpPr>
          <p:cNvPr id="10" name="Shape 7"/>
          <p:cNvSpPr/>
          <p:nvPr/>
        </p:nvSpPr>
        <p:spPr>
          <a:xfrm>
            <a:off x="457200" y="2935224"/>
            <a:ext cx="3383280" cy="128016"/>
          </a:xfrm>
          <a:prstGeom prst="rect">
            <a:avLst/>
          </a:prstGeom>
          <a:solidFill>
            <a:srgbClr val="FFFFFF">
              <a:alpha val="25000"/>
            </a:srgbClr>
          </a:solidFill>
          <a:ln w="12700">
            <a:solidFill>
              <a:srgbClr val="FFFFFF">
                <a:alpha val="0"/>
              </a:srgbClr>
            </a:solidFill>
            <a:prstDash val="solid"/>
          </a:ln>
        </p:spPr>
      </p:sp>
      <p:sp>
        <p:nvSpPr>
          <p:cNvPr id="11" name="Shape 8"/>
          <p:cNvSpPr/>
          <p:nvPr/>
        </p:nvSpPr>
        <p:spPr>
          <a:xfrm>
            <a:off x="457200" y="2935224"/>
            <a:ext cx="3383280" cy="128016"/>
          </a:xfrm>
          <a:prstGeom prst="rect">
            <a:avLst/>
          </a:prstGeom>
          <a:solidFill>
            <a:srgbClr val="FCA311"/>
          </a:solidFill>
          <a:ln w="12700">
            <a:solidFill>
              <a:srgbClr val="FCA311"/>
            </a:solidFill>
            <a:prstDash val="solid"/>
          </a:ln>
        </p:spPr>
      </p:sp>
      <p:sp>
        <p:nvSpPr>
          <p:cNvPr id="12" name="Text 9"/>
          <p:cNvSpPr txBox="1"/>
          <p:nvPr/>
        </p:nvSpPr>
        <p:spPr>
          <a:xfrm>
            <a:off x="457200" y="3383280"/>
            <a:ext cx="2377440" cy="256032"/>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Scope 2 · electricity</a:t>
            </a:r>
            <a:endParaRPr lang="en-US" sz="1200" dirty="0"/>
          </a:p>
        </p:txBody>
      </p:sp>
      <p:sp>
        <p:nvSpPr>
          <p:cNvPr id="13" name="Text 10"/>
          <p:cNvSpPr txBox="1"/>
          <p:nvPr/>
        </p:nvSpPr>
        <p:spPr>
          <a:xfrm>
            <a:off x="3017520" y="3383280"/>
            <a:ext cx="822960" cy="256032"/>
          </a:xfrm>
          <a:prstGeom prst="rect">
            <a:avLst/>
          </a:prstGeom>
          <a:noFill/>
          <a:ln/>
        </p:spPr>
        <p:txBody>
          <a:bodyPr wrap="square" lIns="0" tIns="0" rIns="0" bIns="0" rtlCol="0" anchor="ctr"/>
          <a:lstStyle/>
          <a:p>
            <a:pPr algn="r" indent="0" marL="0">
              <a:buNone/>
            </a:pPr>
            <a:r>
              <a:rPr lang="en-US" sz="1300" b="1" dirty="0">
                <a:solidFill>
                  <a:srgbClr val="FFFFFF"/>
                </a:solidFill>
                <a:latin typeface="Arial" pitchFamily="34" charset="0"/>
                <a:ea typeface="Arial" pitchFamily="34" charset="-122"/>
                <a:cs typeface="Arial" pitchFamily="34" charset="-120"/>
              </a:rPr>
              <a:t>0.83</a:t>
            </a:r>
            <a:endParaRPr lang="en-US" sz="1300" dirty="0"/>
          </a:p>
        </p:txBody>
      </p:sp>
      <p:sp>
        <p:nvSpPr>
          <p:cNvPr id="14" name="Shape 11"/>
          <p:cNvSpPr/>
          <p:nvPr/>
        </p:nvSpPr>
        <p:spPr>
          <a:xfrm>
            <a:off x="457200" y="3712464"/>
            <a:ext cx="3383280" cy="128016"/>
          </a:xfrm>
          <a:prstGeom prst="rect">
            <a:avLst/>
          </a:prstGeom>
          <a:solidFill>
            <a:srgbClr val="FFFFFF">
              <a:alpha val="25000"/>
            </a:srgbClr>
          </a:solidFill>
          <a:ln w="12700">
            <a:solidFill>
              <a:srgbClr val="FFFFFF">
                <a:alpha val="0"/>
              </a:srgbClr>
            </a:solidFill>
            <a:prstDash val="solid"/>
          </a:ln>
        </p:spPr>
      </p:sp>
      <p:sp>
        <p:nvSpPr>
          <p:cNvPr id="15" name="Shape 12"/>
          <p:cNvSpPr/>
          <p:nvPr/>
        </p:nvSpPr>
        <p:spPr>
          <a:xfrm>
            <a:off x="457200" y="3712464"/>
            <a:ext cx="1746209" cy="128016"/>
          </a:xfrm>
          <a:prstGeom prst="rect">
            <a:avLst/>
          </a:prstGeom>
          <a:solidFill>
            <a:srgbClr val="7FA7D9"/>
          </a:solidFill>
          <a:ln w="12700">
            <a:solidFill>
              <a:srgbClr val="7FA7D9"/>
            </a:solidFill>
            <a:prstDash val="solid"/>
          </a:ln>
        </p:spPr>
      </p:sp>
      <p:sp>
        <p:nvSpPr>
          <p:cNvPr id="16" name="Text 13"/>
          <p:cNvSpPr txBox="1"/>
          <p:nvPr/>
        </p:nvSpPr>
        <p:spPr>
          <a:xfrm>
            <a:off x="457200" y="4160520"/>
            <a:ext cx="2377440" cy="256032"/>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Scope 1 · on site</a:t>
            </a:r>
            <a:endParaRPr lang="en-US" sz="1200" dirty="0"/>
          </a:p>
        </p:txBody>
      </p:sp>
      <p:sp>
        <p:nvSpPr>
          <p:cNvPr id="17" name="Text 14"/>
          <p:cNvSpPr txBox="1"/>
          <p:nvPr/>
        </p:nvSpPr>
        <p:spPr>
          <a:xfrm>
            <a:off x="3017520" y="4160520"/>
            <a:ext cx="822960" cy="256032"/>
          </a:xfrm>
          <a:prstGeom prst="rect">
            <a:avLst/>
          </a:prstGeom>
          <a:noFill/>
          <a:ln/>
        </p:spPr>
        <p:txBody>
          <a:bodyPr wrap="square" lIns="0" tIns="0" rIns="0" bIns="0" rtlCol="0" anchor="ctr"/>
          <a:lstStyle/>
          <a:p>
            <a:pPr algn="r" indent="0" marL="0">
              <a:buNone/>
            </a:pPr>
            <a:r>
              <a:rPr lang="en-US" sz="1300" b="1" dirty="0">
                <a:solidFill>
                  <a:srgbClr val="FFFFFF"/>
                </a:solidFill>
                <a:latin typeface="Arial" pitchFamily="34" charset="0"/>
                <a:ea typeface="Arial" pitchFamily="34" charset="-122"/>
                <a:cs typeface="Arial" pitchFamily="34" charset="-120"/>
              </a:rPr>
              <a:t>0.44</a:t>
            </a:r>
            <a:endParaRPr lang="en-US" sz="1300" dirty="0"/>
          </a:p>
        </p:txBody>
      </p:sp>
      <p:sp>
        <p:nvSpPr>
          <p:cNvPr id="18" name="Shape 15"/>
          <p:cNvSpPr/>
          <p:nvPr/>
        </p:nvSpPr>
        <p:spPr>
          <a:xfrm>
            <a:off x="457200" y="4489704"/>
            <a:ext cx="3383280" cy="128016"/>
          </a:xfrm>
          <a:prstGeom prst="rect">
            <a:avLst/>
          </a:prstGeom>
          <a:solidFill>
            <a:srgbClr val="FFFFFF">
              <a:alpha val="25000"/>
            </a:srgbClr>
          </a:solidFill>
          <a:ln w="12700">
            <a:solidFill>
              <a:srgbClr val="FFFFFF">
                <a:alpha val="0"/>
              </a:srgbClr>
            </a:solidFill>
            <a:prstDash val="solid"/>
          </a:ln>
        </p:spPr>
      </p:sp>
      <p:sp>
        <p:nvSpPr>
          <p:cNvPr id="19" name="Shape 16"/>
          <p:cNvSpPr/>
          <p:nvPr/>
        </p:nvSpPr>
        <p:spPr>
          <a:xfrm>
            <a:off x="457200" y="4489704"/>
            <a:ext cx="929772" cy="128016"/>
          </a:xfrm>
          <a:prstGeom prst="rect">
            <a:avLst/>
          </a:prstGeom>
          <a:solidFill>
            <a:srgbClr val="2A9D8F"/>
          </a:solidFill>
          <a:ln w="12700">
            <a:solidFill>
              <a:srgbClr val="2A9D8F"/>
            </a:solidFill>
            <a:prstDash val="solid"/>
          </a:ln>
        </p:spPr>
      </p:sp>
      <p:sp>
        <p:nvSpPr>
          <p:cNvPr id="20" name="Text 17"/>
          <p:cNvSpPr txBox="1"/>
          <p:nvPr/>
        </p:nvSpPr>
        <p:spPr>
          <a:xfrm>
            <a:off x="457200" y="5120640"/>
            <a:ext cx="3474720" cy="320040"/>
          </a:xfrm>
          <a:prstGeom prst="rect">
            <a:avLst/>
          </a:prstGeom>
          <a:noFill/>
          <a:ln/>
        </p:spPr>
        <p:txBody>
          <a:bodyPr wrap="square" lIns="0" tIns="0" rIns="0" bIns="0" rtlCol="0" anchor="ctr"/>
          <a:lstStyle/>
          <a:p>
            <a:pPr indent="0" marL="0">
              <a:buNone/>
            </a:pPr>
            <a:r>
              <a:rPr lang="en-US" sz="1500" b="1" dirty="0">
                <a:solidFill>
                  <a:srgbClr val="FCA311"/>
                </a:solidFill>
                <a:latin typeface="Arial" pitchFamily="34" charset="0"/>
                <a:ea typeface="Arial" pitchFamily="34" charset="-122"/>
                <a:cs typeface="Arial" pitchFamily="34" charset="-120"/>
              </a:rPr>
              <a:t>71% of it sits in the melt shop.</a:t>
            </a:r>
            <a:endParaRPr lang="en-US" sz="1500" dirty="0"/>
          </a:p>
        </p:txBody>
      </p:sp>
      <p:sp>
        <p:nvSpPr>
          <p:cNvPr id="21" name="Text 18"/>
          <p:cNvSpPr txBox="1"/>
          <p:nvPr/>
        </p:nvSpPr>
        <p:spPr>
          <a:xfrm>
            <a:off x="457200" y="5486400"/>
            <a:ext cx="3383280" cy="822960"/>
          </a:xfrm>
          <a:prstGeom prst="rect">
            <a:avLst/>
          </a:prstGeom>
          <a:noFill/>
          <a:ln/>
        </p:spPr>
        <p:txBody>
          <a:bodyPr wrap="square" lIns="0" tIns="0" rIns="0" bIns="0" rtlCol="0" anchor="t"/>
          <a:lstStyle/>
          <a:p>
            <a:pPr indent="0" marL="0">
              <a:buNone/>
            </a:pPr>
            <a:r>
              <a:rPr lang="en-US" sz="1200" dirty="0">
                <a:solidFill>
                  <a:srgbClr val="F3F4F6"/>
                </a:solidFill>
                <a:latin typeface="Calibri" pitchFamily="34" charset="0"/>
                <a:ea typeface="Calibri" pitchFamily="34" charset="-122"/>
                <a:cs typeface="Calibri" pitchFamily="34" charset="-120"/>
              </a:rPr>
              <a:t>So the charge and the power behind the furnaces are where the carbon is, not the rolling mills or the trucks.</a:t>
            </a:r>
            <a:endParaRPr lang="en-US" sz="1200" dirty="0"/>
          </a:p>
        </p:txBody>
      </p:sp>
      <p:sp>
        <p:nvSpPr>
          <p:cNvPr id="22" name="Text 19"/>
          <p:cNvSpPr txBox="1"/>
          <p:nvPr/>
        </p:nvSpPr>
        <p:spPr>
          <a:xfrm>
            <a:off x="4663440" y="685800"/>
            <a:ext cx="6949440" cy="54864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What actually moves it</a:t>
            </a:r>
            <a:endParaRPr lang="en-US" sz="2800" dirty="0"/>
          </a:p>
        </p:txBody>
      </p:sp>
      <p:sp>
        <p:nvSpPr>
          <p:cNvPr id="23" name="Text 20"/>
          <p:cNvSpPr txBox="1"/>
          <p:nvPr/>
        </p:nvSpPr>
        <p:spPr>
          <a:xfrm>
            <a:off x="4663440" y="1261872"/>
            <a:ext cx="6949440" cy="274320"/>
          </a:xfrm>
          <a:prstGeom prst="rect">
            <a:avLst/>
          </a:prstGeom>
          <a:noFill/>
          <a:ln/>
        </p:spPr>
        <p:txBody>
          <a:bodyPr wrap="square" lIns="0" tIns="0" rIns="0" bIns="0" rtlCol="0" anchor="ctr"/>
          <a:lstStyle/>
          <a:p>
            <a:pPr indent="0" marL="0">
              <a:buNone/>
            </a:pPr>
            <a:r>
              <a:rPr lang="en-US" sz="1200" dirty="0">
                <a:solidFill>
                  <a:srgbClr val="AAB4C3"/>
                </a:solidFill>
                <a:latin typeface="Calibri" pitchFamily="34" charset="0"/>
                <a:ea typeface="Calibri" pitchFamily="34" charset="-122"/>
                <a:cs typeface="Calibri" pitchFamily="34" charset="-120"/>
              </a:rPr>
              <a:t>Each lever swung across its practical range, the others held at Jajpur today (t/t vs 2.887)</a:t>
            </a:r>
            <a:endParaRPr lang="en-US" sz="1200" dirty="0"/>
          </a:p>
        </p:txBody>
      </p:sp>
      <p:graphicFrame>
        <p:nvGraphicFramePr>
          <p:cNvPr id="24" name="Chart 0" descr=""/>
          <p:cNvGraphicFramePr/>
          <p:nvPr/>
        </p:nvGraphicFramePr>
        <p:xfrm>
          <a:off x="4572000" y="1645920"/>
          <a:ext cx="7132320" cy="2926080"/>
        </p:xfrm>
        <a:graphic xmlns:a="http://schemas.openxmlformats.org/drawingml/2006/main">
          <a:graphicData uri="http://schemas.openxmlformats.org/drawingml/2006/chart">
            <c:chart xmlns:c="http://schemas.openxmlformats.org/drawingml/2006/chart" r:id="rId2"/>
          </a:graphicData>
        </a:graphic>
      </p:graphicFrame>
      <p:sp>
        <p:nvSpPr>
          <p:cNvPr id="25" name="Text 21"/>
          <p:cNvSpPr txBox="1"/>
          <p:nvPr/>
        </p:nvSpPr>
        <p:spPr>
          <a:xfrm>
            <a:off x="4663440" y="4846320"/>
            <a:ext cx="2194560" cy="457200"/>
          </a:xfrm>
          <a:prstGeom prst="rect">
            <a:avLst/>
          </a:prstGeom>
          <a:noFill/>
          <a:ln/>
        </p:spPr>
        <p:txBody>
          <a:bodyPr wrap="square" lIns="0" tIns="0" rIns="0" bIns="0" rtlCol="0" anchor="ctr"/>
          <a:lstStyle/>
          <a:p>
            <a:pPr indent="0" marL="0">
              <a:buNone/>
            </a:pPr>
            <a:r>
              <a:rPr lang="en-US" sz="2400" b="1" dirty="0">
                <a:solidFill>
                  <a:srgbClr val="FCA311"/>
                </a:solidFill>
                <a:latin typeface="Arial" pitchFamily="34" charset="0"/>
                <a:ea typeface="Arial" pitchFamily="34" charset="-122"/>
                <a:cs typeface="Arial" pitchFamily="34" charset="-120"/>
              </a:rPr>
              <a:t>96%</a:t>
            </a:r>
            <a:endParaRPr lang="en-US" sz="2400" dirty="0"/>
          </a:p>
        </p:txBody>
      </p:sp>
      <p:sp>
        <p:nvSpPr>
          <p:cNvPr id="26" name="Text 22"/>
          <p:cNvSpPr txBox="1"/>
          <p:nvPr/>
        </p:nvSpPr>
        <p:spPr>
          <a:xfrm>
            <a:off x="4663440" y="5349240"/>
            <a:ext cx="2194560" cy="1097280"/>
          </a:xfrm>
          <a:prstGeom prst="rect">
            <a:avLst/>
          </a:prstGeom>
          <a:noFill/>
          <a:ln/>
        </p:spPr>
        <p:txBody>
          <a:bodyPr wrap="square" lIns="0" tIns="0" rIns="0" bIns="0" rtlCol="0" anchor="t"/>
          <a:lstStyle/>
          <a:p>
            <a:pPr indent="0" marL="0">
              <a:buNone/>
            </a:pPr>
            <a:r>
              <a:rPr lang="en-US" sz="1100" dirty="0">
                <a:solidFill>
                  <a:srgbClr val="F3F4F6"/>
                </a:solidFill>
                <a:latin typeface="Calibri" pitchFamily="34" charset="0"/>
                <a:ea typeface="Calibri" pitchFamily="34" charset="-122"/>
                <a:cs typeface="Calibri" pitchFamily="34" charset="-120"/>
              </a:rPr>
              <a:t>of the total swing comes from scrap and grid. They're the two levers the brief names, and the model confirms them.</a:t>
            </a:r>
            <a:endParaRPr lang="en-US" sz="1100" dirty="0"/>
          </a:p>
        </p:txBody>
      </p:sp>
      <p:sp>
        <p:nvSpPr>
          <p:cNvPr id="27" name="Text 23"/>
          <p:cNvSpPr txBox="1"/>
          <p:nvPr/>
        </p:nvSpPr>
        <p:spPr>
          <a:xfrm>
            <a:off x="7040880" y="4846320"/>
            <a:ext cx="2194560" cy="457200"/>
          </a:xfrm>
          <a:prstGeom prst="rect">
            <a:avLst/>
          </a:prstGeom>
          <a:noFill/>
          <a:ln/>
        </p:spPr>
        <p:txBody>
          <a:bodyPr wrap="square" lIns="0" tIns="0" rIns="0" bIns="0" rtlCol="0" anchor="ctr"/>
          <a:lstStyle/>
          <a:p>
            <a:pPr indent="0" marL="0">
              <a:buNone/>
            </a:pPr>
            <a:r>
              <a:rPr lang="en-US" sz="2400" b="1" dirty="0">
                <a:solidFill>
                  <a:srgbClr val="FCA311"/>
                </a:solidFill>
                <a:latin typeface="Arial" pitchFamily="34" charset="0"/>
                <a:ea typeface="Arial" pitchFamily="34" charset="-122"/>
                <a:cs typeface="Arial" pitchFamily="34" charset="-120"/>
              </a:rPr>
              <a:t>1.22 t/t</a:t>
            </a:r>
            <a:endParaRPr lang="en-US" sz="2400" dirty="0"/>
          </a:p>
        </p:txBody>
      </p:sp>
      <p:sp>
        <p:nvSpPr>
          <p:cNvPr id="28" name="Text 24"/>
          <p:cNvSpPr txBox="1"/>
          <p:nvPr/>
        </p:nvSpPr>
        <p:spPr>
          <a:xfrm>
            <a:off x="7040880" y="5349240"/>
            <a:ext cx="2194560" cy="1097280"/>
          </a:xfrm>
          <a:prstGeom prst="rect">
            <a:avLst/>
          </a:prstGeom>
          <a:noFill/>
          <a:ln/>
        </p:spPr>
        <p:txBody>
          <a:bodyPr wrap="square" lIns="0" tIns="0" rIns="0" bIns="0" rtlCol="0" anchor="t"/>
          <a:lstStyle/>
          <a:p>
            <a:pPr indent="0" marL="0">
              <a:buNone/>
            </a:pPr>
            <a:r>
              <a:rPr lang="en-US" sz="1100" dirty="0">
                <a:solidFill>
                  <a:srgbClr val="F3F4F6"/>
                </a:solidFill>
                <a:latin typeface="Calibri" pitchFamily="34" charset="0"/>
                <a:ea typeface="Calibri" pitchFamily="34" charset="-122"/>
                <a:cs typeface="Calibri" pitchFamily="34" charset="-120"/>
              </a:rPr>
              <a:t>separates a 50% and an 85% scrap charge: the single biggest range in the plant.</a:t>
            </a:r>
            <a:endParaRPr lang="en-US" sz="1100" dirty="0"/>
          </a:p>
        </p:txBody>
      </p:sp>
      <p:sp>
        <p:nvSpPr>
          <p:cNvPr id="29" name="Text 25"/>
          <p:cNvSpPr txBox="1"/>
          <p:nvPr/>
        </p:nvSpPr>
        <p:spPr>
          <a:xfrm>
            <a:off x="9418320" y="4846320"/>
            <a:ext cx="2194560" cy="457200"/>
          </a:xfrm>
          <a:prstGeom prst="rect">
            <a:avLst/>
          </a:prstGeom>
          <a:noFill/>
          <a:ln/>
        </p:spPr>
        <p:txBody>
          <a:bodyPr wrap="square" lIns="0" tIns="0" rIns="0" bIns="0" rtlCol="0" anchor="ctr"/>
          <a:lstStyle/>
          <a:p>
            <a:pPr indent="0" marL="0">
              <a:buNone/>
            </a:pPr>
            <a:r>
              <a:rPr lang="en-US" sz="2400" b="1" dirty="0">
                <a:solidFill>
                  <a:srgbClr val="FCA311"/>
                </a:solidFill>
                <a:latin typeface="Arial" pitchFamily="34" charset="0"/>
                <a:ea typeface="Arial" pitchFamily="34" charset="-122"/>
                <a:cs typeface="Arial" pitchFamily="34" charset="-120"/>
              </a:rPr>
              <a:t>&lt; 0.05</a:t>
            </a:r>
            <a:endParaRPr lang="en-US" sz="2400" dirty="0"/>
          </a:p>
        </p:txBody>
      </p:sp>
      <p:sp>
        <p:nvSpPr>
          <p:cNvPr id="30" name="Text 26"/>
          <p:cNvSpPr txBox="1"/>
          <p:nvPr/>
        </p:nvSpPr>
        <p:spPr>
          <a:xfrm>
            <a:off x="9418320" y="5349240"/>
            <a:ext cx="2194560" cy="1097280"/>
          </a:xfrm>
          <a:prstGeom prst="rect">
            <a:avLst/>
          </a:prstGeom>
          <a:noFill/>
          <a:ln/>
        </p:spPr>
        <p:txBody>
          <a:bodyPr wrap="square" lIns="0" tIns="0" rIns="0" bIns="0" rtlCol="0" anchor="t"/>
          <a:lstStyle/>
          <a:p>
            <a:pPr indent="0" marL="0">
              <a:buNone/>
            </a:pPr>
            <a:r>
              <a:rPr lang="en-US" sz="1100" dirty="0">
                <a:solidFill>
                  <a:srgbClr val="F3F4F6"/>
                </a:solidFill>
                <a:latin typeface="Calibri" pitchFamily="34" charset="0"/>
                <a:ea typeface="Calibri" pitchFamily="34" charset="-122"/>
                <a:cs typeface="Calibri" pitchFamily="34" charset="-120"/>
              </a:rPr>
              <a:t>t/t from rail or from switching between realistic furnace and decarburiser routes. Don't chase them first.</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548640" cy="274320"/>
          </a:xfrm>
          <a:prstGeom prst="rect">
            <a:avLst/>
          </a:prstGeom>
          <a:noFill/>
          <a:ln/>
        </p:spPr>
        <p:txBody>
          <a:bodyPr wrap="square" lIns="0" tIns="0" rIns="0" bIns="0" rtlCol="0" anchor="ctr"/>
          <a:lstStyle/>
          <a:p>
            <a:pPr indent="0" marL="0">
              <a:buNone/>
            </a:pPr>
            <a:r>
              <a:rPr lang="en-US" sz="1400" b="1" dirty="0">
                <a:solidFill>
                  <a:srgbClr val="FCA311"/>
                </a:solidFill>
                <a:latin typeface="Arial" pitchFamily="34" charset="0"/>
                <a:ea typeface="Arial" pitchFamily="34" charset="-122"/>
                <a:cs typeface="Arial" pitchFamily="34" charset="-120"/>
              </a:rPr>
              <a:t>03</a:t>
            </a:r>
            <a:endParaRPr lang="en-US" sz="1400" dirty="0"/>
          </a:p>
        </p:txBody>
      </p:sp>
      <p:sp>
        <p:nvSpPr>
          <p:cNvPr id="3" name="Text 1"/>
          <p:cNvSpPr txBox="1"/>
          <p:nvPr/>
        </p:nvSpPr>
        <p:spPr>
          <a:xfrm>
            <a:off x="1051560" y="384048"/>
            <a:ext cx="9144000" cy="274320"/>
          </a:xfrm>
          <a:prstGeom prst="rect">
            <a:avLst/>
          </a:prstGeom>
          <a:noFill/>
          <a:ln/>
        </p:spPr>
        <p:txBody>
          <a:bodyPr wrap="square" lIns="0" tIns="0" rIns="0" bIns="0" rtlCol="0" anchor="ctr"/>
          <a:lstStyle/>
          <a:p>
            <a:pPr indent="0" marL="0">
              <a:buNone/>
            </a:pPr>
            <a:r>
              <a:rPr lang="en-US" sz="1100" b="1" spc="150" kern="0" dirty="0">
                <a:solidFill>
                  <a:srgbClr val="6B7280"/>
                </a:solidFill>
                <a:latin typeface="Calibri" pitchFamily="34" charset="0"/>
                <a:ea typeface="Calibri" pitchFamily="34" charset="-122"/>
                <a:cs typeface="Calibri" pitchFamily="34" charset="-120"/>
              </a:rPr>
              <a:t>INSIGHT · FRAMEWORK</a:t>
            </a:r>
            <a:endParaRPr lang="en-US" sz="1100" dirty="0"/>
          </a:p>
        </p:txBody>
      </p:sp>
      <p:sp>
        <p:nvSpPr>
          <p:cNvPr id="4" name="Text 2"/>
          <p:cNvSpPr txBox="1"/>
          <p:nvPr/>
        </p:nvSpPr>
        <p:spPr>
          <a:xfrm>
            <a:off x="548640" y="713232"/>
            <a:ext cx="11064240" cy="566928"/>
          </a:xfrm>
          <a:prstGeom prst="rect">
            <a:avLst/>
          </a:prstGeom>
          <a:noFill/>
          <a:ln/>
        </p:spPr>
        <p:txBody>
          <a:bodyPr wrap="square" lIns="0" tIns="0" rIns="0" bIns="0" rtlCol="0" anchor="t"/>
          <a:lstStyle/>
          <a:p>
            <a:pPr indent="0" marL="0">
              <a:buNone/>
            </a:pPr>
            <a:r>
              <a:rPr lang="en-US" sz="2800" b="1" dirty="0">
                <a:solidFill>
                  <a:srgbClr val="14213D"/>
                </a:solidFill>
                <a:latin typeface="Arial" pitchFamily="34" charset="0"/>
                <a:ea typeface="Arial" pitchFamily="34" charset="-122"/>
                <a:cs typeface="Arial" pitchFamily="34" charset="-120"/>
              </a:rPr>
              <a:t>The carbon map: trade scrap against power</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7223760" cy="914400"/>
        </p:xfrm>
        <a:graphic>
          <a:graphicData uri="http://schemas.openxmlformats.org/drawingml/2006/table">
            <a:tbl>
              <a:tblPr/>
              <a:tblGrid>
                <a:gridCol w="1188720"/>
                <a:gridCol w="859536"/>
                <a:gridCol w="859536"/>
                <a:gridCol w="859536"/>
                <a:gridCol w="859536"/>
                <a:gridCol w="859536"/>
                <a:gridCol w="859536"/>
                <a:gridCol w="877824"/>
              </a:tblGrid>
              <a:tr h="365760">
                <a:tc>
                  <a:txBody>
                    <a:bodyPr/>
                    <a:lstStyle/>
                    <a:p>
                      <a:pPr algn="l" indent="0" marL="0">
                        <a:buNone/>
                      </a:pPr>
                      <a:r>
                        <a:rPr lang="en-US" sz="1050" b="1" dirty="0">
                          <a:solidFill>
                            <a:srgbClr val="4B5563"/>
                          </a:solidFill>
                          <a:latin typeface="Calibri" pitchFamily="34" charset="0"/>
                          <a:ea typeface="Calibri" pitchFamily="34" charset="-122"/>
                          <a:cs typeface="Calibri" pitchFamily="34" charset="-120"/>
                        </a:rPr>
                        <a:t>Scrap ↓   Grid →</a:t>
                      </a:r>
                      <a:endParaRPr lang="en-US" sz="105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4B5563"/>
                          </a:solidFill>
                          <a:latin typeface="Calibri" pitchFamily="34" charset="0"/>
                          <a:ea typeface="Calibri" pitchFamily="34" charset="-122"/>
                          <a:cs typeface="Calibri" pitchFamily="34" charset="-120"/>
                        </a:rPr>
                        <a:t>0.80</a:t>
                      </a:r>
                      <a:endParaRPr lang="en-US" sz="105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4B5563"/>
                          </a:solidFill>
                          <a:latin typeface="Calibri" pitchFamily="34" charset="0"/>
                          <a:ea typeface="Calibri" pitchFamily="34" charset="-122"/>
                          <a:cs typeface="Calibri" pitchFamily="34" charset="-120"/>
                        </a:rPr>
                        <a:t>0.76</a:t>
                      </a:r>
                      <a:endParaRPr lang="en-US" sz="105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4B5563"/>
                          </a:solidFill>
                          <a:latin typeface="Calibri" pitchFamily="34" charset="0"/>
                          <a:ea typeface="Calibri" pitchFamily="34" charset="-122"/>
                          <a:cs typeface="Calibri" pitchFamily="34" charset="-120"/>
                        </a:rPr>
                        <a:t>0.60</a:t>
                      </a:r>
                      <a:endParaRPr lang="en-US" sz="105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4B5563"/>
                          </a:solidFill>
                          <a:latin typeface="Calibri" pitchFamily="34" charset="0"/>
                          <a:ea typeface="Calibri" pitchFamily="34" charset="-122"/>
                          <a:cs typeface="Calibri" pitchFamily="34" charset="-120"/>
                        </a:rPr>
                        <a:t>0.44</a:t>
                      </a:r>
                      <a:endParaRPr lang="en-US" sz="105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4B5563"/>
                          </a:solidFill>
                          <a:latin typeface="Calibri" pitchFamily="34" charset="0"/>
                          <a:ea typeface="Calibri" pitchFamily="34" charset="-122"/>
                          <a:cs typeface="Calibri" pitchFamily="34" charset="-120"/>
                        </a:rPr>
                        <a:t>0.30</a:t>
                      </a:r>
                      <a:endParaRPr lang="en-US" sz="105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4B5563"/>
                          </a:solidFill>
                          <a:latin typeface="Calibri" pitchFamily="34" charset="0"/>
                          <a:ea typeface="Calibri" pitchFamily="34" charset="-122"/>
                          <a:cs typeface="Calibri" pitchFamily="34" charset="-120"/>
                        </a:rPr>
                        <a:t>0.11</a:t>
                      </a:r>
                      <a:endParaRPr lang="en-US" sz="105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4B5563"/>
                          </a:solidFill>
                          <a:latin typeface="Calibri" pitchFamily="34" charset="0"/>
                          <a:ea typeface="Calibri" pitchFamily="34" charset="-122"/>
                          <a:cs typeface="Calibri" pitchFamily="34" charset="-120"/>
                        </a:rPr>
                        <a:t>0.02</a:t>
                      </a:r>
                      <a:endParaRPr lang="en-US" sz="105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713232">
                <a:tc>
                  <a:txBody>
                    <a:bodyPr/>
                    <a:lstStyle/>
                    <a:p>
                      <a:pPr indent="0" marL="0">
                        <a:buNone/>
                      </a:pPr>
                      <a:r>
                        <a:rPr lang="en-US" sz="1100" b="1" dirty="0">
                          <a:solidFill>
                            <a:srgbClr val="4B5563"/>
                          </a:solidFill>
                          <a:latin typeface="Calibri" pitchFamily="34" charset="0"/>
                          <a:ea typeface="Calibri" pitchFamily="34" charset="-122"/>
                          <a:cs typeface="Calibri" pitchFamily="34" charset="-120"/>
                        </a:rPr>
                        <a:t>60%</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FFFFFF"/>
                          </a:solidFill>
                          <a:latin typeface="Calibri" pitchFamily="34" charset="0"/>
                          <a:ea typeface="Calibri" pitchFamily="34" charset="-122"/>
                          <a:cs typeface="Calibri" pitchFamily="34" charset="-120"/>
                        </a:rPr>
                        <a:t>3.21</a:t>
                      </a:r>
                      <a:endParaRPr lang="en-US" sz="12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4E5E"/>
                    </a:solidFill>
                  </a:tcPr>
                </a:tc>
                <a:tc>
                  <a:txBody>
                    <a:bodyPr/>
                    <a:lstStyle/>
                    <a:p>
                      <a:pPr algn="ctr" indent="0" marL="0">
                        <a:buNone/>
                      </a:pPr>
                      <a:r>
                        <a:rPr lang="en-US" sz="1200" dirty="0">
                          <a:solidFill>
                            <a:srgbClr val="FFFFFF"/>
                          </a:solidFill>
                          <a:latin typeface="Calibri" pitchFamily="34" charset="0"/>
                          <a:ea typeface="Calibri" pitchFamily="34" charset="-122"/>
                          <a:cs typeface="Calibri" pitchFamily="34" charset="-120"/>
                        </a:rPr>
                        <a:t>3.16</a:t>
                      </a:r>
                      <a:endParaRPr lang="en-US" sz="12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45562"/>
                    </a:solidFill>
                  </a:tcPr>
                </a:tc>
                <a:tc>
                  <a:txBody>
                    <a:bodyPr/>
                    <a:lstStyle/>
                    <a:p>
                      <a:pPr algn="ctr" indent="0" marL="0">
                        <a:buNone/>
                      </a:pPr>
                      <a:r>
                        <a:rPr lang="en-US" sz="1200" dirty="0">
                          <a:solidFill>
                            <a:srgbClr val="FFFFFF"/>
                          </a:solidFill>
                          <a:latin typeface="Calibri" pitchFamily="34" charset="0"/>
                          <a:ea typeface="Calibri" pitchFamily="34" charset="-122"/>
                          <a:cs typeface="Calibri" pitchFamily="34" charset="-120"/>
                        </a:rPr>
                        <a:t>2.98</a:t>
                      </a:r>
                      <a:endParaRPr lang="en-US" sz="12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6E71"/>
                    </a:solidFill>
                  </a:tcPr>
                </a:tc>
                <a:tc>
                  <a:txBody>
                    <a:bodyPr/>
                    <a:lstStyle/>
                    <a:p>
                      <a:pPr algn="ctr" indent="0" marL="0">
                        <a:buNone/>
                      </a:pPr>
                      <a:r>
                        <a:rPr lang="en-US" sz="1200" dirty="0">
                          <a:solidFill>
                            <a:srgbClr val="111827"/>
                          </a:solidFill>
                          <a:latin typeface="Calibri" pitchFamily="34" charset="0"/>
                          <a:ea typeface="Calibri" pitchFamily="34" charset="-122"/>
                          <a:cs typeface="Calibri" pitchFamily="34" charset="-120"/>
                        </a:rPr>
                        <a:t>2.81</a:t>
                      </a:r>
                      <a:endParaRPr lang="en-US" sz="12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F857E"/>
                    </a:solidFill>
                  </a:tcPr>
                </a:tc>
                <a:tc>
                  <a:txBody>
                    <a:bodyPr/>
                    <a:lstStyle/>
                    <a:p>
                      <a:pPr algn="ctr" indent="0" marL="0">
                        <a:buNone/>
                      </a:pPr>
                      <a:r>
                        <a:rPr lang="en-US" sz="1200" dirty="0">
                          <a:solidFill>
                            <a:srgbClr val="111827"/>
                          </a:solidFill>
                          <a:latin typeface="Calibri" pitchFamily="34" charset="0"/>
                          <a:ea typeface="Calibri" pitchFamily="34" charset="-122"/>
                          <a:cs typeface="Calibri" pitchFamily="34" charset="-120"/>
                        </a:rPr>
                        <a:t>2.65</a:t>
                      </a:r>
                      <a:endParaRPr lang="en-US" sz="12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49B8B"/>
                    </a:solidFill>
                  </a:tcPr>
                </a:tc>
                <a:tc>
                  <a:txBody>
                    <a:bodyPr/>
                    <a:lstStyle/>
                    <a:p>
                      <a:pPr algn="ctr" indent="0" marL="0">
                        <a:buNone/>
                      </a:pPr>
                      <a:r>
                        <a:rPr lang="en-US" sz="1200" dirty="0">
                          <a:solidFill>
                            <a:srgbClr val="111827"/>
                          </a:solidFill>
                          <a:latin typeface="Calibri" pitchFamily="34" charset="0"/>
                          <a:ea typeface="Calibri" pitchFamily="34" charset="-122"/>
                          <a:cs typeface="Calibri" pitchFamily="34" charset="-120"/>
                        </a:rPr>
                        <a:t>2.44</a:t>
                      </a:r>
                      <a:endParaRPr lang="en-US" sz="12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B89C"/>
                    </a:solidFill>
                  </a:tcPr>
                </a:tc>
                <a:tc>
                  <a:txBody>
                    <a:bodyPr/>
                    <a:lstStyle/>
                    <a:p>
                      <a:pPr algn="ctr" indent="0" marL="0">
                        <a:buNone/>
                      </a:pPr>
                      <a:r>
                        <a:rPr lang="en-US" sz="1200" dirty="0">
                          <a:solidFill>
                            <a:srgbClr val="111827"/>
                          </a:solidFill>
                          <a:latin typeface="Calibri" pitchFamily="34" charset="0"/>
                          <a:ea typeface="Calibri" pitchFamily="34" charset="-122"/>
                          <a:cs typeface="Calibri" pitchFamily="34" charset="-120"/>
                        </a:rPr>
                        <a:t>2.34</a:t>
                      </a:r>
                      <a:endParaRPr lang="en-US" sz="12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C6A4"/>
                    </a:solidFill>
                  </a:tcPr>
                </a:tc>
              </a:tr>
              <a:tr h="713232">
                <a:tc>
                  <a:txBody>
                    <a:bodyPr/>
                    <a:lstStyle/>
                    <a:p>
                      <a:pPr indent="0" marL="0">
                        <a:buNone/>
                      </a:pPr>
                      <a:r>
                        <a:rPr lang="en-US" sz="1100" b="1" dirty="0">
                          <a:solidFill>
                            <a:srgbClr val="4B5563"/>
                          </a:solidFill>
                          <a:latin typeface="Calibri" pitchFamily="34" charset="0"/>
                          <a:ea typeface="Calibri" pitchFamily="34" charset="-122"/>
                          <a:cs typeface="Calibri" pitchFamily="34" charset="-120"/>
                        </a:rPr>
                        <a:t>68%</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FFFFFF"/>
                          </a:solidFill>
                          <a:latin typeface="Calibri" pitchFamily="34" charset="0"/>
                          <a:ea typeface="Calibri" pitchFamily="34" charset="-122"/>
                          <a:cs typeface="Calibri" pitchFamily="34" charset="-120"/>
                        </a:rPr>
                        <a:t>2.93</a:t>
                      </a:r>
                      <a:endParaRPr lang="en-US" sz="12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7575"/>
                    </a:solidFill>
                  </a:tcPr>
                </a:tc>
                <a:tc>
                  <a:txBody>
                    <a:bodyPr/>
                    <a:lstStyle/>
                    <a:p>
                      <a:pPr algn="ctr" indent="0" marL="0">
                        <a:buNone/>
                      </a:pPr>
                      <a:r>
                        <a:rPr lang="en-US" sz="1200" b="1" dirty="0">
                          <a:solidFill>
                            <a:srgbClr val="111827"/>
                          </a:solidFill>
                          <a:latin typeface="Calibri" pitchFamily="34" charset="0"/>
                          <a:ea typeface="Calibri" pitchFamily="34" charset="-122"/>
                          <a:cs typeface="Calibri" pitchFamily="34" charset="-120"/>
                        </a:rPr>
                        <a:t>2.88</a:t>
                      </a:r>
                      <a:endParaRPr lang="en-US" sz="1200" dirty="0">
                        <a:latin typeface="Calibri" charset="0"/>
                        <a:ea typeface="Calibri" charset="0"/>
                        <a:cs typeface="Calibri" charset="0"/>
                      </a:endParaRPr>
                    </a:p>
                    <a:p>
                      <a:pPr algn="ctr" indent="0" marL="0">
                        <a:buNone/>
                      </a:pPr>
                      <a:r>
                        <a:rPr lang="en-US" sz="750" b="1" dirty="0">
                          <a:solidFill>
                            <a:srgbClr val="111827"/>
                          </a:solidFill>
                          <a:latin typeface="Calibri" pitchFamily="34" charset="0"/>
                          <a:ea typeface="Calibri" pitchFamily="34" charset="-122"/>
                          <a:cs typeface="Calibri" pitchFamily="34" charset="-120"/>
                        </a:rPr>
                        <a:t>TODAY</a:t>
                      </a:r>
                      <a:endParaRPr lang="en-US" sz="1200" dirty="0">
                        <a:latin typeface="Calibri" charset="0"/>
                        <a:ea typeface="Calibri" charset="0"/>
                        <a:cs typeface="Calibri" charset="0"/>
                      </a:endParaRPr>
                    </a:p>
                  </a:txBody>
                  <a:tcPr marL="91440" marR="91440" marT="45720" marB="45720" anchor="ctr">
                    <a:lnL w="31750" cap="flat" cmpd="sng" algn="ctr">
                      <a:solidFill>
                        <a:srgbClr val="14213D"/>
                      </a:solidFill>
                      <a:prstDash val="solid"/>
                      <a:round/>
                      <a:headEnd type="none" w="med" len="med"/>
                      <a:tailEnd type="none" w="med" len="med"/>
                    </a:lnL>
                    <a:lnR w="31750" cap="flat" cmpd="sng" algn="ctr">
                      <a:solidFill>
                        <a:srgbClr val="14213D"/>
                      </a:solidFill>
                      <a:prstDash val="solid"/>
                      <a:round/>
                      <a:headEnd type="none" w="med" len="med"/>
                      <a:tailEnd type="none" w="med" len="med"/>
                    </a:lnR>
                    <a:lnT w="31750" cap="flat" cmpd="sng" algn="ctr">
                      <a:solidFill>
                        <a:srgbClr val="14213D"/>
                      </a:solidFill>
                      <a:prstDash val="solid"/>
                      <a:round/>
                      <a:headEnd type="none" w="med" len="med"/>
                      <a:tailEnd type="none" w="med" len="med"/>
                    </a:lnT>
                    <a:lnB w="31750" cap="flat" cmpd="sng" algn="ctr">
                      <a:solidFill>
                        <a:srgbClr val="14213D"/>
                      </a:solidFill>
                      <a:prstDash val="solid"/>
                      <a:round/>
                      <a:headEnd type="none" w="med" len="med"/>
                      <a:tailEnd type="none" w="med" len="med"/>
                    </a:lnB>
                    <a:solidFill>
                      <a:srgbClr val="DD7C79"/>
                    </a:solidFill>
                  </a:tcPr>
                </a:tc>
                <a:tc>
                  <a:txBody>
                    <a:bodyPr/>
                    <a:lstStyle/>
                    <a:p>
                      <a:pPr algn="ctr" indent="0" marL="0">
                        <a:buNone/>
                      </a:pPr>
                      <a:r>
                        <a:rPr lang="en-US" sz="1200" dirty="0">
                          <a:solidFill>
                            <a:srgbClr val="111827"/>
                          </a:solidFill>
                          <a:latin typeface="Calibri" pitchFamily="34" charset="0"/>
                          <a:ea typeface="Calibri" pitchFamily="34" charset="-122"/>
                          <a:cs typeface="Calibri" pitchFamily="34" charset="-120"/>
                        </a:rPr>
                        <a:t>2.71</a:t>
                      </a:r>
                      <a:endParaRPr lang="en-US" sz="12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9386"/>
                    </a:solidFill>
                  </a:tcPr>
                </a:tc>
                <a:tc>
                  <a:txBody>
                    <a:bodyPr/>
                    <a:lstStyle/>
                    <a:p>
                      <a:pPr algn="ctr" indent="0" marL="0">
                        <a:buNone/>
                      </a:pPr>
                      <a:r>
                        <a:rPr lang="en-US" sz="1200" dirty="0">
                          <a:solidFill>
                            <a:srgbClr val="111827"/>
                          </a:solidFill>
                          <a:latin typeface="Calibri" pitchFamily="34" charset="0"/>
                          <a:ea typeface="Calibri" pitchFamily="34" charset="-122"/>
                          <a:cs typeface="Calibri" pitchFamily="34" charset="-120"/>
                        </a:rPr>
                        <a:t>2.53</a:t>
                      </a:r>
                      <a:endParaRPr lang="en-US" sz="12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AC95"/>
                    </a:solidFill>
                  </a:tcPr>
                </a:tc>
                <a:tc>
                  <a:txBody>
                    <a:bodyPr/>
                    <a:lstStyle/>
                    <a:p>
                      <a:pPr algn="ctr" indent="0" marL="0">
                        <a:buNone/>
                      </a:pPr>
                      <a:r>
                        <a:rPr lang="en-US" sz="1200" dirty="0">
                          <a:solidFill>
                            <a:srgbClr val="111827"/>
                          </a:solidFill>
                          <a:latin typeface="Calibri" pitchFamily="34" charset="0"/>
                          <a:ea typeface="Calibri" pitchFamily="34" charset="-122"/>
                          <a:cs typeface="Calibri" pitchFamily="34" charset="-120"/>
                        </a:rPr>
                        <a:t>2.38</a:t>
                      </a:r>
                      <a:endParaRPr lang="en-US" sz="12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CC0A1"/>
                    </a:solidFill>
                  </a:tcPr>
                </a:tc>
                <a:tc>
                  <a:txBody>
                    <a:bodyPr/>
                    <a:lstStyle/>
                    <a:p>
                      <a:pPr algn="ctr" indent="0" marL="0">
                        <a:buNone/>
                      </a:pPr>
                      <a:r>
                        <a:rPr lang="en-US" sz="1200" dirty="0">
                          <a:solidFill>
                            <a:srgbClr val="111827"/>
                          </a:solidFill>
                          <a:latin typeface="Calibri" pitchFamily="34" charset="0"/>
                          <a:ea typeface="Calibri" pitchFamily="34" charset="-122"/>
                          <a:cs typeface="Calibri" pitchFamily="34" charset="-120"/>
                        </a:rPr>
                        <a:t>2.17</a:t>
                      </a:r>
                      <a:endParaRPr lang="en-US" sz="12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DDB1"/>
                    </a:solidFill>
                  </a:tcPr>
                </a:tc>
                <a:tc>
                  <a:txBody>
                    <a:bodyPr/>
                    <a:lstStyle/>
                    <a:p>
                      <a:pPr algn="ctr" indent="0" marL="0">
                        <a:buNone/>
                      </a:pPr>
                      <a:r>
                        <a:rPr lang="en-US" sz="1200" dirty="0">
                          <a:solidFill>
                            <a:srgbClr val="111827"/>
                          </a:solidFill>
                          <a:latin typeface="Calibri" pitchFamily="34" charset="0"/>
                          <a:ea typeface="Calibri" pitchFamily="34" charset="-122"/>
                          <a:cs typeface="Calibri" pitchFamily="34" charset="-120"/>
                        </a:rPr>
                        <a:t>2.08</a:t>
                      </a:r>
                      <a:endParaRPr lang="en-US" sz="12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CE0B3"/>
                    </a:solidFill>
                  </a:tcPr>
                </a:tc>
              </a:tr>
              <a:tr h="713232">
                <a:tc>
                  <a:txBody>
                    <a:bodyPr/>
                    <a:lstStyle/>
                    <a:p>
                      <a:pPr indent="0" marL="0">
                        <a:buNone/>
                      </a:pPr>
                      <a:r>
                        <a:rPr lang="en-US" sz="1100" b="1" dirty="0">
                          <a:solidFill>
                            <a:srgbClr val="4B5563"/>
                          </a:solidFill>
                          <a:latin typeface="Calibri" pitchFamily="34" charset="0"/>
                          <a:ea typeface="Calibri" pitchFamily="34" charset="-122"/>
                          <a:cs typeface="Calibri" pitchFamily="34" charset="-120"/>
                        </a:rPr>
                        <a:t>75%</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11827"/>
                          </a:solidFill>
                          <a:latin typeface="Calibri" pitchFamily="34" charset="0"/>
                          <a:ea typeface="Calibri" pitchFamily="34" charset="-122"/>
                          <a:cs typeface="Calibri" pitchFamily="34" charset="-120"/>
                        </a:rPr>
                        <a:t>2.68</a:t>
                      </a:r>
                      <a:endParaRPr lang="en-US" sz="12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39789"/>
                    </a:solidFill>
                  </a:tcPr>
                </a:tc>
                <a:tc>
                  <a:txBody>
                    <a:bodyPr/>
                    <a:lstStyle/>
                    <a:p>
                      <a:pPr algn="ctr" indent="0" marL="0">
                        <a:buNone/>
                      </a:pPr>
                      <a:r>
                        <a:rPr lang="en-US" sz="1200" dirty="0">
                          <a:solidFill>
                            <a:srgbClr val="111827"/>
                          </a:solidFill>
                          <a:latin typeface="Calibri" pitchFamily="34" charset="0"/>
                          <a:ea typeface="Calibri" pitchFamily="34" charset="-122"/>
                          <a:cs typeface="Calibri" pitchFamily="34" charset="-120"/>
                        </a:rPr>
                        <a:t>2.64</a:t>
                      </a:r>
                      <a:endParaRPr lang="en-US" sz="12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49D8C"/>
                    </a:solidFill>
                  </a:tcPr>
                </a:tc>
                <a:tc>
                  <a:txBody>
                    <a:bodyPr/>
                    <a:lstStyle/>
                    <a:p>
                      <a:pPr algn="ctr" indent="0" marL="0">
                        <a:buNone/>
                      </a:pPr>
                      <a:r>
                        <a:rPr lang="en-US" sz="1200" dirty="0">
                          <a:solidFill>
                            <a:srgbClr val="111827"/>
                          </a:solidFill>
                          <a:latin typeface="Calibri" pitchFamily="34" charset="0"/>
                          <a:ea typeface="Calibri" pitchFamily="34" charset="-122"/>
                          <a:cs typeface="Calibri" pitchFamily="34" charset="-120"/>
                        </a:rPr>
                        <a:t>2.47</a:t>
                      </a:r>
                      <a:endParaRPr lang="en-US" sz="12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B499"/>
                    </a:solidFill>
                  </a:tcPr>
                </a:tc>
                <a:tc>
                  <a:txBody>
                    <a:bodyPr/>
                    <a:lstStyle/>
                    <a:p>
                      <a:pPr algn="ctr" indent="0" marL="0">
                        <a:buNone/>
                      </a:pPr>
                      <a:r>
                        <a:rPr lang="en-US" sz="1200" b="1" dirty="0">
                          <a:solidFill>
                            <a:srgbClr val="111827"/>
                          </a:solidFill>
                          <a:latin typeface="Calibri" pitchFamily="34" charset="0"/>
                          <a:ea typeface="Calibri" pitchFamily="34" charset="-122"/>
                          <a:cs typeface="Calibri" pitchFamily="34" charset="-120"/>
                        </a:rPr>
                        <a:t>2.30</a:t>
                      </a:r>
                      <a:endParaRPr lang="en-US" sz="1200" dirty="0">
                        <a:latin typeface="Calibri" charset="0"/>
                        <a:ea typeface="Calibri" charset="0"/>
                        <a:cs typeface="Calibri" charset="0"/>
                      </a:endParaRPr>
                    </a:p>
                    <a:p>
                      <a:pPr algn="ctr" indent="0" marL="0">
                        <a:buNone/>
                      </a:pPr>
                      <a:r>
                        <a:rPr lang="en-US" sz="750" b="1" dirty="0">
                          <a:solidFill>
                            <a:srgbClr val="111827"/>
                          </a:solidFill>
                          <a:latin typeface="Calibri" pitchFamily="34" charset="0"/>
                          <a:ea typeface="Calibri" pitchFamily="34" charset="-122"/>
                          <a:cs typeface="Calibri" pitchFamily="34" charset="-120"/>
                        </a:rPr>
                        <a:t>BUILDABLE</a:t>
                      </a:r>
                      <a:endParaRPr lang="en-US" sz="1200" dirty="0">
                        <a:latin typeface="Calibri" charset="0"/>
                        <a:ea typeface="Calibri" charset="0"/>
                        <a:cs typeface="Calibri" charset="0"/>
                      </a:endParaRPr>
                    </a:p>
                  </a:txBody>
                  <a:tcPr marL="91440" marR="91440" marT="45720" marB="45720" anchor="ctr">
                    <a:lnL w="31750" cap="flat" cmpd="sng" algn="ctr">
                      <a:solidFill>
                        <a:srgbClr val="14213D"/>
                      </a:solidFill>
                      <a:prstDash val="solid"/>
                      <a:round/>
                      <a:headEnd type="none" w="med" len="med"/>
                      <a:tailEnd type="none" w="med" len="med"/>
                    </a:lnL>
                    <a:lnR w="31750" cap="flat" cmpd="sng" algn="ctr">
                      <a:solidFill>
                        <a:srgbClr val="14213D"/>
                      </a:solidFill>
                      <a:prstDash val="solid"/>
                      <a:round/>
                      <a:headEnd type="none" w="med" len="med"/>
                      <a:tailEnd type="none" w="med" len="med"/>
                    </a:lnR>
                    <a:lnT w="31750" cap="flat" cmpd="sng" algn="ctr">
                      <a:solidFill>
                        <a:srgbClr val="14213D"/>
                      </a:solidFill>
                      <a:prstDash val="solid"/>
                      <a:round/>
                      <a:headEnd type="none" w="med" len="med"/>
                      <a:tailEnd type="none" w="med" len="med"/>
                    </a:lnT>
                    <a:lnB w="31750" cap="flat" cmpd="sng" algn="ctr">
                      <a:solidFill>
                        <a:srgbClr val="14213D"/>
                      </a:solidFill>
                      <a:prstDash val="solid"/>
                      <a:round/>
                      <a:headEnd type="none" w="med" len="med"/>
                      <a:tailEnd type="none" w="med" len="med"/>
                    </a:lnB>
                    <a:solidFill>
                      <a:srgbClr val="EFCBA7"/>
                    </a:solidFill>
                  </a:tcPr>
                </a:tc>
                <a:tc>
                  <a:txBody>
                    <a:bodyPr/>
                    <a:lstStyle/>
                    <a:p>
                      <a:pPr algn="ctr" indent="0" marL="0">
                        <a:buNone/>
                      </a:pPr>
                      <a:r>
                        <a:rPr lang="en-US" sz="1200" dirty="0">
                          <a:solidFill>
                            <a:srgbClr val="111827"/>
                          </a:solidFill>
                          <a:latin typeface="Calibri" pitchFamily="34" charset="0"/>
                          <a:ea typeface="Calibri" pitchFamily="34" charset="-122"/>
                          <a:cs typeface="Calibri" pitchFamily="34" charset="-120"/>
                        </a:rPr>
                        <a:t>2.15</a:t>
                      </a:r>
                      <a:endParaRPr lang="en-US" sz="12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E0B3"/>
                    </a:solidFill>
                  </a:tcPr>
                </a:tc>
                <a:tc>
                  <a:txBody>
                    <a:bodyPr/>
                    <a:lstStyle/>
                    <a:p>
                      <a:pPr algn="ctr" indent="0" marL="0">
                        <a:buNone/>
                      </a:pPr>
                      <a:r>
                        <a:rPr lang="en-US" sz="1200" dirty="0">
                          <a:solidFill>
                            <a:srgbClr val="111827"/>
                          </a:solidFill>
                          <a:latin typeface="Calibri" pitchFamily="34" charset="0"/>
                          <a:ea typeface="Calibri" pitchFamily="34" charset="-122"/>
                          <a:cs typeface="Calibri" pitchFamily="34" charset="-120"/>
                        </a:rPr>
                        <a:t>1.94</a:t>
                      </a:r>
                      <a:endParaRPr lang="en-US" sz="12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3D7AF"/>
                    </a:solidFill>
                  </a:tcPr>
                </a:tc>
                <a:tc>
                  <a:txBody>
                    <a:bodyPr/>
                    <a:lstStyle/>
                    <a:p>
                      <a:pPr algn="ctr" indent="0" marL="0">
                        <a:buNone/>
                      </a:pPr>
                      <a:r>
                        <a:rPr lang="en-US" sz="1200" dirty="0">
                          <a:solidFill>
                            <a:srgbClr val="111827"/>
                          </a:solidFill>
                          <a:latin typeface="Calibri" pitchFamily="34" charset="0"/>
                          <a:ea typeface="Calibri" pitchFamily="34" charset="-122"/>
                          <a:cs typeface="Calibri" pitchFamily="34" charset="-120"/>
                        </a:rPr>
                        <a:t>1.85</a:t>
                      </a:r>
                      <a:endParaRPr lang="en-US" sz="12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3D2AC"/>
                    </a:solidFill>
                  </a:tcPr>
                </a:tc>
              </a:tr>
              <a:tr h="713232">
                <a:tc>
                  <a:txBody>
                    <a:bodyPr/>
                    <a:lstStyle/>
                    <a:p>
                      <a:pPr indent="0" marL="0">
                        <a:buNone/>
                      </a:pPr>
                      <a:r>
                        <a:rPr lang="en-US" sz="1100" b="1" dirty="0">
                          <a:solidFill>
                            <a:srgbClr val="4B5563"/>
                          </a:solidFill>
                          <a:latin typeface="Calibri" pitchFamily="34" charset="0"/>
                          <a:ea typeface="Calibri" pitchFamily="34" charset="-122"/>
                          <a:cs typeface="Calibri" pitchFamily="34" charset="-120"/>
                        </a:rPr>
                        <a:t>85%</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11827"/>
                          </a:solidFill>
                          <a:latin typeface="Calibri" pitchFamily="34" charset="0"/>
                          <a:ea typeface="Calibri" pitchFamily="34" charset="-122"/>
                          <a:cs typeface="Calibri" pitchFamily="34" charset="-120"/>
                        </a:rPr>
                        <a:t>2.33</a:t>
                      </a:r>
                      <a:endParaRPr lang="en-US" sz="12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C7A5"/>
                    </a:solidFill>
                  </a:tcPr>
                </a:tc>
                <a:tc>
                  <a:txBody>
                    <a:bodyPr/>
                    <a:lstStyle/>
                    <a:p>
                      <a:pPr algn="ctr" indent="0" marL="0">
                        <a:buNone/>
                      </a:pPr>
                      <a:r>
                        <a:rPr lang="en-US" sz="1200" b="1" dirty="0">
                          <a:solidFill>
                            <a:srgbClr val="111827"/>
                          </a:solidFill>
                          <a:latin typeface="Calibri" pitchFamily="34" charset="0"/>
                          <a:ea typeface="Calibri" pitchFamily="34" charset="-122"/>
                          <a:cs typeface="Calibri" pitchFamily="34" charset="-120"/>
                        </a:rPr>
                        <a:t>2.29</a:t>
                      </a:r>
                      <a:endParaRPr lang="en-US" sz="1200" dirty="0">
                        <a:latin typeface="Calibri" charset="0"/>
                        <a:ea typeface="Calibri" charset="0"/>
                        <a:cs typeface="Calibri" charset="0"/>
                      </a:endParaRPr>
                    </a:p>
                    <a:p>
                      <a:pPr algn="ctr" indent="0" marL="0">
                        <a:buNone/>
                      </a:pPr>
                      <a:r>
                        <a:rPr lang="en-US" sz="750" b="1" dirty="0">
                          <a:solidFill>
                            <a:srgbClr val="111827"/>
                          </a:solidFill>
                          <a:latin typeface="Calibri" pitchFamily="34" charset="0"/>
                          <a:ea typeface="Calibri" pitchFamily="34" charset="-122"/>
                          <a:cs typeface="Calibri" pitchFamily="34" charset="-120"/>
                        </a:rPr>
                        <a:t>≈ BUILDABLE</a:t>
                      </a:r>
                      <a:endParaRPr lang="en-US" sz="1200" dirty="0">
                        <a:latin typeface="Calibri" charset="0"/>
                        <a:ea typeface="Calibri" charset="0"/>
                        <a:cs typeface="Calibri" charset="0"/>
                      </a:endParaRPr>
                    </a:p>
                  </a:txBody>
                  <a:tcPr marL="91440" marR="91440" marT="45720" marB="45720" anchor="ctr">
                    <a:lnL w="31750" cap="flat" cmpd="sng" algn="ctr">
                      <a:solidFill>
                        <a:srgbClr val="14213D"/>
                      </a:solidFill>
                      <a:prstDash val="solid"/>
                      <a:round/>
                      <a:headEnd type="none" w="med" len="med"/>
                      <a:tailEnd type="none" w="med" len="med"/>
                    </a:lnL>
                    <a:lnR w="31750" cap="flat" cmpd="sng" algn="ctr">
                      <a:solidFill>
                        <a:srgbClr val="14213D"/>
                      </a:solidFill>
                      <a:prstDash val="solid"/>
                      <a:round/>
                      <a:headEnd type="none" w="med" len="med"/>
                      <a:tailEnd type="none" w="med" len="med"/>
                    </a:lnR>
                    <a:lnT w="31750" cap="flat" cmpd="sng" algn="ctr">
                      <a:solidFill>
                        <a:srgbClr val="14213D"/>
                      </a:solidFill>
                      <a:prstDash val="solid"/>
                      <a:round/>
                      <a:headEnd type="none" w="med" len="med"/>
                      <a:tailEnd type="none" w="med" len="med"/>
                    </a:lnT>
                    <a:lnB w="31750" cap="flat" cmpd="sng" algn="ctr">
                      <a:solidFill>
                        <a:srgbClr val="14213D"/>
                      </a:solidFill>
                      <a:prstDash val="solid"/>
                      <a:round/>
                      <a:headEnd type="none" w="med" len="med"/>
                      <a:tailEnd type="none" w="med" len="med"/>
                    </a:lnB>
                    <a:solidFill>
                      <a:srgbClr val="EFCCA8"/>
                    </a:solidFill>
                  </a:tcPr>
                </a:tc>
                <a:tc>
                  <a:txBody>
                    <a:bodyPr/>
                    <a:lstStyle/>
                    <a:p>
                      <a:pPr algn="ctr" indent="0" marL="0">
                        <a:buNone/>
                      </a:pPr>
                      <a:r>
                        <a:rPr lang="en-US" sz="1200" dirty="0">
                          <a:solidFill>
                            <a:srgbClr val="111827"/>
                          </a:solidFill>
                          <a:latin typeface="Calibri" pitchFamily="34" charset="0"/>
                          <a:ea typeface="Calibri" pitchFamily="34" charset="-122"/>
                          <a:cs typeface="Calibri" pitchFamily="34" charset="-120"/>
                        </a:rPr>
                        <a:t>2.12</a:t>
                      </a:r>
                      <a:endParaRPr lang="en-US" sz="12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E3B5"/>
                    </a:solidFill>
                  </a:tcPr>
                </a:tc>
                <a:tc>
                  <a:txBody>
                    <a:bodyPr/>
                    <a:lstStyle/>
                    <a:p>
                      <a:pPr algn="ctr" indent="0" marL="0">
                        <a:buNone/>
                      </a:pPr>
                      <a:r>
                        <a:rPr lang="en-US" sz="1200" dirty="0">
                          <a:solidFill>
                            <a:srgbClr val="111827"/>
                          </a:solidFill>
                          <a:latin typeface="Calibri" pitchFamily="34" charset="0"/>
                          <a:ea typeface="Calibri" pitchFamily="34" charset="-122"/>
                          <a:cs typeface="Calibri" pitchFamily="34" charset="-120"/>
                        </a:rPr>
                        <a:t>1.96</a:t>
                      </a:r>
                      <a:endParaRPr lang="en-US" sz="12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9AF"/>
                    </a:solidFill>
                  </a:tcPr>
                </a:tc>
                <a:tc>
                  <a:txBody>
                    <a:bodyPr/>
                    <a:lstStyle/>
                    <a:p>
                      <a:pPr algn="ctr" indent="0" marL="0">
                        <a:buNone/>
                      </a:pPr>
                      <a:r>
                        <a:rPr lang="en-US" sz="1200" dirty="0">
                          <a:solidFill>
                            <a:srgbClr val="111827"/>
                          </a:solidFill>
                          <a:latin typeface="Calibri" pitchFamily="34" charset="0"/>
                          <a:ea typeface="Calibri" pitchFamily="34" charset="-122"/>
                          <a:cs typeface="Calibri" pitchFamily="34" charset="-120"/>
                        </a:rPr>
                        <a:t>1.81</a:t>
                      </a:r>
                      <a:endParaRPr lang="en-US" sz="12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BCFAA"/>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1.61</a:t>
                      </a:r>
                      <a:endParaRPr lang="en-US" sz="1200" dirty="0">
                        <a:latin typeface="Calibri" charset="0"/>
                        <a:ea typeface="Calibri" charset="0"/>
                        <a:cs typeface="Calibri" charset="0"/>
                      </a:endParaRPr>
                    </a:p>
                    <a:p>
                      <a:pPr algn="ctr" indent="0" marL="0">
                        <a:buNone/>
                      </a:pPr>
                      <a:r>
                        <a:rPr lang="en-US" sz="750" b="1" dirty="0">
                          <a:solidFill>
                            <a:srgbClr val="FFFFFF"/>
                          </a:solidFill>
                          <a:latin typeface="Calibri" pitchFamily="34" charset="0"/>
                          <a:ea typeface="Calibri" pitchFamily="34" charset="-122"/>
                          <a:cs typeface="Calibri" pitchFamily="34" charset="-120"/>
                        </a:rPr>
                        <a:t>STRETCH</a:t>
                      </a:r>
                      <a:endParaRPr lang="en-US" sz="1200" dirty="0">
                        <a:latin typeface="Calibri" charset="0"/>
                        <a:ea typeface="Calibri" charset="0"/>
                        <a:cs typeface="Calibri" charset="0"/>
                      </a:endParaRPr>
                    </a:p>
                  </a:txBody>
                  <a:tcPr marL="91440" marR="91440" marT="45720" marB="45720" anchor="ctr">
                    <a:lnL w="31750" cap="flat" cmpd="sng" algn="ctr">
                      <a:solidFill>
                        <a:srgbClr val="14213D"/>
                      </a:solidFill>
                      <a:prstDash val="solid"/>
                      <a:round/>
                      <a:headEnd type="none" w="med" len="med"/>
                      <a:tailEnd type="none" w="med" len="med"/>
                    </a:lnL>
                    <a:lnR w="31750" cap="flat" cmpd="sng" algn="ctr">
                      <a:solidFill>
                        <a:srgbClr val="14213D"/>
                      </a:solidFill>
                      <a:prstDash val="solid"/>
                      <a:round/>
                      <a:headEnd type="none" w="med" len="med"/>
                      <a:tailEnd type="none" w="med" len="med"/>
                    </a:lnR>
                    <a:lnT w="31750" cap="flat" cmpd="sng" algn="ctr">
                      <a:solidFill>
                        <a:srgbClr val="14213D"/>
                      </a:solidFill>
                      <a:prstDash val="solid"/>
                      <a:round/>
                      <a:headEnd type="none" w="med" len="med"/>
                      <a:tailEnd type="none" w="med" len="med"/>
                    </a:lnT>
                    <a:lnB w="31750" cap="flat" cmpd="sng" algn="ctr">
                      <a:solidFill>
                        <a:srgbClr val="14213D"/>
                      </a:solidFill>
                      <a:prstDash val="solid"/>
                      <a:round/>
                      <a:headEnd type="none" w="med" len="med"/>
                      <a:tailEnd type="none" w="med" len="med"/>
                    </a:lnB>
                    <a:solidFill>
                      <a:srgbClr val="98C3A4"/>
                    </a:solidFill>
                  </a:tcPr>
                </a:tc>
                <a:tc>
                  <a:txBody>
                    <a:bodyPr/>
                    <a:lstStyle/>
                    <a:p>
                      <a:pPr algn="ctr" indent="0" marL="0">
                        <a:buNone/>
                      </a:pPr>
                      <a:r>
                        <a:rPr lang="en-US" sz="1200" dirty="0">
                          <a:solidFill>
                            <a:srgbClr val="FFFFFF"/>
                          </a:solidFill>
                          <a:latin typeface="Calibri" pitchFamily="34" charset="0"/>
                          <a:ea typeface="Calibri" pitchFamily="34" charset="-122"/>
                          <a:cs typeface="Calibri" pitchFamily="34" charset="-120"/>
                        </a:rPr>
                        <a:t>1.52</a:t>
                      </a:r>
                      <a:endParaRPr lang="en-US" sz="12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7BDA1"/>
                    </a:solidFill>
                  </a:tcPr>
                </a:tc>
              </a:tr>
              <a:tr h="713232">
                <a:tc>
                  <a:txBody>
                    <a:bodyPr/>
                    <a:lstStyle/>
                    <a:p>
                      <a:pPr indent="0" marL="0">
                        <a:buNone/>
                      </a:pPr>
                      <a:r>
                        <a:rPr lang="en-US" sz="1100" b="1" dirty="0">
                          <a:solidFill>
                            <a:srgbClr val="4B5563"/>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11827"/>
                          </a:solidFill>
                          <a:latin typeface="Calibri" pitchFamily="34" charset="0"/>
                          <a:ea typeface="Calibri" pitchFamily="34" charset="-122"/>
                          <a:cs typeface="Calibri" pitchFamily="34" charset="-120"/>
                        </a:rPr>
                        <a:t>1.81</a:t>
                      </a:r>
                      <a:endParaRPr lang="en-US" sz="12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BCFAA"/>
                    </a:solidFill>
                  </a:tcPr>
                </a:tc>
                <a:tc>
                  <a:txBody>
                    <a:bodyPr/>
                    <a:lstStyle/>
                    <a:p>
                      <a:pPr algn="ctr" indent="0" marL="0">
                        <a:buNone/>
                      </a:pPr>
                      <a:r>
                        <a:rPr lang="en-US" sz="1200" dirty="0">
                          <a:solidFill>
                            <a:srgbClr val="111827"/>
                          </a:solidFill>
                          <a:latin typeface="Calibri" pitchFamily="34" charset="0"/>
                          <a:ea typeface="Calibri" pitchFamily="34" charset="-122"/>
                          <a:cs typeface="Calibri" pitchFamily="34" charset="-120"/>
                        </a:rPr>
                        <a:t>1.77</a:t>
                      </a:r>
                      <a:endParaRPr lang="en-US" sz="12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4CDA9"/>
                    </a:solidFill>
                  </a:tcPr>
                </a:tc>
                <a:tc>
                  <a:txBody>
                    <a:bodyPr/>
                    <a:lstStyle/>
                    <a:p>
                      <a:pPr algn="ctr" indent="0" marL="0">
                        <a:buNone/>
                      </a:pPr>
                      <a:r>
                        <a:rPr lang="en-US" sz="1200" dirty="0">
                          <a:solidFill>
                            <a:srgbClr val="FFFFFF"/>
                          </a:solidFill>
                          <a:latin typeface="Calibri" pitchFamily="34" charset="0"/>
                          <a:ea typeface="Calibri" pitchFamily="34" charset="-122"/>
                          <a:cs typeface="Calibri" pitchFamily="34" charset="-120"/>
                        </a:rPr>
                        <a:t>1.61</a:t>
                      </a:r>
                      <a:endParaRPr lang="en-US" sz="12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98C3A4"/>
                    </a:solidFill>
                  </a:tcPr>
                </a:tc>
                <a:tc>
                  <a:txBody>
                    <a:bodyPr/>
                    <a:lstStyle/>
                    <a:p>
                      <a:pPr algn="ctr" indent="0" marL="0">
                        <a:buNone/>
                      </a:pPr>
                      <a:r>
                        <a:rPr lang="en-US" sz="1200" dirty="0">
                          <a:solidFill>
                            <a:srgbClr val="FFFFFF"/>
                          </a:solidFill>
                          <a:latin typeface="Calibri" pitchFamily="34" charset="0"/>
                          <a:ea typeface="Calibri" pitchFamily="34" charset="-122"/>
                          <a:cs typeface="Calibri" pitchFamily="34" charset="-120"/>
                        </a:rPr>
                        <a:t>1.45</a:t>
                      </a:r>
                      <a:endParaRPr lang="en-US" sz="12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BB99E"/>
                    </a:solidFill>
                  </a:tcPr>
                </a:tc>
                <a:tc>
                  <a:txBody>
                    <a:bodyPr/>
                    <a:lstStyle/>
                    <a:p>
                      <a:pPr algn="ctr" indent="0" marL="0">
                        <a:buNone/>
                      </a:pPr>
                      <a:r>
                        <a:rPr lang="en-US" sz="1200" dirty="0">
                          <a:solidFill>
                            <a:srgbClr val="FFFFFF"/>
                          </a:solidFill>
                          <a:latin typeface="Calibri" pitchFamily="34" charset="0"/>
                          <a:ea typeface="Calibri" pitchFamily="34" charset="-122"/>
                          <a:cs typeface="Calibri" pitchFamily="34" charset="-120"/>
                        </a:rPr>
                        <a:t>1.30</a:t>
                      </a:r>
                      <a:endParaRPr lang="en-US" sz="12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60B099"/>
                    </a:solidFill>
                  </a:tcPr>
                </a:tc>
                <a:tc>
                  <a:txBody>
                    <a:bodyPr/>
                    <a:lstStyle/>
                    <a:p>
                      <a:pPr algn="ctr" indent="0" marL="0">
                        <a:buNone/>
                      </a:pPr>
                      <a:r>
                        <a:rPr lang="en-US" sz="1200" dirty="0">
                          <a:solidFill>
                            <a:srgbClr val="FFFFFF"/>
                          </a:solidFill>
                          <a:latin typeface="Calibri" pitchFamily="34" charset="0"/>
                          <a:ea typeface="Calibri" pitchFamily="34" charset="-122"/>
                          <a:cs typeface="Calibri" pitchFamily="34" charset="-120"/>
                        </a:rPr>
                        <a:t>1.11</a:t>
                      </a:r>
                      <a:endParaRPr lang="en-US" sz="12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EA493"/>
                    </a:solidFill>
                  </a:tcPr>
                </a:tc>
                <a:tc>
                  <a:txBody>
                    <a:bodyPr/>
                    <a:lstStyle/>
                    <a:p>
                      <a:pPr algn="ctr" indent="0" marL="0">
                        <a:buNone/>
                      </a:pPr>
                      <a:r>
                        <a:rPr lang="en-US" sz="1200" dirty="0">
                          <a:solidFill>
                            <a:srgbClr val="FFFFFF"/>
                          </a:solidFill>
                          <a:latin typeface="Calibri" pitchFamily="34" charset="0"/>
                          <a:ea typeface="Calibri" pitchFamily="34" charset="-122"/>
                          <a:cs typeface="Calibri" pitchFamily="34" charset="-120"/>
                        </a:rPr>
                        <a:t>1.02</a:t>
                      </a:r>
                      <a:endParaRPr lang="en-US" sz="12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E9E90"/>
                    </a:solidFill>
                  </a:tcPr>
                </a:tc>
              </a:tr>
            </a:tbl>
          </a:graphicData>
        </a:graphic>
      </p:graphicFrame>
      <p:sp>
        <p:nvSpPr>
          <p:cNvPr id="6" name="Text 3"/>
          <p:cNvSpPr txBox="1"/>
          <p:nvPr/>
        </p:nvSpPr>
        <p:spPr>
          <a:xfrm>
            <a:off x="548640" y="5623560"/>
            <a:ext cx="7223760" cy="457200"/>
          </a:xfrm>
          <a:prstGeom prst="rect">
            <a:avLst/>
          </a:prstGeom>
          <a:noFill/>
          <a:ln/>
        </p:spPr>
        <p:txBody>
          <a:bodyPr wrap="square" lIns="0" tIns="0" rIns="0" bIns="0" rtlCol="0" anchor="t"/>
          <a:lstStyle/>
          <a:p>
            <a:pPr indent="0" marL="0">
              <a:buNone/>
            </a:pPr>
            <a:r>
              <a:rPr lang="en-US" sz="1050" i="1" dirty="0">
                <a:solidFill>
                  <a:srgbClr val="6B7280"/>
                </a:solidFill>
                <a:latin typeface="Calibri" pitchFamily="34" charset="0"/>
                <a:ea typeface="Calibri" pitchFamily="34" charset="-122"/>
                <a:cs typeface="Calibri" pitchFamily="34" charset="-120"/>
              </a:rPr>
              <a:t>tCO₂e per tonne, Jajpur route. Columns: grid emission factor in kg CO₂e/kWh (0.80 ≈ coal-heavy, 0.44 = buildable mix, 0.11 = firmed renewables).</a:t>
            </a:r>
            <a:endParaRPr lang="en-US" sz="1050" dirty="0"/>
          </a:p>
        </p:txBody>
      </p:sp>
      <p:sp>
        <p:nvSpPr>
          <p:cNvPr id="7" name="Shape 4"/>
          <p:cNvSpPr/>
          <p:nvPr/>
        </p:nvSpPr>
        <p:spPr>
          <a:xfrm>
            <a:off x="8183880" y="1554480"/>
            <a:ext cx="475488" cy="475488"/>
          </a:xfrm>
          <a:prstGeom prst="ellipse">
            <a:avLst/>
          </a:prstGeom>
          <a:solidFill>
            <a:srgbClr val="14213D"/>
          </a:solidFill>
          <a:ln w="12700">
            <a:solidFill>
              <a:srgbClr val="14213D"/>
            </a:solidFill>
            <a:prstDash val="solid"/>
          </a:ln>
        </p:spPr>
      </p:sp>
      <p:pic>
        <p:nvPicPr>
          <p:cNvPr id="8" name="Image 0" descr="preencoded.png">    </p:cNvPr>
          <p:cNvPicPr>
            <a:picLocks noChangeAspect="1"/>
          </p:cNvPicPr>
          <p:nvPr/>
        </p:nvPicPr>
        <p:blipFill>
          <a:blip r:embed="rId1"/>
          <a:stretch>
            <a:fillRect/>
          </a:stretch>
        </p:blipFill>
        <p:spPr>
          <a:xfrm>
            <a:off x="8293608" y="1664208"/>
            <a:ext cx="256032" cy="256032"/>
          </a:xfrm>
          <a:prstGeom prst="rect">
            <a:avLst/>
          </a:prstGeom>
        </p:spPr>
      </p:pic>
      <p:sp>
        <p:nvSpPr>
          <p:cNvPr id="9" name="Text 5"/>
          <p:cNvSpPr txBox="1"/>
          <p:nvPr/>
        </p:nvSpPr>
        <p:spPr>
          <a:xfrm>
            <a:off x="8823960" y="1572768"/>
            <a:ext cx="2834640" cy="411480"/>
          </a:xfrm>
          <a:prstGeom prst="rect">
            <a:avLst/>
          </a:prstGeom>
          <a:noFill/>
          <a:ln/>
        </p:spPr>
        <p:txBody>
          <a:bodyPr wrap="square" lIns="0" tIns="0" rIns="0" bIns="0" rtlCol="0" anchor="ctr"/>
          <a:lstStyle/>
          <a:p>
            <a:pPr indent="0" marL="0">
              <a:buNone/>
            </a:pPr>
            <a:r>
              <a:rPr lang="en-US" sz="1400" b="1" dirty="0">
                <a:solidFill>
                  <a:srgbClr val="14213D"/>
                </a:solidFill>
                <a:latin typeface="Arial" pitchFamily="34" charset="0"/>
                <a:ea typeface="Arial" pitchFamily="34" charset="-122"/>
                <a:cs typeface="Arial" pitchFamily="34" charset="-120"/>
              </a:rPr>
              <a:t>The exchange rate</a:t>
            </a:r>
            <a:endParaRPr lang="en-US" sz="1400" dirty="0"/>
          </a:p>
        </p:txBody>
      </p:sp>
      <p:sp>
        <p:nvSpPr>
          <p:cNvPr id="10" name="Text 6"/>
          <p:cNvSpPr txBox="1"/>
          <p:nvPr/>
        </p:nvSpPr>
        <p:spPr>
          <a:xfrm>
            <a:off x="8823960" y="2011680"/>
            <a:ext cx="2834640" cy="914400"/>
          </a:xfrm>
          <a:prstGeom prst="rect">
            <a:avLst/>
          </a:prstGeom>
          <a:noFill/>
          <a:ln/>
        </p:spPr>
        <p:txBody>
          <a:bodyPr wrap="square" lIns="0" tIns="0" rIns="0" bIns="0" rtlCol="0" anchor="t"/>
          <a:lstStyle/>
          <a:p>
            <a:pPr indent="0" marL="0">
              <a:buNone/>
            </a:pPr>
            <a:r>
              <a:rPr lang="en-US" sz="1100" dirty="0">
                <a:solidFill>
                  <a:srgbClr val="4B5563"/>
                </a:solidFill>
                <a:latin typeface="Calibri" pitchFamily="34" charset="0"/>
                <a:ea typeface="Calibri" pitchFamily="34" charset="-122"/>
                <a:cs typeface="Calibri" pitchFamily="34" charset="-120"/>
              </a:rPr>
              <a:t>10 points of scrap ≈ 0.32 kg/kWh off the grid. A planner who can't buy clean power can buy scrap instead, and the map prices the swap.</a:t>
            </a:r>
            <a:endParaRPr lang="en-US" sz="1100" dirty="0"/>
          </a:p>
        </p:txBody>
      </p:sp>
      <p:sp>
        <p:nvSpPr>
          <p:cNvPr id="11" name="Shape 7"/>
          <p:cNvSpPr/>
          <p:nvPr/>
        </p:nvSpPr>
        <p:spPr>
          <a:xfrm>
            <a:off x="8183880" y="2971800"/>
            <a:ext cx="475488" cy="475488"/>
          </a:xfrm>
          <a:prstGeom prst="ellipse">
            <a:avLst/>
          </a:prstGeom>
          <a:solidFill>
            <a:srgbClr val="14213D"/>
          </a:solidFill>
          <a:ln w="12700">
            <a:solidFill>
              <a:srgbClr val="14213D"/>
            </a:solidFill>
            <a:prstDash val="solid"/>
          </a:ln>
        </p:spPr>
      </p:sp>
      <p:pic>
        <p:nvPicPr>
          <p:cNvPr id="12" name="Image 1" descr="preencoded.png">    </p:cNvPr>
          <p:cNvPicPr>
            <a:picLocks noChangeAspect="1"/>
          </p:cNvPicPr>
          <p:nvPr/>
        </p:nvPicPr>
        <p:blipFill>
          <a:blip r:embed="rId2"/>
          <a:stretch>
            <a:fillRect/>
          </a:stretch>
        </p:blipFill>
        <p:spPr>
          <a:xfrm>
            <a:off x="8293608" y="3081528"/>
            <a:ext cx="256032" cy="256032"/>
          </a:xfrm>
          <a:prstGeom prst="rect">
            <a:avLst/>
          </a:prstGeom>
        </p:spPr>
      </p:pic>
      <p:sp>
        <p:nvSpPr>
          <p:cNvPr id="13" name="Text 8"/>
          <p:cNvSpPr txBox="1"/>
          <p:nvPr/>
        </p:nvSpPr>
        <p:spPr>
          <a:xfrm>
            <a:off x="8823960" y="2990088"/>
            <a:ext cx="2834640" cy="411480"/>
          </a:xfrm>
          <a:prstGeom prst="rect">
            <a:avLst/>
          </a:prstGeom>
          <a:noFill/>
          <a:ln/>
        </p:spPr>
        <p:txBody>
          <a:bodyPr wrap="square" lIns="0" tIns="0" rIns="0" bIns="0" rtlCol="0" anchor="ctr"/>
          <a:lstStyle/>
          <a:p>
            <a:pPr indent="0" marL="0">
              <a:buNone/>
            </a:pPr>
            <a:r>
              <a:rPr lang="en-US" sz="1400" b="1" dirty="0">
                <a:solidFill>
                  <a:srgbClr val="14213D"/>
                </a:solidFill>
                <a:latin typeface="Arial" pitchFamily="34" charset="0"/>
                <a:ea typeface="Arial" pitchFamily="34" charset="-122"/>
                <a:cs typeface="Arial" pitchFamily="34" charset="-120"/>
              </a:rPr>
              <a:t>Two roads to the same tonne</a:t>
            </a:r>
            <a:endParaRPr lang="en-US" sz="1400" dirty="0"/>
          </a:p>
        </p:txBody>
      </p:sp>
      <p:sp>
        <p:nvSpPr>
          <p:cNvPr id="14" name="Text 9"/>
          <p:cNvSpPr txBox="1"/>
          <p:nvPr/>
        </p:nvSpPr>
        <p:spPr>
          <a:xfrm>
            <a:off x="8823960" y="3429000"/>
            <a:ext cx="2834640" cy="914400"/>
          </a:xfrm>
          <a:prstGeom prst="rect">
            <a:avLst/>
          </a:prstGeom>
          <a:noFill/>
          <a:ln/>
        </p:spPr>
        <p:txBody>
          <a:bodyPr wrap="square" lIns="0" tIns="0" rIns="0" bIns="0" rtlCol="0" anchor="t"/>
          <a:lstStyle/>
          <a:p>
            <a:pPr indent="0" marL="0">
              <a:buNone/>
            </a:pPr>
            <a:r>
              <a:rPr lang="en-US" sz="1100" dirty="0">
                <a:solidFill>
                  <a:srgbClr val="4B5563"/>
                </a:solidFill>
                <a:latin typeface="Calibri" pitchFamily="34" charset="0"/>
                <a:ea typeface="Calibri" pitchFamily="34" charset="-122"/>
                <a:cs typeface="Calibri" pitchFamily="34" charset="-120"/>
              </a:rPr>
              <a:t>85% scrap on today's grid (2.29) lands where 75% scrap on the buildable grid does (2.30). Which one is cheaper is a procurement question, not a metallurgical one.</a:t>
            </a:r>
            <a:endParaRPr lang="en-US" sz="1100" dirty="0"/>
          </a:p>
        </p:txBody>
      </p:sp>
      <p:sp>
        <p:nvSpPr>
          <p:cNvPr id="15" name="Shape 10"/>
          <p:cNvSpPr/>
          <p:nvPr/>
        </p:nvSpPr>
        <p:spPr>
          <a:xfrm>
            <a:off x="8183880" y="4389120"/>
            <a:ext cx="475488" cy="475488"/>
          </a:xfrm>
          <a:prstGeom prst="ellipse">
            <a:avLst/>
          </a:prstGeom>
          <a:solidFill>
            <a:srgbClr val="14213D"/>
          </a:solidFill>
          <a:ln w="12700">
            <a:solidFill>
              <a:srgbClr val="14213D"/>
            </a:solidFill>
            <a:prstDash val="solid"/>
          </a:ln>
        </p:spPr>
      </p:sp>
      <p:pic>
        <p:nvPicPr>
          <p:cNvPr id="16" name="Image 2" descr="preencoded.png">    </p:cNvPr>
          <p:cNvPicPr>
            <a:picLocks noChangeAspect="1"/>
          </p:cNvPicPr>
          <p:nvPr/>
        </p:nvPicPr>
        <p:blipFill>
          <a:blip r:embed="rId3"/>
          <a:stretch>
            <a:fillRect/>
          </a:stretch>
        </p:blipFill>
        <p:spPr>
          <a:xfrm>
            <a:off x="8293608" y="4498848"/>
            <a:ext cx="256032" cy="256032"/>
          </a:xfrm>
          <a:prstGeom prst="rect">
            <a:avLst/>
          </a:prstGeom>
        </p:spPr>
      </p:pic>
      <p:sp>
        <p:nvSpPr>
          <p:cNvPr id="17" name="Text 11"/>
          <p:cNvSpPr txBox="1"/>
          <p:nvPr/>
        </p:nvSpPr>
        <p:spPr>
          <a:xfrm>
            <a:off x="8823960" y="4407408"/>
            <a:ext cx="2834640" cy="411480"/>
          </a:xfrm>
          <a:prstGeom prst="rect">
            <a:avLst/>
          </a:prstGeom>
          <a:noFill/>
          <a:ln/>
        </p:spPr>
        <p:txBody>
          <a:bodyPr wrap="square" lIns="0" tIns="0" rIns="0" bIns="0" rtlCol="0" anchor="ctr"/>
          <a:lstStyle/>
          <a:p>
            <a:pPr indent="0" marL="0">
              <a:buNone/>
            </a:pPr>
            <a:r>
              <a:rPr lang="en-US" sz="1400" b="1" dirty="0">
                <a:solidFill>
                  <a:srgbClr val="14213D"/>
                </a:solidFill>
                <a:latin typeface="Arial" pitchFamily="34" charset="0"/>
                <a:ea typeface="Arial" pitchFamily="34" charset="-122"/>
                <a:cs typeface="Arial" pitchFamily="34" charset="-120"/>
              </a:rPr>
              <a:t>The diagonal is the strategy</a:t>
            </a:r>
            <a:endParaRPr lang="en-US" sz="1400" dirty="0"/>
          </a:p>
        </p:txBody>
      </p:sp>
      <p:sp>
        <p:nvSpPr>
          <p:cNvPr id="18" name="Text 12"/>
          <p:cNvSpPr txBox="1"/>
          <p:nvPr/>
        </p:nvSpPr>
        <p:spPr>
          <a:xfrm>
            <a:off x="8823960" y="4846320"/>
            <a:ext cx="2834640" cy="914400"/>
          </a:xfrm>
          <a:prstGeom prst="rect">
            <a:avLst/>
          </a:prstGeom>
          <a:noFill/>
          <a:ln/>
        </p:spPr>
        <p:txBody>
          <a:bodyPr wrap="square" lIns="0" tIns="0" rIns="0" bIns="0" rtlCol="0" anchor="t"/>
          <a:lstStyle/>
          <a:p>
            <a:pPr indent="0" marL="0">
              <a:buNone/>
            </a:pPr>
            <a:r>
              <a:rPr lang="en-US" sz="1100" dirty="0">
                <a:solidFill>
                  <a:srgbClr val="4B5563"/>
                </a:solidFill>
                <a:latin typeface="Calibri" pitchFamily="34" charset="0"/>
                <a:ea typeface="Calibri" pitchFamily="34" charset="-122"/>
                <a:cs typeface="Calibri" pitchFamily="34" charset="-120"/>
              </a:rPr>
              <a:t>Moving both levers together, from TODAY to STRETCH, takes the tonne from 2.88 to 1.61. Within stretch limits, neither lever gets there alone.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384048"/>
            <a:ext cx="548640" cy="274320"/>
          </a:xfrm>
          <a:prstGeom prst="rect">
            <a:avLst/>
          </a:prstGeom>
          <a:noFill/>
          <a:ln/>
        </p:spPr>
        <p:txBody>
          <a:bodyPr wrap="square" lIns="0" tIns="0" rIns="0" bIns="0" rtlCol="0" anchor="ctr"/>
          <a:lstStyle/>
          <a:p>
            <a:pPr indent="0" marL="0">
              <a:buNone/>
            </a:pPr>
            <a:r>
              <a:rPr lang="en-US" sz="1400" b="1" dirty="0">
                <a:solidFill>
                  <a:srgbClr val="FCA311"/>
                </a:solidFill>
                <a:latin typeface="Arial" pitchFamily="34" charset="0"/>
                <a:ea typeface="Arial" pitchFamily="34" charset="-122"/>
                <a:cs typeface="Arial" pitchFamily="34" charset="-120"/>
              </a:rPr>
              <a:t>04</a:t>
            </a:r>
            <a:endParaRPr lang="en-US" sz="1400" dirty="0"/>
          </a:p>
        </p:txBody>
      </p:sp>
      <p:sp>
        <p:nvSpPr>
          <p:cNvPr id="3" name="Text 1"/>
          <p:cNvSpPr txBox="1"/>
          <p:nvPr/>
        </p:nvSpPr>
        <p:spPr>
          <a:xfrm>
            <a:off x="1051560" y="384048"/>
            <a:ext cx="9144000" cy="274320"/>
          </a:xfrm>
          <a:prstGeom prst="rect">
            <a:avLst/>
          </a:prstGeom>
          <a:noFill/>
          <a:ln/>
        </p:spPr>
        <p:txBody>
          <a:bodyPr wrap="square" lIns="0" tIns="0" rIns="0" bIns="0" rtlCol="0" anchor="ctr"/>
          <a:lstStyle/>
          <a:p>
            <a:pPr indent="0" marL="0">
              <a:buNone/>
            </a:pPr>
            <a:r>
              <a:rPr lang="en-US" sz="1100" b="1" spc="150" kern="0" dirty="0">
                <a:solidFill>
                  <a:srgbClr val="AAB4C3"/>
                </a:solidFill>
                <a:latin typeface="Calibri" pitchFamily="34" charset="0"/>
                <a:ea typeface="Calibri" pitchFamily="34" charset="-122"/>
                <a:cs typeface="Calibri" pitchFamily="34" charset="-120"/>
              </a:rPr>
              <a:t>PROPOSED SOLUTION</a:t>
            </a:r>
            <a:endParaRPr lang="en-US" sz="1100" dirty="0"/>
          </a:p>
        </p:txBody>
      </p:sp>
      <p:sp>
        <p:nvSpPr>
          <p:cNvPr id="4" name="Text 2"/>
          <p:cNvSpPr txBox="1"/>
          <p:nvPr/>
        </p:nvSpPr>
        <p:spPr>
          <a:xfrm>
            <a:off x="548640" y="713232"/>
            <a:ext cx="11064240" cy="566928"/>
          </a:xfrm>
          <a:prstGeom prst="rect">
            <a:avLst/>
          </a:prstGeom>
          <a:noFill/>
          <a:ln/>
        </p:spPr>
        <p:txBody>
          <a:bodyPr wrap="square" lIns="0" tIns="0" rIns="0" bIns="0" rtlCol="0" anchor="t"/>
          <a:lstStyle/>
          <a:p>
            <a:pPr indent="0" marL="0">
              <a:buNone/>
            </a:pPr>
            <a:r>
              <a:rPr lang="en-US" sz="2800" b="1" dirty="0">
                <a:solidFill>
                  <a:srgbClr val="FFFFFF"/>
                </a:solidFill>
                <a:latin typeface="Arial" pitchFamily="34" charset="0"/>
                <a:ea typeface="Arial" pitchFamily="34" charset="-122"/>
                <a:cs typeface="Arial" pitchFamily="34" charset="-120"/>
              </a:rPr>
              <a:t>CarbonSpark closes the loop from choice to carbon</a:t>
            </a:r>
            <a:endParaRPr lang="en-US" sz="2800" dirty="0"/>
          </a:p>
        </p:txBody>
      </p:sp>
      <p:sp>
        <p:nvSpPr>
          <p:cNvPr id="5" name="Shape 3"/>
          <p:cNvSpPr/>
          <p:nvPr/>
        </p:nvSpPr>
        <p:spPr>
          <a:xfrm>
            <a:off x="502920" y="1508760"/>
            <a:ext cx="2286000" cy="566928"/>
          </a:xfrm>
          <a:prstGeom prst="homePlate">
            <a:avLst/>
          </a:prstGeom>
          <a:solidFill>
            <a:srgbClr val="2C3E66"/>
          </a:solidFill>
          <a:ln w="12700">
            <a:solidFill>
              <a:srgbClr val="14213D"/>
            </a:solidFill>
            <a:prstDash val="solid"/>
          </a:ln>
        </p:spPr>
      </p:sp>
      <p:sp>
        <p:nvSpPr>
          <p:cNvPr id="6" name="Text 4"/>
          <p:cNvSpPr txBox="1"/>
          <p:nvPr/>
        </p:nvSpPr>
        <p:spPr>
          <a:xfrm>
            <a:off x="685800" y="1508760"/>
            <a:ext cx="1737360" cy="566928"/>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Measure</a:t>
            </a:r>
            <a:endParaRPr lang="en-US" sz="1400" dirty="0"/>
          </a:p>
        </p:txBody>
      </p:sp>
      <p:sp>
        <p:nvSpPr>
          <p:cNvPr id="7" name="Text 5"/>
          <p:cNvSpPr txBox="1"/>
          <p:nvPr/>
        </p:nvSpPr>
        <p:spPr>
          <a:xfrm>
            <a:off x="685800" y="2194560"/>
            <a:ext cx="1965960" cy="548640"/>
          </a:xfrm>
          <a:prstGeom prst="rect">
            <a:avLst/>
          </a:prstGeom>
          <a:noFill/>
          <a:ln/>
        </p:spPr>
        <p:txBody>
          <a:bodyPr wrap="square" lIns="0" tIns="0" rIns="0" bIns="0" rtlCol="0" anchor="t"/>
          <a:lstStyle/>
          <a:p>
            <a:pPr indent="0" marL="0">
              <a:buNone/>
            </a:pPr>
            <a:r>
              <a:rPr lang="en-US" sz="1100" dirty="0">
                <a:solidFill>
                  <a:srgbClr val="AAB4C3"/>
                </a:solidFill>
                <a:latin typeface="Calibri" pitchFamily="34" charset="0"/>
                <a:ea typeface="Calibri" pitchFamily="34" charset="-122"/>
                <a:cs typeface="Calibri" pitchFamily="34" charset="-120"/>
              </a:rPr>
              <a:t>Dashboard: tonne by scope, department, gas</a:t>
            </a:r>
            <a:endParaRPr lang="en-US" sz="1100" dirty="0"/>
          </a:p>
        </p:txBody>
      </p:sp>
      <p:sp>
        <p:nvSpPr>
          <p:cNvPr id="8" name="Shape 6"/>
          <p:cNvSpPr/>
          <p:nvPr/>
        </p:nvSpPr>
        <p:spPr>
          <a:xfrm>
            <a:off x="2752344" y="1508760"/>
            <a:ext cx="2286000" cy="566928"/>
          </a:xfrm>
          <a:prstGeom prst="chevron">
            <a:avLst/>
          </a:prstGeom>
          <a:solidFill>
            <a:srgbClr val="2C3E66"/>
          </a:solidFill>
          <a:ln w="12700">
            <a:solidFill>
              <a:srgbClr val="14213D"/>
            </a:solidFill>
            <a:prstDash val="solid"/>
          </a:ln>
        </p:spPr>
      </p:sp>
      <p:sp>
        <p:nvSpPr>
          <p:cNvPr id="9" name="Text 7"/>
          <p:cNvSpPr txBox="1"/>
          <p:nvPr/>
        </p:nvSpPr>
        <p:spPr>
          <a:xfrm>
            <a:off x="3072384" y="1508760"/>
            <a:ext cx="1737360" cy="566928"/>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Explore</a:t>
            </a:r>
            <a:endParaRPr lang="en-US" sz="1400" dirty="0"/>
          </a:p>
        </p:txBody>
      </p:sp>
      <p:sp>
        <p:nvSpPr>
          <p:cNvPr id="10" name="Text 8"/>
          <p:cNvSpPr txBox="1"/>
          <p:nvPr/>
        </p:nvSpPr>
        <p:spPr>
          <a:xfrm>
            <a:off x="2935224" y="2194560"/>
            <a:ext cx="1965960" cy="548640"/>
          </a:xfrm>
          <a:prstGeom prst="rect">
            <a:avLst/>
          </a:prstGeom>
          <a:noFill/>
          <a:ln/>
        </p:spPr>
        <p:txBody>
          <a:bodyPr wrap="square" lIns="0" tIns="0" rIns="0" bIns="0" rtlCol="0" anchor="t"/>
          <a:lstStyle/>
          <a:p>
            <a:pPr indent="0" marL="0">
              <a:buNone/>
            </a:pPr>
            <a:r>
              <a:rPr lang="en-US" sz="1100" dirty="0">
                <a:solidFill>
                  <a:srgbClr val="AAB4C3"/>
                </a:solidFill>
                <a:latin typeface="Calibri" pitchFamily="34" charset="0"/>
                <a:ea typeface="Calibri" pitchFamily="34" charset="-122"/>
                <a:cs typeface="Calibri" pitchFamily="34" charset="-120"/>
              </a:rPr>
              <a:t>Drag scrap, grid, rail, route. The readout follows</a:t>
            </a:r>
            <a:endParaRPr lang="en-US" sz="1100" dirty="0"/>
          </a:p>
        </p:txBody>
      </p:sp>
      <p:sp>
        <p:nvSpPr>
          <p:cNvPr id="11" name="Shape 9"/>
          <p:cNvSpPr/>
          <p:nvPr/>
        </p:nvSpPr>
        <p:spPr>
          <a:xfrm>
            <a:off x="5001768" y="1508760"/>
            <a:ext cx="2286000" cy="566928"/>
          </a:xfrm>
          <a:prstGeom prst="chevron">
            <a:avLst/>
          </a:prstGeom>
          <a:solidFill>
            <a:srgbClr val="2C3E66"/>
          </a:solidFill>
          <a:ln w="12700">
            <a:solidFill>
              <a:srgbClr val="14213D"/>
            </a:solidFill>
            <a:prstDash val="solid"/>
          </a:ln>
        </p:spPr>
      </p:sp>
      <p:sp>
        <p:nvSpPr>
          <p:cNvPr id="12" name="Text 10"/>
          <p:cNvSpPr txBox="1"/>
          <p:nvPr/>
        </p:nvSpPr>
        <p:spPr>
          <a:xfrm>
            <a:off x="5321808" y="1508760"/>
            <a:ext cx="1737360" cy="566928"/>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Compare</a:t>
            </a:r>
            <a:endParaRPr lang="en-US" sz="1400" dirty="0"/>
          </a:p>
        </p:txBody>
      </p:sp>
      <p:sp>
        <p:nvSpPr>
          <p:cNvPr id="13" name="Text 11"/>
          <p:cNvSpPr txBox="1"/>
          <p:nvPr/>
        </p:nvSpPr>
        <p:spPr>
          <a:xfrm>
            <a:off x="5184648" y="2194560"/>
            <a:ext cx="1965960" cy="548640"/>
          </a:xfrm>
          <a:prstGeom prst="rect">
            <a:avLst/>
          </a:prstGeom>
          <a:noFill/>
          <a:ln/>
        </p:spPr>
        <p:txBody>
          <a:bodyPr wrap="square" lIns="0" tIns="0" rIns="0" bIns="0" rtlCol="0" anchor="t"/>
          <a:lstStyle/>
          <a:p>
            <a:pPr indent="0" marL="0">
              <a:buNone/>
            </a:pPr>
            <a:r>
              <a:rPr lang="en-US" sz="1100" dirty="0">
                <a:solidFill>
                  <a:srgbClr val="AAB4C3"/>
                </a:solidFill>
                <a:latin typeface="Calibri" pitchFamily="34" charset="0"/>
                <a:ea typeface="Calibri" pitchFamily="34" charset="-122"/>
                <a:cs typeface="Calibri" pitchFamily="34" charset="-120"/>
              </a:rPr>
              <a:t>Two full plans side by side, per-scope deltas</a:t>
            </a:r>
            <a:endParaRPr lang="en-US" sz="1100" dirty="0"/>
          </a:p>
        </p:txBody>
      </p:sp>
      <p:sp>
        <p:nvSpPr>
          <p:cNvPr id="14" name="Shape 12"/>
          <p:cNvSpPr/>
          <p:nvPr/>
        </p:nvSpPr>
        <p:spPr>
          <a:xfrm>
            <a:off x="7251192" y="1508760"/>
            <a:ext cx="2286000" cy="566928"/>
          </a:xfrm>
          <a:prstGeom prst="chevron">
            <a:avLst/>
          </a:prstGeom>
          <a:solidFill>
            <a:srgbClr val="FCA311"/>
          </a:solidFill>
          <a:ln w="12700">
            <a:solidFill>
              <a:srgbClr val="14213D"/>
            </a:solidFill>
            <a:prstDash val="solid"/>
          </a:ln>
        </p:spPr>
      </p:sp>
      <p:sp>
        <p:nvSpPr>
          <p:cNvPr id="15" name="Text 13"/>
          <p:cNvSpPr txBox="1"/>
          <p:nvPr/>
        </p:nvSpPr>
        <p:spPr>
          <a:xfrm>
            <a:off x="7571232" y="1508760"/>
            <a:ext cx="1737360" cy="566928"/>
          </a:xfrm>
          <a:prstGeom prst="rect">
            <a:avLst/>
          </a:prstGeom>
          <a:noFill/>
          <a:ln/>
        </p:spPr>
        <p:txBody>
          <a:bodyPr wrap="square" lIns="0" tIns="0" rIns="0" bIns="0" rtlCol="0" anchor="ctr"/>
          <a:lstStyle/>
          <a:p>
            <a:pPr indent="0" marL="0">
              <a:buNone/>
            </a:pPr>
            <a:r>
              <a:rPr lang="en-US" sz="1400" b="1" dirty="0">
                <a:solidFill>
                  <a:srgbClr val="14213D"/>
                </a:solidFill>
                <a:latin typeface="Arial" pitchFamily="34" charset="0"/>
                <a:ea typeface="Arial" pitchFamily="34" charset="-122"/>
                <a:cs typeface="Arial" pitchFamily="34" charset="-120"/>
              </a:rPr>
              <a:t>Optimise</a:t>
            </a:r>
            <a:endParaRPr lang="en-US" sz="1400" dirty="0"/>
          </a:p>
        </p:txBody>
      </p:sp>
      <p:sp>
        <p:nvSpPr>
          <p:cNvPr id="16" name="Text 14"/>
          <p:cNvSpPr txBox="1"/>
          <p:nvPr/>
        </p:nvSpPr>
        <p:spPr>
          <a:xfrm>
            <a:off x="7434072" y="2194560"/>
            <a:ext cx="1965960" cy="548640"/>
          </a:xfrm>
          <a:prstGeom prst="rect">
            <a:avLst/>
          </a:prstGeom>
          <a:noFill/>
          <a:ln/>
        </p:spPr>
        <p:txBody>
          <a:bodyPr wrap="square" lIns="0" tIns="0" rIns="0" bIns="0" rtlCol="0" anchor="t"/>
          <a:lstStyle/>
          <a:p>
            <a:pPr indent="0" marL="0">
              <a:buNone/>
            </a:pPr>
            <a:r>
              <a:rPr lang="en-US" sz="1100" dirty="0">
                <a:solidFill>
                  <a:srgbClr val="AAB4C3"/>
                </a:solidFill>
                <a:latin typeface="Calibri" pitchFamily="34" charset="0"/>
                <a:ea typeface="Calibri" pitchFamily="34" charset="-122"/>
                <a:cs typeface="Calibri" pitchFamily="34" charset="-120"/>
              </a:rPr>
              <a:t>Exact lowest-carbon plan at 3 ambition levels</a:t>
            </a:r>
            <a:endParaRPr lang="en-US" sz="1100" dirty="0"/>
          </a:p>
        </p:txBody>
      </p:sp>
      <p:sp>
        <p:nvSpPr>
          <p:cNvPr id="17" name="Shape 15"/>
          <p:cNvSpPr/>
          <p:nvPr/>
        </p:nvSpPr>
        <p:spPr>
          <a:xfrm>
            <a:off x="9500616" y="1508760"/>
            <a:ext cx="2286000" cy="566928"/>
          </a:xfrm>
          <a:prstGeom prst="chevron">
            <a:avLst/>
          </a:prstGeom>
          <a:solidFill>
            <a:srgbClr val="2C3E66"/>
          </a:solidFill>
          <a:ln w="12700">
            <a:solidFill>
              <a:srgbClr val="14213D"/>
            </a:solidFill>
            <a:prstDash val="solid"/>
          </a:ln>
        </p:spPr>
      </p:sp>
      <p:sp>
        <p:nvSpPr>
          <p:cNvPr id="18" name="Text 16"/>
          <p:cNvSpPr txBox="1"/>
          <p:nvPr/>
        </p:nvSpPr>
        <p:spPr>
          <a:xfrm>
            <a:off x="9820656" y="1508760"/>
            <a:ext cx="1737360" cy="566928"/>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Act</a:t>
            </a:r>
            <a:endParaRPr lang="en-US" sz="1400" dirty="0"/>
          </a:p>
        </p:txBody>
      </p:sp>
      <p:sp>
        <p:nvSpPr>
          <p:cNvPr id="19" name="Text 17"/>
          <p:cNvSpPr txBox="1"/>
          <p:nvPr/>
        </p:nvSpPr>
        <p:spPr>
          <a:xfrm>
            <a:off x="9683496" y="2194560"/>
            <a:ext cx="1965960" cy="548640"/>
          </a:xfrm>
          <a:prstGeom prst="rect">
            <a:avLst/>
          </a:prstGeom>
          <a:noFill/>
          <a:ln/>
        </p:spPr>
        <p:txBody>
          <a:bodyPr wrap="square" lIns="0" tIns="0" rIns="0" bIns="0" rtlCol="0" anchor="t"/>
          <a:lstStyle/>
          <a:p>
            <a:pPr indent="0" marL="0">
              <a:buNone/>
            </a:pPr>
            <a:r>
              <a:rPr lang="en-US" sz="1100" dirty="0">
                <a:solidFill>
                  <a:srgbClr val="AAB4C3"/>
                </a:solidFill>
                <a:latin typeface="Calibri" pitchFamily="34" charset="0"/>
                <a:ea typeface="Calibri" pitchFamily="34" charset="-122"/>
                <a:cs typeface="Calibri" pitchFamily="34" charset="-120"/>
              </a:rPr>
              <a:t>A ranked, written action plan with the limits</a:t>
            </a:r>
            <a:endParaRPr lang="en-US" sz="1100" dirty="0"/>
          </a:p>
        </p:txBody>
      </p:sp>
      <p:pic>
        <p:nvPicPr>
          <p:cNvPr id="20" name="Image 0" descr="/tmp/lo/crops/compare.png">    </p:cNvPr>
          <p:cNvPicPr>
            <a:picLocks noChangeAspect="1"/>
          </p:cNvPicPr>
          <p:nvPr/>
        </p:nvPicPr>
        <p:blipFill>
          <a:blip r:embed="rId1"/>
          <a:srcRect l="0" r="0" t="0" b="0"/>
          <a:stretch/>
        </p:blipFill>
        <p:spPr>
          <a:xfrm>
            <a:off x="548640" y="2971800"/>
            <a:ext cx="6766560" cy="3318568"/>
          </a:xfrm>
          <a:prstGeom prst="rect">
            <a:avLst/>
          </a:prstGeom>
          <a:effectLst>
            <a:outerShdw sx="100000" sy="100000" kx="0" ky="0" algn="bl" rotWithShape="0" blurRad="127000" dist="38100" dir="5400000">
              <a:srgbClr val="000000">
                <a:alpha val="50000"/>
              </a:srgbClr>
            </a:outerShdw>
          </a:effectLst>
        </p:spPr>
      </p:pic>
      <p:sp>
        <p:nvSpPr>
          <p:cNvPr id="21" name="Text 18"/>
          <p:cNvSpPr txBox="1"/>
          <p:nvPr/>
        </p:nvSpPr>
        <p:spPr>
          <a:xfrm>
            <a:off x="548640" y="6381808"/>
            <a:ext cx="6766560" cy="274320"/>
          </a:xfrm>
          <a:prstGeom prst="rect">
            <a:avLst/>
          </a:prstGeom>
          <a:noFill/>
          <a:ln/>
        </p:spPr>
        <p:txBody>
          <a:bodyPr wrap="square" lIns="0" tIns="0" rIns="0" bIns="0" rtlCol="0" anchor="ctr"/>
          <a:lstStyle/>
          <a:p>
            <a:pPr indent="0" marL="0">
              <a:buNone/>
            </a:pPr>
            <a:r>
              <a:rPr lang="en-US" sz="1050" i="1" dirty="0">
                <a:solidFill>
                  <a:srgbClr val="AAB4C3"/>
                </a:solidFill>
                <a:latin typeface="Calibri" pitchFamily="34" charset="0"/>
                <a:ea typeface="Calibri" pitchFamily="34" charset="-122"/>
                <a:cs typeface="Calibri" pitchFamily="34" charset="-120"/>
              </a:rPr>
              <a:t>Compare, live: Jajpur today vs 75% scrap on a 50% renewable grid, −0.641 t/t (−22.2%)</a:t>
            </a:r>
            <a:endParaRPr lang="en-US" sz="1050" dirty="0"/>
          </a:p>
        </p:txBody>
      </p:sp>
      <p:sp>
        <p:nvSpPr>
          <p:cNvPr id="22" name="Text 19"/>
          <p:cNvSpPr txBox="1"/>
          <p:nvPr/>
        </p:nvSpPr>
        <p:spPr>
          <a:xfrm>
            <a:off x="7680960" y="2971800"/>
            <a:ext cx="3931920" cy="274320"/>
          </a:xfrm>
          <a:prstGeom prst="rect">
            <a:avLst/>
          </a:prstGeom>
          <a:noFill/>
          <a:ln/>
        </p:spPr>
        <p:txBody>
          <a:bodyPr wrap="square" lIns="0" tIns="0" rIns="0" bIns="0" rtlCol="0" anchor="ctr"/>
          <a:lstStyle/>
          <a:p>
            <a:pPr indent="0" marL="0">
              <a:buNone/>
            </a:pPr>
            <a:r>
              <a:rPr lang="en-US" sz="1100" b="1" spc="150" kern="0" dirty="0">
                <a:solidFill>
                  <a:srgbClr val="FCA311"/>
                </a:solidFill>
                <a:latin typeface="Calibri" pitchFamily="34" charset="0"/>
                <a:ea typeface="Calibri" pitchFamily="34" charset="-122"/>
                <a:cs typeface="Calibri" pitchFamily="34" charset="-120"/>
              </a:rPr>
              <a:t>WHAT'S NEW SINCE ROUND 1</a:t>
            </a:r>
            <a:endParaRPr lang="en-US" sz="1100" dirty="0"/>
          </a:p>
        </p:txBody>
      </p:sp>
      <p:pic>
        <p:nvPicPr>
          <p:cNvPr id="23" name="Image 1" descr="preencoded.png">    </p:cNvPr>
          <p:cNvPicPr>
            <a:picLocks noChangeAspect="1"/>
          </p:cNvPicPr>
          <p:nvPr/>
        </p:nvPicPr>
        <p:blipFill>
          <a:blip r:embed="rId2"/>
          <a:stretch>
            <a:fillRect/>
          </a:stretch>
        </p:blipFill>
        <p:spPr>
          <a:xfrm>
            <a:off x="7680960" y="3374136"/>
            <a:ext cx="219456" cy="219456"/>
          </a:xfrm>
          <a:prstGeom prst="rect">
            <a:avLst/>
          </a:prstGeom>
        </p:spPr>
      </p:pic>
      <p:sp>
        <p:nvSpPr>
          <p:cNvPr id="24" name="Text 20"/>
          <p:cNvSpPr txBox="1"/>
          <p:nvPr/>
        </p:nvSpPr>
        <p:spPr>
          <a:xfrm>
            <a:off x="8001000" y="3337560"/>
            <a:ext cx="3657600" cy="438912"/>
          </a:xfrm>
          <a:prstGeom prst="rect">
            <a:avLst/>
          </a:prstGeom>
          <a:noFill/>
          <a:ln/>
        </p:spPr>
        <p:txBody>
          <a:bodyPr wrap="square" lIns="0" tIns="0" rIns="0" bIns="0" rtlCol="0" anchor="t"/>
          <a:lstStyle/>
          <a:p>
            <a:pPr indent="0" marL="0">
              <a:buNone/>
            </a:pPr>
            <a:r>
              <a:rPr lang="en-US" sz="1150" dirty="0">
                <a:solidFill>
                  <a:srgbClr val="F3F4F6"/>
                </a:solidFill>
                <a:latin typeface="Calibri" pitchFamily="34" charset="0"/>
                <a:ea typeface="Calibri" pitchFamily="34" charset="-122"/>
                <a:cs typeface="Calibri" pitchFamily="34" charset="-120"/>
              </a:rPr>
              <a:t>Coefficients recalibrated. Jajpur Scope 1+2 now 1.28 vs JSL's disclosed 1.76, was 3.19</a:t>
            </a:r>
            <a:endParaRPr lang="en-US" sz="1150" dirty="0"/>
          </a:p>
        </p:txBody>
      </p:sp>
      <p:pic>
        <p:nvPicPr>
          <p:cNvPr id="25" name="Image 2" descr="preencoded.png">    </p:cNvPr>
          <p:cNvPicPr>
            <a:picLocks noChangeAspect="1"/>
          </p:cNvPicPr>
          <p:nvPr/>
        </p:nvPicPr>
        <p:blipFill>
          <a:blip r:embed="rId3"/>
          <a:stretch>
            <a:fillRect/>
          </a:stretch>
        </p:blipFill>
        <p:spPr>
          <a:xfrm>
            <a:off x="7680960" y="3849624"/>
            <a:ext cx="219456" cy="219456"/>
          </a:xfrm>
          <a:prstGeom prst="rect">
            <a:avLst/>
          </a:prstGeom>
        </p:spPr>
      </p:pic>
      <p:sp>
        <p:nvSpPr>
          <p:cNvPr id="26" name="Text 21"/>
          <p:cNvSpPr txBox="1"/>
          <p:nvPr/>
        </p:nvSpPr>
        <p:spPr>
          <a:xfrm>
            <a:off x="8001000" y="3813048"/>
            <a:ext cx="3657600" cy="438912"/>
          </a:xfrm>
          <a:prstGeom prst="rect">
            <a:avLst/>
          </a:prstGeom>
          <a:noFill/>
          <a:ln/>
        </p:spPr>
        <p:txBody>
          <a:bodyPr wrap="square" lIns="0" tIns="0" rIns="0" bIns="0" rtlCol="0" anchor="t"/>
          <a:lstStyle/>
          <a:p>
            <a:pPr indent="0" marL="0">
              <a:buNone/>
            </a:pPr>
            <a:r>
              <a:rPr lang="en-US" sz="1150" dirty="0">
                <a:solidFill>
                  <a:srgbClr val="F3F4F6"/>
                </a:solidFill>
                <a:latin typeface="Calibri" pitchFamily="34" charset="0"/>
                <a:ea typeface="Calibri" pitchFamily="34" charset="-122"/>
                <a:cs typeface="Calibri" pitchFamily="34" charset="-120"/>
              </a:rPr>
              <a:t>Sourced JSL Jajpur and Hisar site profiles</a:t>
            </a:r>
            <a:endParaRPr lang="en-US" sz="1150" dirty="0"/>
          </a:p>
        </p:txBody>
      </p:sp>
      <p:pic>
        <p:nvPicPr>
          <p:cNvPr id="27" name="Image 3" descr="preencoded.png">    </p:cNvPr>
          <p:cNvPicPr>
            <a:picLocks noChangeAspect="1"/>
          </p:cNvPicPr>
          <p:nvPr/>
        </p:nvPicPr>
        <p:blipFill>
          <a:blip r:embed="rId4"/>
          <a:stretch>
            <a:fillRect/>
          </a:stretch>
        </p:blipFill>
        <p:spPr>
          <a:xfrm>
            <a:off x="7680960" y="4325112"/>
            <a:ext cx="219456" cy="219456"/>
          </a:xfrm>
          <a:prstGeom prst="rect">
            <a:avLst/>
          </a:prstGeom>
        </p:spPr>
      </p:pic>
      <p:sp>
        <p:nvSpPr>
          <p:cNvPr id="28" name="Text 22"/>
          <p:cNvSpPr txBox="1"/>
          <p:nvPr/>
        </p:nvSpPr>
        <p:spPr>
          <a:xfrm>
            <a:off x="8001000" y="4288536"/>
            <a:ext cx="3657600" cy="438912"/>
          </a:xfrm>
          <a:prstGeom prst="rect">
            <a:avLst/>
          </a:prstGeom>
          <a:noFill/>
          <a:ln/>
        </p:spPr>
        <p:txBody>
          <a:bodyPr wrap="square" lIns="0" tIns="0" rIns="0" bIns="0" rtlCol="0" anchor="t"/>
          <a:lstStyle/>
          <a:p>
            <a:pPr indent="0" marL="0">
              <a:buNone/>
            </a:pPr>
            <a:r>
              <a:rPr lang="en-US" sz="1150" dirty="0">
                <a:solidFill>
                  <a:srgbClr val="F3F4F6"/>
                </a:solidFill>
                <a:latin typeface="Calibri" pitchFamily="34" charset="0"/>
                <a:ea typeface="Calibri" pitchFamily="34" charset="-122"/>
                <a:cs typeface="Calibri" pitchFamily="34" charset="-120"/>
              </a:rPr>
              <a:t>Exact optimiser: 8-corner search, ~15 ms</a:t>
            </a:r>
            <a:endParaRPr lang="en-US" sz="1150" dirty="0"/>
          </a:p>
        </p:txBody>
      </p:sp>
      <p:pic>
        <p:nvPicPr>
          <p:cNvPr id="29" name="Image 4" descr="preencoded.png">    </p:cNvPr>
          <p:cNvPicPr>
            <a:picLocks noChangeAspect="1"/>
          </p:cNvPicPr>
          <p:nvPr/>
        </p:nvPicPr>
        <p:blipFill>
          <a:blip r:embed="rId5"/>
          <a:stretch>
            <a:fillRect/>
          </a:stretch>
        </p:blipFill>
        <p:spPr>
          <a:xfrm>
            <a:off x="7680960" y="4800600"/>
            <a:ext cx="219456" cy="219456"/>
          </a:xfrm>
          <a:prstGeom prst="rect">
            <a:avLst/>
          </a:prstGeom>
        </p:spPr>
      </p:pic>
      <p:sp>
        <p:nvSpPr>
          <p:cNvPr id="30" name="Text 23"/>
          <p:cNvSpPr txBox="1"/>
          <p:nvPr/>
        </p:nvSpPr>
        <p:spPr>
          <a:xfrm>
            <a:off x="8001000" y="4764024"/>
            <a:ext cx="3657600" cy="438912"/>
          </a:xfrm>
          <a:prstGeom prst="rect">
            <a:avLst/>
          </a:prstGeom>
          <a:noFill/>
          <a:ln/>
        </p:spPr>
        <p:txBody>
          <a:bodyPr wrap="square" lIns="0" tIns="0" rIns="0" bIns="0" rtlCol="0" anchor="t"/>
          <a:lstStyle/>
          <a:p>
            <a:pPr indent="0" marL="0">
              <a:buNone/>
            </a:pPr>
            <a:r>
              <a:rPr lang="en-US" sz="1150" dirty="0">
                <a:solidFill>
                  <a:srgbClr val="F3F4F6"/>
                </a:solidFill>
                <a:latin typeface="Calibri" pitchFamily="34" charset="0"/>
                <a:ea typeface="Calibri" pitchFamily="34" charset="-122"/>
                <a:cs typeface="Calibri" pitchFamily="34" charset="-120"/>
              </a:rPr>
              <a:t>Savings waterfall that adds up exactly</a:t>
            </a:r>
            <a:endParaRPr lang="en-US" sz="1150" dirty="0"/>
          </a:p>
        </p:txBody>
      </p:sp>
      <p:pic>
        <p:nvPicPr>
          <p:cNvPr id="31" name="Image 5" descr="preencoded.png">    </p:cNvPr>
          <p:cNvPicPr>
            <a:picLocks noChangeAspect="1"/>
          </p:cNvPicPr>
          <p:nvPr/>
        </p:nvPicPr>
        <p:blipFill>
          <a:blip r:embed="rId6"/>
          <a:stretch>
            <a:fillRect/>
          </a:stretch>
        </p:blipFill>
        <p:spPr>
          <a:xfrm>
            <a:off x="7680960" y="5276088"/>
            <a:ext cx="219456" cy="219456"/>
          </a:xfrm>
          <a:prstGeom prst="rect">
            <a:avLst/>
          </a:prstGeom>
        </p:spPr>
      </p:pic>
      <p:sp>
        <p:nvSpPr>
          <p:cNvPr id="32" name="Text 24"/>
          <p:cNvSpPr txBox="1"/>
          <p:nvPr/>
        </p:nvSpPr>
        <p:spPr>
          <a:xfrm>
            <a:off x="8001000" y="5239512"/>
            <a:ext cx="3657600" cy="438912"/>
          </a:xfrm>
          <a:prstGeom prst="rect">
            <a:avLst/>
          </a:prstGeom>
          <a:noFill/>
          <a:ln/>
        </p:spPr>
        <p:txBody>
          <a:bodyPr wrap="square" lIns="0" tIns="0" rIns="0" bIns="0" rtlCol="0" anchor="t"/>
          <a:lstStyle/>
          <a:p>
            <a:pPr indent="0" marL="0">
              <a:buNone/>
            </a:pPr>
            <a:r>
              <a:rPr lang="en-US" sz="1150" dirty="0">
                <a:solidFill>
                  <a:srgbClr val="F3F4F6"/>
                </a:solidFill>
                <a:latin typeface="Calibri" pitchFamily="34" charset="0"/>
                <a:ea typeface="Calibri" pitchFamily="34" charset="-122"/>
                <a:cs typeface="Calibri" pitchFamily="34" charset="-120"/>
              </a:rPr>
              <a:t>Written review of the current choices</a:t>
            </a:r>
            <a:endParaRPr lang="en-US" sz="1150" dirty="0"/>
          </a:p>
        </p:txBody>
      </p:sp>
      <p:pic>
        <p:nvPicPr>
          <p:cNvPr id="33" name="Image 6" descr="preencoded.png">    </p:cNvPr>
          <p:cNvPicPr>
            <a:picLocks noChangeAspect="1"/>
          </p:cNvPicPr>
          <p:nvPr/>
        </p:nvPicPr>
        <p:blipFill>
          <a:blip r:embed="rId7"/>
          <a:stretch>
            <a:fillRect/>
          </a:stretch>
        </p:blipFill>
        <p:spPr>
          <a:xfrm>
            <a:off x="7680960" y="5751576"/>
            <a:ext cx="219456" cy="219456"/>
          </a:xfrm>
          <a:prstGeom prst="rect">
            <a:avLst/>
          </a:prstGeom>
        </p:spPr>
      </p:pic>
      <p:sp>
        <p:nvSpPr>
          <p:cNvPr id="34" name="Text 25"/>
          <p:cNvSpPr txBox="1"/>
          <p:nvPr/>
        </p:nvSpPr>
        <p:spPr>
          <a:xfrm>
            <a:off x="8001000" y="5715000"/>
            <a:ext cx="3657600" cy="438912"/>
          </a:xfrm>
          <a:prstGeom prst="rect">
            <a:avLst/>
          </a:prstGeom>
          <a:noFill/>
          <a:ln/>
        </p:spPr>
        <p:txBody>
          <a:bodyPr wrap="square" lIns="0" tIns="0" rIns="0" bIns="0" rtlCol="0" anchor="t"/>
          <a:lstStyle/>
          <a:p>
            <a:pPr indent="0" marL="0">
              <a:buNone/>
            </a:pPr>
            <a:r>
              <a:rPr lang="en-US" sz="1150" dirty="0">
                <a:solidFill>
                  <a:srgbClr val="F3F4F6"/>
                </a:solidFill>
                <a:latin typeface="Calibri" pitchFamily="34" charset="0"/>
                <a:ea typeface="Calibri" pitchFamily="34" charset="-122"/>
                <a:cs typeface="Calibri" pitchFamily="34" charset="-120"/>
              </a:rPr>
              <a:t>Compare view, photo-led inputs, light/dark</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548640" cy="274320"/>
          </a:xfrm>
          <a:prstGeom prst="rect">
            <a:avLst/>
          </a:prstGeom>
          <a:noFill/>
          <a:ln/>
        </p:spPr>
        <p:txBody>
          <a:bodyPr wrap="square" lIns="0" tIns="0" rIns="0" bIns="0" rtlCol="0" anchor="ctr"/>
          <a:lstStyle/>
          <a:p>
            <a:pPr indent="0" marL="0">
              <a:buNone/>
            </a:pPr>
            <a:r>
              <a:rPr lang="en-US" sz="1400" b="1" dirty="0">
                <a:solidFill>
                  <a:srgbClr val="FCA311"/>
                </a:solidFill>
                <a:latin typeface="Arial" pitchFamily="34" charset="0"/>
                <a:ea typeface="Arial" pitchFamily="34" charset="-122"/>
                <a:cs typeface="Arial" pitchFamily="34" charset="-120"/>
              </a:rPr>
              <a:t>05</a:t>
            </a:r>
            <a:endParaRPr lang="en-US" sz="1400" dirty="0"/>
          </a:p>
        </p:txBody>
      </p:sp>
      <p:sp>
        <p:nvSpPr>
          <p:cNvPr id="3" name="Text 1"/>
          <p:cNvSpPr txBox="1"/>
          <p:nvPr/>
        </p:nvSpPr>
        <p:spPr>
          <a:xfrm>
            <a:off x="1051560" y="384048"/>
            <a:ext cx="9144000" cy="274320"/>
          </a:xfrm>
          <a:prstGeom prst="rect">
            <a:avLst/>
          </a:prstGeom>
          <a:noFill/>
          <a:ln/>
        </p:spPr>
        <p:txBody>
          <a:bodyPr wrap="square" lIns="0" tIns="0" rIns="0" bIns="0" rtlCol="0" anchor="ctr"/>
          <a:lstStyle/>
          <a:p>
            <a:pPr indent="0" marL="0">
              <a:buNone/>
            </a:pPr>
            <a:r>
              <a:rPr lang="en-US" sz="1100" b="1" spc="150" kern="0" dirty="0">
                <a:solidFill>
                  <a:srgbClr val="6B7280"/>
                </a:solidFill>
                <a:latin typeface="Calibri" pitchFamily="34" charset="0"/>
                <a:ea typeface="Calibri" pitchFamily="34" charset="-122"/>
                <a:cs typeface="Calibri" pitchFamily="34" charset="-120"/>
              </a:rPr>
              <a:t>PROPOSED SOLUTION · WALKTHROUGH</a:t>
            </a:r>
            <a:endParaRPr lang="en-US" sz="1100" dirty="0"/>
          </a:p>
        </p:txBody>
      </p:sp>
      <p:sp>
        <p:nvSpPr>
          <p:cNvPr id="4" name="Text 2"/>
          <p:cNvSpPr txBox="1"/>
          <p:nvPr/>
        </p:nvSpPr>
        <p:spPr>
          <a:xfrm>
            <a:off x="548640" y="713232"/>
            <a:ext cx="11064240" cy="566928"/>
          </a:xfrm>
          <a:prstGeom prst="rect">
            <a:avLst/>
          </a:prstGeom>
          <a:noFill/>
          <a:ln/>
        </p:spPr>
        <p:txBody>
          <a:bodyPr wrap="square" lIns="0" tIns="0" rIns="0" bIns="0" rtlCol="0" anchor="t"/>
          <a:lstStyle/>
          <a:p>
            <a:pPr indent="0" marL="0">
              <a:buNone/>
            </a:pPr>
            <a:r>
              <a:rPr lang="en-US" sz="2800" b="1" dirty="0">
                <a:solidFill>
                  <a:srgbClr val="14213D"/>
                </a:solidFill>
                <a:latin typeface="Arial" pitchFamily="34" charset="0"/>
                <a:ea typeface="Arial" pitchFamily="34" charset="-122"/>
                <a:cs typeface="Arial" pitchFamily="34" charset="-120"/>
              </a:rPr>
              <a:t>A planner's five minutes with CarbonSpark</a:t>
            </a:r>
            <a:endParaRPr lang="en-US" sz="2800" dirty="0"/>
          </a:p>
        </p:txBody>
      </p:sp>
      <p:pic>
        <p:nvPicPr>
          <p:cNvPr id="5" name="Image 0" descr="/tmp/lo/crops/sb_dash.png">    </p:cNvPr>
          <p:cNvPicPr>
            <a:picLocks noChangeAspect="1"/>
          </p:cNvPicPr>
          <p:nvPr/>
        </p:nvPicPr>
        <p:blipFill>
          <a:blip r:embed="rId1"/>
          <a:srcRect l="0" r="0" t="0" b="0"/>
          <a:stretch/>
        </p:blipFill>
        <p:spPr>
          <a:xfrm>
            <a:off x="548640" y="1554480"/>
            <a:ext cx="3657600" cy="1662545"/>
          </a:xfrm>
          <a:prstGeom prst="rect">
            <a:avLst/>
          </a:prstGeom>
          <a:effectLst>
            <a:outerShdw sx="100000" sy="100000" kx="0" ky="0" algn="bl" rotWithShape="0" blurRad="127000" dist="38100" dir="5400000">
              <a:srgbClr val="000000">
                <a:alpha val="20000"/>
              </a:srgbClr>
            </a:outerShdw>
          </a:effectLst>
        </p:spPr>
      </p:pic>
      <p:sp>
        <p:nvSpPr>
          <p:cNvPr id="6" name="Shape 3"/>
          <p:cNvSpPr/>
          <p:nvPr/>
        </p:nvSpPr>
        <p:spPr>
          <a:xfrm>
            <a:off x="4389120" y="1554480"/>
            <a:ext cx="777240" cy="329184"/>
          </a:xfrm>
          <a:prstGeom prst="rect">
            <a:avLst/>
          </a:prstGeom>
          <a:solidFill>
            <a:srgbClr val="14213D"/>
          </a:solidFill>
          <a:ln w="12700">
            <a:solidFill>
              <a:srgbClr val="14213D"/>
            </a:solidFill>
            <a:prstDash val="solid"/>
          </a:ln>
        </p:spPr>
      </p:sp>
      <p:sp>
        <p:nvSpPr>
          <p:cNvPr id="7" name="Text 4"/>
          <p:cNvSpPr txBox="1"/>
          <p:nvPr/>
        </p:nvSpPr>
        <p:spPr>
          <a:xfrm>
            <a:off x="4389120" y="1554480"/>
            <a:ext cx="777240" cy="329184"/>
          </a:xfrm>
          <a:prstGeom prst="rect">
            <a:avLst/>
          </a:prstGeom>
          <a:noFill/>
          <a:ln/>
        </p:spPr>
        <p:txBody>
          <a:bodyPr wrap="square" lIns="0" tIns="0" rIns="0" bIns="0" rtlCol="0" anchor="ctr"/>
          <a:lstStyle/>
          <a:p>
            <a:pPr algn="ctr" indent="0" marL="0">
              <a:buNone/>
            </a:pPr>
            <a:r>
              <a:rPr lang="en-US" sz="1200" b="1" dirty="0">
                <a:solidFill>
                  <a:srgbClr val="FCA311"/>
                </a:solidFill>
                <a:latin typeface="Arial" pitchFamily="34" charset="0"/>
                <a:ea typeface="Arial" pitchFamily="34" charset="-122"/>
                <a:cs typeface="Arial" pitchFamily="34" charset="-120"/>
              </a:rPr>
              <a:t>0:00</a:t>
            </a:r>
            <a:endParaRPr lang="en-US" sz="1200" dirty="0"/>
          </a:p>
        </p:txBody>
      </p:sp>
      <p:sp>
        <p:nvSpPr>
          <p:cNvPr id="8" name="Text 5"/>
          <p:cNvSpPr txBox="1"/>
          <p:nvPr/>
        </p:nvSpPr>
        <p:spPr>
          <a:xfrm>
            <a:off x="4389120" y="1965960"/>
            <a:ext cx="1600200" cy="502920"/>
          </a:xfrm>
          <a:prstGeom prst="rect">
            <a:avLst/>
          </a:prstGeom>
          <a:noFill/>
          <a:ln/>
        </p:spPr>
        <p:txBody>
          <a:bodyPr wrap="square" lIns="0" tIns="0" rIns="0" bIns="0" rtlCol="0" anchor="t"/>
          <a:lstStyle/>
          <a:p>
            <a:pPr indent="0" marL="0">
              <a:buNone/>
            </a:pPr>
            <a:r>
              <a:rPr lang="en-US" sz="1300" b="1" dirty="0">
                <a:solidFill>
                  <a:srgbClr val="14213D"/>
                </a:solidFill>
                <a:latin typeface="Arial" pitchFamily="34" charset="0"/>
                <a:ea typeface="Arial" pitchFamily="34" charset="-122"/>
                <a:cs typeface="Arial" pitchFamily="34" charset="-120"/>
              </a:rPr>
              <a:t>Open on the plant</a:t>
            </a:r>
            <a:endParaRPr lang="en-US" sz="1300" dirty="0"/>
          </a:p>
        </p:txBody>
      </p:sp>
      <p:sp>
        <p:nvSpPr>
          <p:cNvPr id="9" name="Text 6"/>
          <p:cNvSpPr txBox="1"/>
          <p:nvPr/>
        </p:nvSpPr>
        <p:spPr>
          <a:xfrm>
            <a:off x="4389120" y="2468880"/>
            <a:ext cx="1600200" cy="1188720"/>
          </a:xfrm>
          <a:prstGeom prst="rect">
            <a:avLst/>
          </a:prstGeom>
          <a:noFill/>
          <a:ln/>
        </p:spPr>
        <p:txBody>
          <a:bodyPr wrap="square" lIns="0" tIns="0" rIns="0" bIns="0" rtlCol="0" anchor="t"/>
          <a:lstStyle/>
          <a:p>
            <a:pPr indent="0" marL="0">
              <a:buNone/>
            </a:pPr>
            <a:r>
              <a:rPr lang="en-US" sz="1100" dirty="0">
                <a:solidFill>
                  <a:srgbClr val="4B5563"/>
                </a:solidFill>
                <a:latin typeface="Calibri" pitchFamily="34" charset="0"/>
                <a:ea typeface="Calibri" pitchFamily="34" charset="-122"/>
                <a:cs typeface="Calibri" pitchFamily="34" charset="-120"/>
              </a:rPr>
              <a:t>Jajpur profile loads: 2.887 t/t, split by scope, the four inputs ready to change.</a:t>
            </a:r>
            <a:endParaRPr lang="en-US" sz="1100" dirty="0"/>
          </a:p>
        </p:txBody>
      </p:sp>
      <p:pic>
        <p:nvPicPr>
          <p:cNvPr id="10" name="Image 1" descr="/tmp/lo/crops/sb_drawer.png">    </p:cNvPr>
          <p:cNvPicPr>
            <a:picLocks noChangeAspect="1"/>
          </p:cNvPicPr>
          <p:nvPr/>
        </p:nvPicPr>
        <p:blipFill>
          <a:blip r:embed="rId2"/>
          <a:srcRect l="0" r="0" t="0" b="0"/>
          <a:stretch/>
        </p:blipFill>
        <p:spPr>
          <a:xfrm>
            <a:off x="6245352" y="1554480"/>
            <a:ext cx="3657600" cy="1662545"/>
          </a:xfrm>
          <a:prstGeom prst="rect">
            <a:avLst/>
          </a:prstGeom>
          <a:effectLst>
            <a:outerShdw sx="100000" sy="100000" kx="0" ky="0" algn="bl" rotWithShape="0" blurRad="127000" dist="38100" dir="5400000">
              <a:srgbClr val="000000">
                <a:alpha val="20000"/>
              </a:srgbClr>
            </a:outerShdw>
          </a:effectLst>
        </p:spPr>
      </p:pic>
      <p:sp>
        <p:nvSpPr>
          <p:cNvPr id="11" name="Shape 7"/>
          <p:cNvSpPr/>
          <p:nvPr/>
        </p:nvSpPr>
        <p:spPr>
          <a:xfrm>
            <a:off x="10085832" y="1554480"/>
            <a:ext cx="777240" cy="329184"/>
          </a:xfrm>
          <a:prstGeom prst="rect">
            <a:avLst/>
          </a:prstGeom>
          <a:solidFill>
            <a:srgbClr val="14213D"/>
          </a:solidFill>
          <a:ln w="12700">
            <a:solidFill>
              <a:srgbClr val="14213D"/>
            </a:solidFill>
            <a:prstDash val="solid"/>
          </a:ln>
        </p:spPr>
      </p:sp>
      <p:sp>
        <p:nvSpPr>
          <p:cNvPr id="12" name="Text 8"/>
          <p:cNvSpPr txBox="1"/>
          <p:nvPr/>
        </p:nvSpPr>
        <p:spPr>
          <a:xfrm>
            <a:off x="10085832" y="1554480"/>
            <a:ext cx="777240" cy="329184"/>
          </a:xfrm>
          <a:prstGeom prst="rect">
            <a:avLst/>
          </a:prstGeom>
          <a:noFill/>
          <a:ln/>
        </p:spPr>
        <p:txBody>
          <a:bodyPr wrap="square" lIns="0" tIns="0" rIns="0" bIns="0" rtlCol="0" anchor="ctr"/>
          <a:lstStyle/>
          <a:p>
            <a:pPr algn="ctr" indent="0" marL="0">
              <a:buNone/>
            </a:pPr>
            <a:r>
              <a:rPr lang="en-US" sz="1200" b="1" dirty="0">
                <a:solidFill>
                  <a:srgbClr val="FCA311"/>
                </a:solidFill>
                <a:latin typeface="Arial" pitchFamily="34" charset="0"/>
                <a:ea typeface="Arial" pitchFamily="34" charset="-122"/>
                <a:cs typeface="Arial" pitchFamily="34" charset="-120"/>
              </a:rPr>
              <a:t>0:40</a:t>
            </a:r>
            <a:endParaRPr lang="en-US" sz="1200" dirty="0"/>
          </a:p>
        </p:txBody>
      </p:sp>
      <p:sp>
        <p:nvSpPr>
          <p:cNvPr id="13" name="Text 9"/>
          <p:cNvSpPr txBox="1"/>
          <p:nvPr/>
        </p:nvSpPr>
        <p:spPr>
          <a:xfrm>
            <a:off x="10085832" y="1965960"/>
            <a:ext cx="1600200" cy="502920"/>
          </a:xfrm>
          <a:prstGeom prst="rect">
            <a:avLst/>
          </a:prstGeom>
          <a:noFill/>
          <a:ln/>
        </p:spPr>
        <p:txBody>
          <a:bodyPr wrap="square" lIns="0" tIns="0" rIns="0" bIns="0" rtlCol="0" anchor="t"/>
          <a:lstStyle/>
          <a:p>
            <a:pPr indent="0" marL="0">
              <a:buNone/>
            </a:pPr>
            <a:r>
              <a:rPr lang="en-US" sz="1300" b="1" dirty="0">
                <a:solidFill>
                  <a:srgbClr val="14213D"/>
                </a:solidFill>
                <a:latin typeface="Arial" pitchFamily="34" charset="0"/>
                <a:ea typeface="Arial" pitchFamily="34" charset="-122"/>
                <a:cs typeface="Arial" pitchFamily="34" charset="-120"/>
              </a:rPr>
              <a:t>Drag the grid</a:t>
            </a:r>
            <a:endParaRPr lang="en-US" sz="1300" dirty="0"/>
          </a:p>
        </p:txBody>
      </p:sp>
      <p:sp>
        <p:nvSpPr>
          <p:cNvPr id="14" name="Text 10"/>
          <p:cNvSpPr txBox="1"/>
          <p:nvPr/>
        </p:nvSpPr>
        <p:spPr>
          <a:xfrm>
            <a:off x="10085832" y="2468880"/>
            <a:ext cx="1600200" cy="1188720"/>
          </a:xfrm>
          <a:prstGeom prst="rect">
            <a:avLst/>
          </a:prstGeom>
          <a:noFill/>
          <a:ln/>
        </p:spPr>
        <p:txBody>
          <a:bodyPr wrap="square" lIns="0" tIns="0" rIns="0" bIns="0" rtlCol="0" anchor="t"/>
          <a:lstStyle/>
          <a:p>
            <a:pPr indent="0" marL="0">
              <a:buNone/>
            </a:pPr>
            <a:r>
              <a:rPr lang="en-US" sz="1100" dirty="0">
                <a:solidFill>
                  <a:srgbClr val="4B5563"/>
                </a:solidFill>
                <a:latin typeface="Calibri" pitchFamily="34" charset="0"/>
                <a:ea typeface="Calibri" pitchFamily="34" charset="-122"/>
                <a:cs typeface="Calibri" pitchFamily="34" charset="-120"/>
              </a:rPr>
              <a:t>Seven sources, each with its factor. Scope 2 moves as the slider moves.</a:t>
            </a:r>
            <a:endParaRPr lang="en-US" sz="1100" dirty="0"/>
          </a:p>
        </p:txBody>
      </p:sp>
      <p:pic>
        <p:nvPicPr>
          <p:cNvPr id="15" name="Image 2" descr="/tmp/lo/crops/sb_wf.png">    </p:cNvPr>
          <p:cNvPicPr>
            <a:picLocks noChangeAspect="1"/>
          </p:cNvPicPr>
          <p:nvPr/>
        </p:nvPicPr>
        <p:blipFill>
          <a:blip r:embed="rId3"/>
          <a:srcRect l="0" r="0" t="0" b="0"/>
          <a:stretch/>
        </p:blipFill>
        <p:spPr>
          <a:xfrm>
            <a:off x="548640" y="3794760"/>
            <a:ext cx="3657600" cy="1662545"/>
          </a:xfrm>
          <a:prstGeom prst="rect">
            <a:avLst/>
          </a:prstGeom>
          <a:effectLst>
            <a:outerShdw sx="100000" sy="100000" kx="0" ky="0" algn="bl" rotWithShape="0" blurRad="127000" dist="38100" dir="5400000">
              <a:srgbClr val="000000">
                <a:alpha val="20000"/>
              </a:srgbClr>
            </a:outerShdw>
          </a:effectLst>
        </p:spPr>
      </p:pic>
      <p:sp>
        <p:nvSpPr>
          <p:cNvPr id="16" name="Shape 11"/>
          <p:cNvSpPr/>
          <p:nvPr/>
        </p:nvSpPr>
        <p:spPr>
          <a:xfrm>
            <a:off x="4389120" y="3794760"/>
            <a:ext cx="777240" cy="329184"/>
          </a:xfrm>
          <a:prstGeom prst="rect">
            <a:avLst/>
          </a:prstGeom>
          <a:solidFill>
            <a:srgbClr val="14213D"/>
          </a:solidFill>
          <a:ln w="12700">
            <a:solidFill>
              <a:srgbClr val="14213D"/>
            </a:solidFill>
            <a:prstDash val="solid"/>
          </a:ln>
        </p:spPr>
      </p:sp>
      <p:sp>
        <p:nvSpPr>
          <p:cNvPr id="17" name="Text 12"/>
          <p:cNvSpPr txBox="1"/>
          <p:nvPr/>
        </p:nvSpPr>
        <p:spPr>
          <a:xfrm>
            <a:off x="4389120" y="3794760"/>
            <a:ext cx="777240" cy="329184"/>
          </a:xfrm>
          <a:prstGeom prst="rect">
            <a:avLst/>
          </a:prstGeom>
          <a:noFill/>
          <a:ln/>
        </p:spPr>
        <p:txBody>
          <a:bodyPr wrap="square" lIns="0" tIns="0" rIns="0" bIns="0" rtlCol="0" anchor="ctr"/>
          <a:lstStyle/>
          <a:p>
            <a:pPr algn="ctr" indent="0" marL="0">
              <a:buNone/>
            </a:pPr>
            <a:r>
              <a:rPr lang="en-US" sz="1200" b="1" dirty="0">
                <a:solidFill>
                  <a:srgbClr val="FCA311"/>
                </a:solidFill>
                <a:latin typeface="Arial" pitchFamily="34" charset="0"/>
                <a:ea typeface="Arial" pitchFamily="34" charset="-122"/>
                <a:cs typeface="Arial" pitchFamily="34" charset="-120"/>
              </a:rPr>
              <a:t>2:00</a:t>
            </a:r>
            <a:endParaRPr lang="en-US" sz="1200" dirty="0"/>
          </a:p>
        </p:txBody>
      </p:sp>
      <p:sp>
        <p:nvSpPr>
          <p:cNvPr id="18" name="Text 13"/>
          <p:cNvSpPr txBox="1"/>
          <p:nvPr/>
        </p:nvSpPr>
        <p:spPr>
          <a:xfrm>
            <a:off x="4389120" y="4206240"/>
            <a:ext cx="1600200" cy="502920"/>
          </a:xfrm>
          <a:prstGeom prst="rect">
            <a:avLst/>
          </a:prstGeom>
          <a:noFill/>
          <a:ln/>
        </p:spPr>
        <p:txBody>
          <a:bodyPr wrap="square" lIns="0" tIns="0" rIns="0" bIns="0" rtlCol="0" anchor="t"/>
          <a:lstStyle/>
          <a:p>
            <a:pPr indent="0" marL="0">
              <a:buNone/>
            </a:pPr>
            <a:r>
              <a:rPr lang="en-US" sz="1300" b="1" dirty="0">
                <a:solidFill>
                  <a:srgbClr val="14213D"/>
                </a:solidFill>
                <a:latin typeface="Arial" pitchFamily="34" charset="0"/>
                <a:ea typeface="Arial" pitchFamily="34" charset="-122"/>
                <a:cs typeface="Arial" pitchFamily="34" charset="-120"/>
              </a:rPr>
              <a:t>Ask for the best buildable plan</a:t>
            </a:r>
            <a:endParaRPr lang="en-US" sz="1300" dirty="0"/>
          </a:p>
        </p:txBody>
      </p:sp>
      <p:sp>
        <p:nvSpPr>
          <p:cNvPr id="19" name="Text 14"/>
          <p:cNvSpPr txBox="1"/>
          <p:nvPr/>
        </p:nvSpPr>
        <p:spPr>
          <a:xfrm>
            <a:off x="4389120" y="4709160"/>
            <a:ext cx="1600200" cy="1188720"/>
          </a:xfrm>
          <a:prstGeom prst="rect">
            <a:avLst/>
          </a:prstGeom>
          <a:noFill/>
          <a:ln/>
        </p:spPr>
        <p:txBody>
          <a:bodyPr wrap="square" lIns="0" tIns="0" rIns="0" bIns="0" rtlCol="0" anchor="t"/>
          <a:lstStyle/>
          <a:p>
            <a:pPr indent="0" marL="0">
              <a:buNone/>
            </a:pPr>
            <a:r>
              <a:rPr lang="en-US" sz="1100" dirty="0">
                <a:solidFill>
                  <a:srgbClr val="4B5563"/>
                </a:solidFill>
                <a:latin typeface="Calibri" pitchFamily="34" charset="0"/>
                <a:ea typeface="Calibri" pitchFamily="34" charset="-122"/>
                <a:cs typeface="Calibri" pitchFamily="34" charset="-120"/>
              </a:rPr>
              <a:t>Optimum 2.248 t/t. The waterfall shows grid −0.347 and scrap −0.244.</a:t>
            </a:r>
            <a:endParaRPr lang="en-US" sz="1100" dirty="0"/>
          </a:p>
        </p:txBody>
      </p:sp>
      <p:pic>
        <p:nvPicPr>
          <p:cNvPr id="20" name="Image 3" descr="/tmp/lo/crops/sb_review.png">    </p:cNvPr>
          <p:cNvPicPr>
            <a:picLocks noChangeAspect="1"/>
          </p:cNvPicPr>
          <p:nvPr/>
        </p:nvPicPr>
        <p:blipFill>
          <a:blip r:embed="rId4"/>
          <a:srcRect l="0" r="0" t="0" b="0"/>
          <a:stretch/>
        </p:blipFill>
        <p:spPr>
          <a:xfrm>
            <a:off x="6245352" y="3794760"/>
            <a:ext cx="3657600" cy="1662545"/>
          </a:xfrm>
          <a:prstGeom prst="rect">
            <a:avLst/>
          </a:prstGeom>
          <a:effectLst>
            <a:outerShdw sx="100000" sy="100000" kx="0" ky="0" algn="bl" rotWithShape="0" blurRad="127000" dist="38100" dir="5400000">
              <a:srgbClr val="000000">
                <a:alpha val="20000"/>
              </a:srgbClr>
            </a:outerShdw>
          </a:effectLst>
        </p:spPr>
      </p:pic>
      <p:sp>
        <p:nvSpPr>
          <p:cNvPr id="21" name="Shape 15"/>
          <p:cNvSpPr/>
          <p:nvPr/>
        </p:nvSpPr>
        <p:spPr>
          <a:xfrm>
            <a:off x="10085832" y="3794760"/>
            <a:ext cx="777240" cy="329184"/>
          </a:xfrm>
          <a:prstGeom prst="rect">
            <a:avLst/>
          </a:prstGeom>
          <a:solidFill>
            <a:srgbClr val="14213D"/>
          </a:solidFill>
          <a:ln w="12700">
            <a:solidFill>
              <a:srgbClr val="14213D"/>
            </a:solidFill>
            <a:prstDash val="solid"/>
          </a:ln>
        </p:spPr>
      </p:sp>
      <p:sp>
        <p:nvSpPr>
          <p:cNvPr id="22" name="Text 16"/>
          <p:cNvSpPr txBox="1"/>
          <p:nvPr/>
        </p:nvSpPr>
        <p:spPr>
          <a:xfrm>
            <a:off x="10085832" y="3794760"/>
            <a:ext cx="777240" cy="329184"/>
          </a:xfrm>
          <a:prstGeom prst="rect">
            <a:avLst/>
          </a:prstGeom>
          <a:noFill/>
          <a:ln/>
        </p:spPr>
        <p:txBody>
          <a:bodyPr wrap="square" lIns="0" tIns="0" rIns="0" bIns="0" rtlCol="0" anchor="ctr"/>
          <a:lstStyle/>
          <a:p>
            <a:pPr algn="ctr" indent="0" marL="0">
              <a:buNone/>
            </a:pPr>
            <a:r>
              <a:rPr lang="en-US" sz="1200" b="1" dirty="0">
                <a:solidFill>
                  <a:srgbClr val="FCA311"/>
                </a:solidFill>
                <a:latin typeface="Arial" pitchFamily="34" charset="0"/>
                <a:ea typeface="Arial" pitchFamily="34" charset="-122"/>
                <a:cs typeface="Arial" pitchFamily="34" charset="-120"/>
              </a:rPr>
              <a:t>3:30</a:t>
            </a:r>
            <a:endParaRPr lang="en-US" sz="1200" dirty="0"/>
          </a:p>
        </p:txBody>
      </p:sp>
      <p:sp>
        <p:nvSpPr>
          <p:cNvPr id="23" name="Text 17"/>
          <p:cNvSpPr txBox="1"/>
          <p:nvPr/>
        </p:nvSpPr>
        <p:spPr>
          <a:xfrm>
            <a:off x="10085832" y="4206240"/>
            <a:ext cx="1600200" cy="502920"/>
          </a:xfrm>
          <a:prstGeom prst="rect">
            <a:avLst/>
          </a:prstGeom>
          <a:noFill/>
          <a:ln/>
        </p:spPr>
        <p:txBody>
          <a:bodyPr wrap="square" lIns="0" tIns="0" rIns="0" bIns="0" rtlCol="0" anchor="t"/>
          <a:lstStyle/>
          <a:p>
            <a:pPr indent="0" marL="0">
              <a:buNone/>
            </a:pPr>
            <a:r>
              <a:rPr lang="en-US" sz="1300" b="1" dirty="0">
                <a:solidFill>
                  <a:srgbClr val="14213D"/>
                </a:solidFill>
                <a:latin typeface="Arial" pitchFamily="34" charset="0"/>
                <a:ea typeface="Arial" pitchFamily="34" charset="-122"/>
                <a:cs typeface="Arial" pitchFamily="34" charset="-120"/>
              </a:rPr>
              <a:t>Read the plan</a:t>
            </a:r>
            <a:endParaRPr lang="en-US" sz="1300" dirty="0"/>
          </a:p>
        </p:txBody>
      </p:sp>
      <p:sp>
        <p:nvSpPr>
          <p:cNvPr id="24" name="Text 18"/>
          <p:cNvSpPr txBox="1"/>
          <p:nvPr/>
        </p:nvSpPr>
        <p:spPr>
          <a:xfrm>
            <a:off x="10085832" y="4709160"/>
            <a:ext cx="1600200" cy="1188720"/>
          </a:xfrm>
          <a:prstGeom prst="rect">
            <a:avLst/>
          </a:prstGeom>
          <a:noFill/>
          <a:ln/>
        </p:spPr>
        <p:txBody>
          <a:bodyPr wrap="square" lIns="0" tIns="0" rIns="0" bIns="0" rtlCol="0" anchor="t"/>
          <a:lstStyle/>
          <a:p>
            <a:pPr indent="0" marL="0">
              <a:buNone/>
            </a:pPr>
            <a:r>
              <a:rPr lang="en-US" sz="1100" dirty="0">
                <a:solidFill>
                  <a:srgbClr val="4B5563"/>
                </a:solidFill>
                <a:latin typeface="Calibri" pitchFamily="34" charset="0"/>
                <a:ea typeface="Calibri" pitchFamily="34" charset="-122"/>
                <a:cs typeface="Calibri" pitchFamily="34" charset="-120"/>
              </a:rPr>
              <a:t>Do this, in this order, and which limit binds: scrap cap 75%, coal floor 45%.</a:t>
            </a:r>
            <a:endParaRPr lang="en-US" sz="1100" dirty="0"/>
          </a:p>
        </p:txBody>
      </p:sp>
      <p:sp>
        <p:nvSpPr>
          <p:cNvPr id="25" name="Shape 19"/>
          <p:cNvSpPr/>
          <p:nvPr/>
        </p:nvSpPr>
        <p:spPr>
          <a:xfrm>
            <a:off x="548640" y="5943600"/>
            <a:ext cx="11091672" cy="457200"/>
          </a:xfrm>
          <a:prstGeom prst="rect">
            <a:avLst/>
          </a:prstGeom>
          <a:solidFill>
            <a:srgbClr val="EEF1F5"/>
          </a:solidFill>
          <a:ln w="12700">
            <a:solidFill>
              <a:srgbClr val="EEF1F5"/>
            </a:solidFill>
            <a:prstDash val="solid"/>
          </a:ln>
        </p:spPr>
      </p:sp>
      <p:sp>
        <p:nvSpPr>
          <p:cNvPr id="26" name="Text 20"/>
          <p:cNvSpPr txBox="1"/>
          <p:nvPr/>
        </p:nvSpPr>
        <p:spPr>
          <a:xfrm>
            <a:off x="731520" y="5943600"/>
            <a:ext cx="10789920" cy="457200"/>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Under 4 minutes </a:t>
            </a:r>
            <a:pPr indent="0" marL="0">
              <a:buNone/>
            </a:pPr>
            <a:r>
              <a:rPr lang="en-US" sz="1200" dirty="0">
                <a:solidFill>
                  <a:srgbClr val="4B5563"/>
                </a:solidFill>
                <a:latin typeface="Calibri" pitchFamily="34" charset="0"/>
                <a:ea typeface="Calibri" pitchFamily="34" charset="-122"/>
                <a:cs typeface="Calibri" pitchFamily="34" charset="-120"/>
              </a:rPr>
              <a:t>from today's number to a ranked, buildable plan. Without it, the same question means a manual run through a 67-row workbook, one lever at a time.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384048"/>
            <a:ext cx="548640" cy="274320"/>
          </a:xfrm>
          <a:prstGeom prst="rect">
            <a:avLst/>
          </a:prstGeom>
          <a:noFill/>
          <a:ln/>
        </p:spPr>
        <p:txBody>
          <a:bodyPr wrap="square" lIns="0" tIns="0" rIns="0" bIns="0" rtlCol="0" anchor="ctr"/>
          <a:lstStyle/>
          <a:p>
            <a:pPr indent="0" marL="0">
              <a:buNone/>
            </a:pPr>
            <a:r>
              <a:rPr lang="en-US" sz="1400" b="1" dirty="0">
                <a:solidFill>
                  <a:srgbClr val="FCA311"/>
                </a:solidFill>
                <a:latin typeface="Arial" pitchFamily="34" charset="0"/>
                <a:ea typeface="Arial" pitchFamily="34" charset="-122"/>
                <a:cs typeface="Arial" pitchFamily="34" charset="-120"/>
              </a:rPr>
              <a:t>06</a:t>
            </a:r>
            <a:endParaRPr lang="en-US" sz="1400" dirty="0"/>
          </a:p>
        </p:txBody>
      </p:sp>
      <p:sp>
        <p:nvSpPr>
          <p:cNvPr id="3" name="Text 1"/>
          <p:cNvSpPr txBox="1"/>
          <p:nvPr/>
        </p:nvSpPr>
        <p:spPr>
          <a:xfrm>
            <a:off x="1051560" y="384048"/>
            <a:ext cx="9144000" cy="274320"/>
          </a:xfrm>
          <a:prstGeom prst="rect">
            <a:avLst/>
          </a:prstGeom>
          <a:noFill/>
          <a:ln/>
        </p:spPr>
        <p:txBody>
          <a:bodyPr wrap="square" lIns="0" tIns="0" rIns="0" bIns="0" rtlCol="0" anchor="ctr"/>
          <a:lstStyle/>
          <a:p>
            <a:pPr indent="0" marL="0">
              <a:buNone/>
            </a:pPr>
            <a:r>
              <a:rPr lang="en-US" sz="1100" b="1" spc="150" kern="0" dirty="0">
                <a:solidFill>
                  <a:srgbClr val="AAB4C3"/>
                </a:solidFill>
                <a:latin typeface="Calibri" pitchFamily="34" charset="0"/>
                <a:ea typeface="Calibri" pitchFamily="34" charset="-122"/>
                <a:cs typeface="Calibri" pitchFamily="34" charset="-120"/>
              </a:rPr>
              <a:t>IMPLEMENTATION</a:t>
            </a:r>
            <a:endParaRPr lang="en-US" sz="1100" dirty="0"/>
          </a:p>
        </p:txBody>
      </p:sp>
      <p:sp>
        <p:nvSpPr>
          <p:cNvPr id="4" name="Text 2"/>
          <p:cNvSpPr txBox="1"/>
          <p:nvPr/>
        </p:nvSpPr>
        <p:spPr>
          <a:xfrm>
            <a:off x="548640" y="713232"/>
            <a:ext cx="11064240" cy="566928"/>
          </a:xfrm>
          <a:prstGeom prst="rect">
            <a:avLst/>
          </a:prstGeom>
          <a:noFill/>
          <a:ln/>
        </p:spPr>
        <p:txBody>
          <a:bodyPr wrap="square" lIns="0" tIns="0" rIns="0" bIns="0" rtlCol="0" anchor="t"/>
          <a:lstStyle/>
          <a:p>
            <a:pPr indent="0" marL="0">
              <a:buNone/>
            </a:pPr>
            <a:r>
              <a:rPr lang="en-US" sz="2800" b="1" dirty="0">
                <a:solidFill>
                  <a:srgbClr val="FFFFFF"/>
                </a:solidFill>
                <a:latin typeface="Arial" pitchFamily="34" charset="0"/>
                <a:ea typeface="Arial" pitchFamily="34" charset="-122"/>
                <a:cs typeface="Arial" pitchFamily="34" charset="-120"/>
              </a:rPr>
              <a:t>A 90-day pilot at Jajpur, then every site</a:t>
            </a:r>
            <a:endParaRPr lang="en-US" sz="2800" dirty="0"/>
          </a:p>
        </p:txBody>
      </p:sp>
      <p:sp>
        <p:nvSpPr>
          <p:cNvPr id="5" name="Text 3"/>
          <p:cNvSpPr txBox="1"/>
          <p:nvPr/>
        </p:nvSpPr>
        <p:spPr>
          <a:xfrm>
            <a:off x="548640" y="1600200"/>
            <a:ext cx="1828800" cy="274320"/>
          </a:xfrm>
          <a:prstGeom prst="rect">
            <a:avLst/>
          </a:prstGeom>
          <a:noFill/>
          <a:ln/>
        </p:spPr>
        <p:txBody>
          <a:bodyPr wrap="square" lIns="0" tIns="0" rIns="0" bIns="0" rtlCol="0" anchor="ctr"/>
          <a:lstStyle/>
          <a:p>
            <a:pPr indent="0" marL="0">
              <a:buNone/>
            </a:pPr>
            <a:r>
              <a:rPr lang="en-US" sz="950" b="1" spc="150" kern="0" dirty="0">
                <a:solidFill>
                  <a:srgbClr val="AAB4C3"/>
                </a:solidFill>
                <a:latin typeface="Calibri" pitchFamily="34" charset="0"/>
                <a:ea typeface="Calibri" pitchFamily="34" charset="-122"/>
                <a:cs typeface="Calibri" pitchFamily="34" charset="-120"/>
              </a:rPr>
              <a:t>WEEK</a:t>
            </a:r>
            <a:endParaRPr lang="en-US" sz="950" dirty="0"/>
          </a:p>
        </p:txBody>
      </p:sp>
      <p:sp>
        <p:nvSpPr>
          <p:cNvPr id="6" name="Text 4"/>
          <p:cNvSpPr txBox="1"/>
          <p:nvPr/>
        </p:nvSpPr>
        <p:spPr>
          <a:xfrm>
            <a:off x="2423160" y="1600200"/>
            <a:ext cx="365760" cy="274320"/>
          </a:xfrm>
          <a:prstGeom prst="rect">
            <a:avLst/>
          </a:prstGeom>
          <a:noFill/>
          <a:ln/>
        </p:spPr>
        <p:txBody>
          <a:bodyPr wrap="square" lIns="0" tIns="0" rIns="0" bIns="0" rtlCol="0" anchor="ctr"/>
          <a:lstStyle/>
          <a:p>
            <a:pPr algn="ctr" indent="0" marL="0">
              <a:buNone/>
            </a:pPr>
            <a:r>
              <a:rPr lang="en-US" sz="1000" dirty="0">
                <a:solidFill>
                  <a:srgbClr val="AAB4C3"/>
                </a:solidFill>
                <a:latin typeface="Calibri" pitchFamily="34" charset="0"/>
                <a:ea typeface="Calibri" pitchFamily="34" charset="-122"/>
                <a:cs typeface="Calibri" pitchFamily="34" charset="-120"/>
              </a:rPr>
              <a:t>0</a:t>
            </a:r>
            <a:endParaRPr lang="en-US" sz="1000" dirty="0"/>
          </a:p>
        </p:txBody>
      </p:sp>
      <p:sp>
        <p:nvSpPr>
          <p:cNvPr id="7" name="Text 5"/>
          <p:cNvSpPr txBox="1"/>
          <p:nvPr/>
        </p:nvSpPr>
        <p:spPr>
          <a:xfrm>
            <a:off x="3337560" y="1600200"/>
            <a:ext cx="365760" cy="274320"/>
          </a:xfrm>
          <a:prstGeom prst="rect">
            <a:avLst/>
          </a:prstGeom>
          <a:noFill/>
          <a:ln/>
        </p:spPr>
        <p:txBody>
          <a:bodyPr wrap="square" lIns="0" tIns="0" rIns="0" bIns="0" rtlCol="0" anchor="ctr"/>
          <a:lstStyle/>
          <a:p>
            <a:pPr algn="ctr" indent="0" marL="0">
              <a:buNone/>
            </a:pPr>
            <a:r>
              <a:rPr lang="en-US" sz="1000" dirty="0">
                <a:solidFill>
                  <a:srgbClr val="AAB4C3"/>
                </a:solidFill>
                <a:latin typeface="Calibri" pitchFamily="34" charset="0"/>
                <a:ea typeface="Calibri" pitchFamily="34" charset="-122"/>
                <a:cs typeface="Calibri" pitchFamily="34" charset="-120"/>
              </a:rPr>
              <a:t>2</a:t>
            </a:r>
            <a:endParaRPr lang="en-US" sz="1000" dirty="0"/>
          </a:p>
        </p:txBody>
      </p:sp>
      <p:sp>
        <p:nvSpPr>
          <p:cNvPr id="8" name="Text 6"/>
          <p:cNvSpPr txBox="1"/>
          <p:nvPr/>
        </p:nvSpPr>
        <p:spPr>
          <a:xfrm>
            <a:off x="4251960" y="1600200"/>
            <a:ext cx="365760" cy="274320"/>
          </a:xfrm>
          <a:prstGeom prst="rect">
            <a:avLst/>
          </a:prstGeom>
          <a:noFill/>
          <a:ln/>
        </p:spPr>
        <p:txBody>
          <a:bodyPr wrap="square" lIns="0" tIns="0" rIns="0" bIns="0" rtlCol="0" anchor="ctr"/>
          <a:lstStyle/>
          <a:p>
            <a:pPr algn="ctr" indent="0" marL="0">
              <a:buNone/>
            </a:pPr>
            <a:r>
              <a:rPr lang="en-US" sz="1000" dirty="0">
                <a:solidFill>
                  <a:srgbClr val="AAB4C3"/>
                </a:solidFill>
                <a:latin typeface="Calibri" pitchFamily="34" charset="0"/>
                <a:ea typeface="Calibri" pitchFamily="34" charset="-122"/>
                <a:cs typeface="Calibri" pitchFamily="34" charset="-120"/>
              </a:rPr>
              <a:t>4</a:t>
            </a:r>
            <a:endParaRPr lang="en-US" sz="1000" dirty="0"/>
          </a:p>
        </p:txBody>
      </p:sp>
      <p:sp>
        <p:nvSpPr>
          <p:cNvPr id="9" name="Text 7"/>
          <p:cNvSpPr txBox="1"/>
          <p:nvPr/>
        </p:nvSpPr>
        <p:spPr>
          <a:xfrm>
            <a:off x="5166360" y="1600200"/>
            <a:ext cx="365760" cy="274320"/>
          </a:xfrm>
          <a:prstGeom prst="rect">
            <a:avLst/>
          </a:prstGeom>
          <a:noFill/>
          <a:ln/>
        </p:spPr>
        <p:txBody>
          <a:bodyPr wrap="square" lIns="0" tIns="0" rIns="0" bIns="0" rtlCol="0" anchor="ctr"/>
          <a:lstStyle/>
          <a:p>
            <a:pPr algn="ctr" indent="0" marL="0">
              <a:buNone/>
            </a:pPr>
            <a:r>
              <a:rPr lang="en-US" sz="1000" dirty="0">
                <a:solidFill>
                  <a:srgbClr val="AAB4C3"/>
                </a:solidFill>
                <a:latin typeface="Calibri" pitchFamily="34" charset="0"/>
                <a:ea typeface="Calibri" pitchFamily="34" charset="-122"/>
                <a:cs typeface="Calibri" pitchFamily="34" charset="-120"/>
              </a:rPr>
              <a:t>6</a:t>
            </a:r>
            <a:endParaRPr lang="en-US" sz="1000" dirty="0"/>
          </a:p>
        </p:txBody>
      </p:sp>
      <p:sp>
        <p:nvSpPr>
          <p:cNvPr id="10" name="Text 8"/>
          <p:cNvSpPr txBox="1"/>
          <p:nvPr/>
        </p:nvSpPr>
        <p:spPr>
          <a:xfrm>
            <a:off x="6080760" y="1600200"/>
            <a:ext cx="365760" cy="274320"/>
          </a:xfrm>
          <a:prstGeom prst="rect">
            <a:avLst/>
          </a:prstGeom>
          <a:noFill/>
          <a:ln/>
        </p:spPr>
        <p:txBody>
          <a:bodyPr wrap="square" lIns="0" tIns="0" rIns="0" bIns="0" rtlCol="0" anchor="ctr"/>
          <a:lstStyle/>
          <a:p>
            <a:pPr algn="ctr" indent="0" marL="0">
              <a:buNone/>
            </a:pPr>
            <a:r>
              <a:rPr lang="en-US" sz="1000" dirty="0">
                <a:solidFill>
                  <a:srgbClr val="AAB4C3"/>
                </a:solidFill>
                <a:latin typeface="Calibri" pitchFamily="34" charset="0"/>
                <a:ea typeface="Calibri" pitchFamily="34" charset="-122"/>
                <a:cs typeface="Calibri" pitchFamily="34" charset="-120"/>
              </a:rPr>
              <a:t>8</a:t>
            </a:r>
            <a:endParaRPr lang="en-US" sz="1000" dirty="0"/>
          </a:p>
        </p:txBody>
      </p:sp>
      <p:sp>
        <p:nvSpPr>
          <p:cNvPr id="11" name="Text 9"/>
          <p:cNvSpPr txBox="1"/>
          <p:nvPr/>
        </p:nvSpPr>
        <p:spPr>
          <a:xfrm>
            <a:off x="6995160" y="1600200"/>
            <a:ext cx="365760" cy="274320"/>
          </a:xfrm>
          <a:prstGeom prst="rect">
            <a:avLst/>
          </a:prstGeom>
          <a:noFill/>
          <a:ln/>
        </p:spPr>
        <p:txBody>
          <a:bodyPr wrap="square" lIns="0" tIns="0" rIns="0" bIns="0" rtlCol="0" anchor="ctr"/>
          <a:lstStyle/>
          <a:p>
            <a:pPr algn="ctr" indent="0" marL="0">
              <a:buNone/>
            </a:pPr>
            <a:r>
              <a:rPr lang="en-US" sz="1000" dirty="0">
                <a:solidFill>
                  <a:srgbClr val="AAB4C3"/>
                </a:solidFill>
                <a:latin typeface="Calibri" pitchFamily="34" charset="0"/>
                <a:ea typeface="Calibri" pitchFamily="34" charset="-122"/>
                <a:cs typeface="Calibri" pitchFamily="34" charset="-120"/>
              </a:rPr>
              <a:t>10</a:t>
            </a:r>
            <a:endParaRPr lang="en-US" sz="1000" dirty="0"/>
          </a:p>
        </p:txBody>
      </p:sp>
      <p:sp>
        <p:nvSpPr>
          <p:cNvPr id="12" name="Text 10"/>
          <p:cNvSpPr txBox="1"/>
          <p:nvPr/>
        </p:nvSpPr>
        <p:spPr>
          <a:xfrm>
            <a:off x="7909560" y="1600200"/>
            <a:ext cx="365760" cy="274320"/>
          </a:xfrm>
          <a:prstGeom prst="rect">
            <a:avLst/>
          </a:prstGeom>
          <a:noFill/>
          <a:ln/>
        </p:spPr>
        <p:txBody>
          <a:bodyPr wrap="square" lIns="0" tIns="0" rIns="0" bIns="0" rtlCol="0" anchor="ctr"/>
          <a:lstStyle/>
          <a:p>
            <a:pPr algn="ctr" indent="0" marL="0">
              <a:buNone/>
            </a:pPr>
            <a:r>
              <a:rPr lang="en-US" sz="1000" dirty="0">
                <a:solidFill>
                  <a:srgbClr val="AAB4C3"/>
                </a:solidFill>
                <a:latin typeface="Calibri" pitchFamily="34" charset="0"/>
                <a:ea typeface="Calibri" pitchFamily="34" charset="-122"/>
                <a:cs typeface="Calibri" pitchFamily="34" charset="-120"/>
              </a:rPr>
              <a:t>12</a:t>
            </a:r>
            <a:endParaRPr lang="en-US" sz="1000" dirty="0"/>
          </a:p>
        </p:txBody>
      </p:sp>
      <p:sp>
        <p:nvSpPr>
          <p:cNvPr id="13" name="Shape 11"/>
          <p:cNvSpPr/>
          <p:nvPr/>
        </p:nvSpPr>
        <p:spPr>
          <a:xfrm>
            <a:off x="2606040" y="2267712"/>
            <a:ext cx="5486400" cy="0"/>
          </a:xfrm>
          <a:prstGeom prst="line">
            <a:avLst/>
          </a:prstGeom>
          <a:noFill/>
          <a:ln w="12700">
            <a:solidFill>
              <a:srgbClr val="2C3E66"/>
            </a:solidFill>
            <a:prstDash val="solid"/>
          </a:ln>
        </p:spPr>
      </p:sp>
      <p:sp>
        <p:nvSpPr>
          <p:cNvPr id="14" name="Text 12"/>
          <p:cNvSpPr txBox="1"/>
          <p:nvPr/>
        </p:nvSpPr>
        <p:spPr>
          <a:xfrm>
            <a:off x="548640" y="2011680"/>
            <a:ext cx="201168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Connect data</a:t>
            </a:r>
            <a:endParaRPr lang="en-US" sz="1200" dirty="0"/>
          </a:p>
        </p:txBody>
      </p:sp>
      <p:sp>
        <p:nvSpPr>
          <p:cNvPr id="15" name="Text 13"/>
          <p:cNvSpPr txBox="1"/>
          <p:nvPr/>
        </p:nvSpPr>
        <p:spPr>
          <a:xfrm>
            <a:off x="548640" y="2286000"/>
            <a:ext cx="2011680" cy="274320"/>
          </a:xfrm>
          <a:prstGeom prst="rect">
            <a:avLst/>
          </a:prstGeom>
          <a:noFill/>
          <a:ln/>
        </p:spPr>
        <p:txBody>
          <a:bodyPr wrap="square" lIns="0" tIns="0" rIns="0" bIns="0" rtlCol="0" anchor="ctr"/>
          <a:lstStyle/>
          <a:p>
            <a:pPr indent="0" marL="0">
              <a:buNone/>
            </a:pPr>
            <a:r>
              <a:rPr lang="en-US" sz="1000" dirty="0">
                <a:solidFill>
                  <a:srgbClr val="AAB4C3"/>
                </a:solidFill>
                <a:latin typeface="Calibri" pitchFamily="34" charset="0"/>
                <a:ea typeface="Calibri" pitchFamily="34" charset="-122"/>
                <a:cs typeface="Calibri" pitchFamily="34" charset="-120"/>
              </a:rPr>
              <a:t>meters, PPA factors, charge records</a:t>
            </a:r>
            <a:endParaRPr lang="en-US" sz="1000" dirty="0"/>
          </a:p>
        </p:txBody>
      </p:sp>
      <p:sp>
        <p:nvSpPr>
          <p:cNvPr id="16" name="Shape 14"/>
          <p:cNvSpPr/>
          <p:nvPr/>
        </p:nvSpPr>
        <p:spPr>
          <a:xfrm>
            <a:off x="2606040" y="2121408"/>
            <a:ext cx="1828800" cy="310896"/>
          </a:xfrm>
          <a:prstGeom prst="roundRect">
            <a:avLst>
              <a:gd name="adj" fmla="val 23529"/>
            </a:avLst>
          </a:prstGeom>
          <a:solidFill>
            <a:srgbClr val="FCA311"/>
          </a:solidFill>
          <a:ln w="12700">
            <a:solidFill>
              <a:srgbClr val="FCA311"/>
            </a:solidFill>
            <a:prstDash val="solid"/>
          </a:ln>
        </p:spPr>
      </p:sp>
      <p:sp>
        <p:nvSpPr>
          <p:cNvPr id="17" name="Shape 15"/>
          <p:cNvSpPr/>
          <p:nvPr/>
        </p:nvSpPr>
        <p:spPr>
          <a:xfrm>
            <a:off x="2606040" y="2926080"/>
            <a:ext cx="5486400" cy="0"/>
          </a:xfrm>
          <a:prstGeom prst="line">
            <a:avLst/>
          </a:prstGeom>
          <a:noFill/>
          <a:ln w="12700">
            <a:solidFill>
              <a:srgbClr val="2C3E66"/>
            </a:solidFill>
            <a:prstDash val="solid"/>
          </a:ln>
        </p:spPr>
      </p:sp>
      <p:sp>
        <p:nvSpPr>
          <p:cNvPr id="18" name="Text 16"/>
          <p:cNvSpPr txBox="1"/>
          <p:nvPr/>
        </p:nvSpPr>
        <p:spPr>
          <a:xfrm>
            <a:off x="548640" y="2670048"/>
            <a:ext cx="201168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Recalibrate</a:t>
            </a:r>
            <a:endParaRPr lang="en-US" sz="1200" dirty="0"/>
          </a:p>
        </p:txBody>
      </p:sp>
      <p:sp>
        <p:nvSpPr>
          <p:cNvPr id="19" name="Text 17"/>
          <p:cNvSpPr txBox="1"/>
          <p:nvPr/>
        </p:nvSpPr>
        <p:spPr>
          <a:xfrm>
            <a:off x="548640" y="2944368"/>
            <a:ext cx="2011680" cy="274320"/>
          </a:xfrm>
          <a:prstGeom prst="rect">
            <a:avLst/>
          </a:prstGeom>
          <a:noFill/>
          <a:ln/>
        </p:spPr>
        <p:txBody>
          <a:bodyPr wrap="square" lIns="0" tIns="0" rIns="0" bIns="0" rtlCol="0" anchor="ctr"/>
          <a:lstStyle/>
          <a:p>
            <a:pPr indent="0" marL="0">
              <a:buNone/>
            </a:pPr>
            <a:r>
              <a:rPr lang="en-US" sz="1000" dirty="0">
                <a:solidFill>
                  <a:srgbClr val="AAB4C3"/>
                </a:solidFill>
                <a:latin typeface="Calibri" pitchFamily="34" charset="0"/>
                <a:ea typeface="Calibri" pitchFamily="34" charset="-122"/>
                <a:cs typeface="Calibri" pitchFamily="34" charset="-120"/>
              </a:rPr>
              <a:t>coefficients to metered values</a:t>
            </a:r>
            <a:endParaRPr lang="en-US" sz="1000" dirty="0"/>
          </a:p>
        </p:txBody>
      </p:sp>
      <p:sp>
        <p:nvSpPr>
          <p:cNvPr id="20" name="Shape 18"/>
          <p:cNvSpPr/>
          <p:nvPr/>
        </p:nvSpPr>
        <p:spPr>
          <a:xfrm>
            <a:off x="3520440" y="2779776"/>
            <a:ext cx="1828800" cy="310896"/>
          </a:xfrm>
          <a:prstGeom prst="roundRect">
            <a:avLst>
              <a:gd name="adj" fmla="val 23529"/>
            </a:avLst>
          </a:prstGeom>
          <a:solidFill>
            <a:srgbClr val="FCA311"/>
          </a:solidFill>
          <a:ln w="12700">
            <a:solidFill>
              <a:srgbClr val="FCA311"/>
            </a:solidFill>
            <a:prstDash val="solid"/>
          </a:ln>
        </p:spPr>
      </p:sp>
      <p:sp>
        <p:nvSpPr>
          <p:cNvPr id="21" name="Shape 19"/>
          <p:cNvSpPr/>
          <p:nvPr/>
        </p:nvSpPr>
        <p:spPr>
          <a:xfrm>
            <a:off x="2606040" y="3584448"/>
            <a:ext cx="5486400" cy="0"/>
          </a:xfrm>
          <a:prstGeom prst="line">
            <a:avLst/>
          </a:prstGeom>
          <a:noFill/>
          <a:ln w="12700">
            <a:solidFill>
              <a:srgbClr val="2C3E66"/>
            </a:solidFill>
            <a:prstDash val="solid"/>
          </a:ln>
        </p:spPr>
      </p:sp>
      <p:sp>
        <p:nvSpPr>
          <p:cNvPr id="22" name="Text 20"/>
          <p:cNvSpPr txBox="1"/>
          <p:nvPr/>
        </p:nvSpPr>
        <p:spPr>
          <a:xfrm>
            <a:off x="548640" y="3328416"/>
            <a:ext cx="201168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Planners use it</a:t>
            </a:r>
            <a:endParaRPr lang="en-US" sz="1200" dirty="0"/>
          </a:p>
        </p:txBody>
      </p:sp>
      <p:sp>
        <p:nvSpPr>
          <p:cNvPr id="23" name="Text 21"/>
          <p:cNvSpPr txBox="1"/>
          <p:nvPr/>
        </p:nvSpPr>
        <p:spPr>
          <a:xfrm>
            <a:off x="548640" y="3602736"/>
            <a:ext cx="2011680" cy="274320"/>
          </a:xfrm>
          <a:prstGeom prst="rect">
            <a:avLst/>
          </a:prstGeom>
          <a:noFill/>
          <a:ln/>
        </p:spPr>
        <p:txBody>
          <a:bodyPr wrap="square" lIns="0" tIns="0" rIns="0" bIns="0" rtlCol="0" anchor="ctr"/>
          <a:lstStyle/>
          <a:p>
            <a:pPr indent="0" marL="0">
              <a:buNone/>
            </a:pPr>
            <a:r>
              <a:rPr lang="en-US" sz="1000" dirty="0">
                <a:solidFill>
                  <a:srgbClr val="AAB4C3"/>
                </a:solidFill>
                <a:latin typeface="Calibri" pitchFamily="34" charset="0"/>
                <a:ea typeface="Calibri" pitchFamily="34" charset="-122"/>
                <a:cs typeface="Calibri" pitchFamily="34" charset="-120"/>
              </a:rPr>
              <a:t>weekly what-ifs, training</a:t>
            </a:r>
            <a:endParaRPr lang="en-US" sz="1000" dirty="0"/>
          </a:p>
        </p:txBody>
      </p:sp>
      <p:sp>
        <p:nvSpPr>
          <p:cNvPr id="24" name="Shape 22"/>
          <p:cNvSpPr/>
          <p:nvPr/>
        </p:nvSpPr>
        <p:spPr>
          <a:xfrm>
            <a:off x="4892040" y="3438144"/>
            <a:ext cx="2286000" cy="310896"/>
          </a:xfrm>
          <a:prstGeom prst="roundRect">
            <a:avLst>
              <a:gd name="adj" fmla="val 23529"/>
            </a:avLst>
          </a:prstGeom>
          <a:solidFill>
            <a:srgbClr val="7FA7D9"/>
          </a:solidFill>
          <a:ln w="12700">
            <a:solidFill>
              <a:srgbClr val="7FA7D9"/>
            </a:solidFill>
            <a:prstDash val="solid"/>
          </a:ln>
        </p:spPr>
      </p:sp>
      <p:sp>
        <p:nvSpPr>
          <p:cNvPr id="25" name="Shape 23"/>
          <p:cNvSpPr/>
          <p:nvPr/>
        </p:nvSpPr>
        <p:spPr>
          <a:xfrm>
            <a:off x="2606040" y="4242816"/>
            <a:ext cx="5486400" cy="0"/>
          </a:xfrm>
          <a:prstGeom prst="line">
            <a:avLst/>
          </a:prstGeom>
          <a:noFill/>
          <a:ln w="12700">
            <a:solidFill>
              <a:srgbClr val="2C3E66"/>
            </a:solidFill>
            <a:prstDash val="solid"/>
          </a:ln>
        </p:spPr>
      </p:sp>
      <p:sp>
        <p:nvSpPr>
          <p:cNvPr id="26" name="Text 24"/>
          <p:cNvSpPr txBox="1"/>
          <p:nvPr/>
        </p:nvSpPr>
        <p:spPr>
          <a:xfrm>
            <a:off x="548640" y="3986784"/>
            <a:ext cx="201168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Decide with it</a:t>
            </a:r>
            <a:endParaRPr lang="en-US" sz="1200" dirty="0"/>
          </a:p>
        </p:txBody>
      </p:sp>
      <p:sp>
        <p:nvSpPr>
          <p:cNvPr id="27" name="Text 25"/>
          <p:cNvSpPr txBox="1"/>
          <p:nvPr/>
        </p:nvSpPr>
        <p:spPr>
          <a:xfrm>
            <a:off x="548640" y="4261104"/>
            <a:ext cx="2011680" cy="274320"/>
          </a:xfrm>
          <a:prstGeom prst="rect">
            <a:avLst/>
          </a:prstGeom>
          <a:noFill/>
          <a:ln/>
        </p:spPr>
        <p:txBody>
          <a:bodyPr wrap="square" lIns="0" tIns="0" rIns="0" bIns="0" rtlCol="0" anchor="ctr"/>
          <a:lstStyle/>
          <a:p>
            <a:pPr indent="0" marL="0">
              <a:buNone/>
            </a:pPr>
            <a:r>
              <a:rPr lang="en-US" sz="1000" dirty="0">
                <a:solidFill>
                  <a:srgbClr val="AAB4C3"/>
                </a:solidFill>
                <a:latin typeface="Calibri" pitchFamily="34" charset="0"/>
                <a:ea typeface="Calibri" pitchFamily="34" charset="-122"/>
                <a:cs typeface="Calibri" pitchFamily="34" charset="-120"/>
              </a:rPr>
              <a:t>PPA sizing, scrap contract</a:t>
            </a:r>
            <a:endParaRPr lang="en-US" sz="1000" dirty="0"/>
          </a:p>
        </p:txBody>
      </p:sp>
      <p:sp>
        <p:nvSpPr>
          <p:cNvPr id="28" name="Shape 26"/>
          <p:cNvSpPr/>
          <p:nvPr/>
        </p:nvSpPr>
        <p:spPr>
          <a:xfrm>
            <a:off x="6263640" y="4096512"/>
            <a:ext cx="1828800" cy="310896"/>
          </a:xfrm>
          <a:prstGeom prst="roundRect">
            <a:avLst>
              <a:gd name="adj" fmla="val 23529"/>
            </a:avLst>
          </a:prstGeom>
          <a:solidFill>
            <a:srgbClr val="7FA7D9"/>
          </a:solidFill>
          <a:ln w="12700">
            <a:solidFill>
              <a:srgbClr val="7FA7D9"/>
            </a:solidFill>
            <a:prstDash val="solid"/>
          </a:ln>
        </p:spPr>
      </p:sp>
      <p:sp>
        <p:nvSpPr>
          <p:cNvPr id="29" name="Shape 27"/>
          <p:cNvSpPr/>
          <p:nvPr/>
        </p:nvSpPr>
        <p:spPr>
          <a:xfrm>
            <a:off x="2606040" y="4901184"/>
            <a:ext cx="5486400" cy="0"/>
          </a:xfrm>
          <a:prstGeom prst="line">
            <a:avLst/>
          </a:prstGeom>
          <a:noFill/>
          <a:ln w="12700">
            <a:solidFill>
              <a:srgbClr val="2C3E66"/>
            </a:solidFill>
            <a:prstDash val="solid"/>
          </a:ln>
        </p:spPr>
      </p:sp>
      <p:sp>
        <p:nvSpPr>
          <p:cNvPr id="30" name="Text 28"/>
          <p:cNvSpPr txBox="1"/>
          <p:nvPr/>
        </p:nvSpPr>
        <p:spPr>
          <a:xfrm>
            <a:off x="548640" y="4645152"/>
            <a:ext cx="201168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Go / no-go</a:t>
            </a:r>
            <a:endParaRPr lang="en-US" sz="1200" dirty="0"/>
          </a:p>
        </p:txBody>
      </p:sp>
      <p:sp>
        <p:nvSpPr>
          <p:cNvPr id="31" name="Text 29"/>
          <p:cNvSpPr txBox="1"/>
          <p:nvPr/>
        </p:nvSpPr>
        <p:spPr>
          <a:xfrm>
            <a:off x="548640" y="4919472"/>
            <a:ext cx="2011680" cy="274320"/>
          </a:xfrm>
          <a:prstGeom prst="rect">
            <a:avLst/>
          </a:prstGeom>
          <a:noFill/>
          <a:ln/>
        </p:spPr>
        <p:txBody>
          <a:bodyPr wrap="square" lIns="0" tIns="0" rIns="0" bIns="0" rtlCol="0" anchor="ctr"/>
          <a:lstStyle/>
          <a:p>
            <a:pPr indent="0" marL="0">
              <a:buNone/>
            </a:pPr>
            <a:r>
              <a:rPr lang="en-US" sz="1000" dirty="0">
                <a:solidFill>
                  <a:srgbClr val="AAB4C3"/>
                </a:solidFill>
                <a:latin typeface="Calibri" pitchFamily="34" charset="0"/>
                <a:ea typeface="Calibri" pitchFamily="34" charset="-122"/>
                <a:cs typeface="Calibri" pitchFamily="34" charset="-120"/>
              </a:rPr>
              <a:t>roll out to Hisar</a:t>
            </a:r>
            <a:endParaRPr lang="en-US" sz="1000" dirty="0"/>
          </a:p>
        </p:txBody>
      </p:sp>
      <p:sp>
        <p:nvSpPr>
          <p:cNvPr id="32" name="Shape 30"/>
          <p:cNvSpPr/>
          <p:nvPr/>
        </p:nvSpPr>
        <p:spPr>
          <a:xfrm>
            <a:off x="7635240" y="4754880"/>
            <a:ext cx="457200" cy="310896"/>
          </a:xfrm>
          <a:prstGeom prst="roundRect">
            <a:avLst>
              <a:gd name="adj" fmla="val 23529"/>
            </a:avLst>
          </a:prstGeom>
          <a:solidFill>
            <a:srgbClr val="2A9D8F"/>
          </a:solidFill>
          <a:ln w="12700">
            <a:solidFill>
              <a:srgbClr val="2A9D8F"/>
            </a:solidFill>
            <a:prstDash val="solid"/>
          </a:ln>
        </p:spPr>
      </p:sp>
      <p:sp>
        <p:nvSpPr>
          <p:cNvPr id="33" name="Shape 31"/>
          <p:cNvSpPr/>
          <p:nvPr/>
        </p:nvSpPr>
        <p:spPr>
          <a:xfrm>
            <a:off x="8503920" y="1554480"/>
            <a:ext cx="3154680" cy="3520440"/>
          </a:xfrm>
          <a:prstGeom prst="rect">
            <a:avLst/>
          </a:prstGeom>
          <a:solidFill>
            <a:srgbClr val="1F2F52"/>
          </a:solidFill>
          <a:ln w="12700">
            <a:solidFill>
              <a:srgbClr val="2C3E66"/>
            </a:solidFill>
            <a:prstDash val="solid"/>
          </a:ln>
        </p:spPr>
      </p:sp>
      <p:sp>
        <p:nvSpPr>
          <p:cNvPr id="34" name="Text 32"/>
          <p:cNvSpPr txBox="1"/>
          <p:nvPr/>
        </p:nvSpPr>
        <p:spPr>
          <a:xfrm>
            <a:off x="8686800" y="1691640"/>
            <a:ext cx="2743200" cy="274320"/>
          </a:xfrm>
          <a:prstGeom prst="rect">
            <a:avLst/>
          </a:prstGeom>
          <a:noFill/>
          <a:ln/>
        </p:spPr>
        <p:txBody>
          <a:bodyPr wrap="square" lIns="0" tIns="0" rIns="0" bIns="0" rtlCol="0" anchor="ctr"/>
          <a:lstStyle/>
          <a:p>
            <a:pPr indent="0" marL="0">
              <a:buNone/>
            </a:pPr>
            <a:r>
              <a:rPr lang="en-US" sz="1050" b="1" spc="150" kern="0" dirty="0">
                <a:solidFill>
                  <a:srgbClr val="FCA311"/>
                </a:solidFill>
                <a:latin typeface="Calibri" pitchFamily="34" charset="0"/>
                <a:ea typeface="Calibri" pitchFamily="34" charset="-122"/>
                <a:cs typeface="Calibri" pitchFamily="34" charset="-120"/>
              </a:rPr>
              <a:t>PILOT SUCCESS = </a:t>
            </a:r>
            <a:endParaRPr lang="en-US" sz="1050" dirty="0"/>
          </a:p>
        </p:txBody>
      </p:sp>
      <p:sp>
        <p:nvSpPr>
          <p:cNvPr id="35" name="Text 33"/>
          <p:cNvSpPr txBox="1"/>
          <p:nvPr/>
        </p:nvSpPr>
        <p:spPr>
          <a:xfrm>
            <a:off x="8686800" y="2057400"/>
            <a:ext cx="1143000" cy="5486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±5%</a:t>
            </a:r>
            <a:endParaRPr lang="en-US" sz="1800" dirty="0"/>
          </a:p>
        </p:txBody>
      </p:sp>
      <p:sp>
        <p:nvSpPr>
          <p:cNvPr id="36" name="Text 34"/>
          <p:cNvSpPr txBox="1"/>
          <p:nvPr/>
        </p:nvSpPr>
        <p:spPr>
          <a:xfrm>
            <a:off x="9829800" y="2057400"/>
            <a:ext cx="1691640" cy="548640"/>
          </a:xfrm>
          <a:prstGeom prst="rect">
            <a:avLst/>
          </a:prstGeom>
          <a:noFill/>
          <a:ln/>
        </p:spPr>
        <p:txBody>
          <a:bodyPr wrap="square" lIns="0" tIns="0" rIns="0" bIns="0" rtlCol="0" anchor="ctr"/>
          <a:lstStyle/>
          <a:p>
            <a:pPr indent="0" marL="0">
              <a:buNone/>
            </a:pPr>
            <a:r>
              <a:rPr lang="en-US" sz="1100" dirty="0">
                <a:solidFill>
                  <a:srgbClr val="F3F4F6"/>
                </a:solidFill>
                <a:latin typeface="Calibri" pitchFamily="34" charset="0"/>
                <a:ea typeface="Calibri" pitchFamily="34" charset="-122"/>
                <a:cs typeface="Calibri" pitchFamily="34" charset="-120"/>
              </a:rPr>
              <a:t>model vs metered Scope 1+2</a:t>
            </a:r>
            <a:endParaRPr lang="en-US" sz="1100" dirty="0"/>
          </a:p>
        </p:txBody>
      </p:sp>
      <p:sp>
        <p:nvSpPr>
          <p:cNvPr id="37" name="Text 35"/>
          <p:cNvSpPr txBox="1"/>
          <p:nvPr/>
        </p:nvSpPr>
        <p:spPr>
          <a:xfrm>
            <a:off x="8686800" y="2788920"/>
            <a:ext cx="1143000" cy="5486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&lt; 1 min</a:t>
            </a:r>
            <a:endParaRPr lang="en-US" sz="1800" dirty="0"/>
          </a:p>
        </p:txBody>
      </p:sp>
      <p:sp>
        <p:nvSpPr>
          <p:cNvPr id="38" name="Text 36"/>
          <p:cNvSpPr txBox="1"/>
          <p:nvPr/>
        </p:nvSpPr>
        <p:spPr>
          <a:xfrm>
            <a:off x="9829800" y="2788920"/>
            <a:ext cx="1691640" cy="548640"/>
          </a:xfrm>
          <a:prstGeom prst="rect">
            <a:avLst/>
          </a:prstGeom>
          <a:noFill/>
          <a:ln/>
        </p:spPr>
        <p:txBody>
          <a:bodyPr wrap="square" lIns="0" tIns="0" rIns="0" bIns="0" rtlCol="0" anchor="ctr"/>
          <a:lstStyle/>
          <a:p>
            <a:pPr indent="0" marL="0">
              <a:buNone/>
            </a:pPr>
            <a:r>
              <a:rPr lang="en-US" sz="1100" dirty="0">
                <a:solidFill>
                  <a:srgbClr val="F3F4F6"/>
                </a:solidFill>
                <a:latin typeface="Calibri" pitchFamily="34" charset="0"/>
                <a:ea typeface="Calibri" pitchFamily="34" charset="-122"/>
                <a:cs typeface="Calibri" pitchFamily="34" charset="-120"/>
              </a:rPr>
              <a:t>to price any scenario (today: days)</a:t>
            </a:r>
            <a:endParaRPr lang="en-US" sz="1100" dirty="0"/>
          </a:p>
        </p:txBody>
      </p:sp>
      <p:sp>
        <p:nvSpPr>
          <p:cNvPr id="39" name="Text 37"/>
          <p:cNvSpPr txBox="1"/>
          <p:nvPr/>
        </p:nvSpPr>
        <p:spPr>
          <a:xfrm>
            <a:off x="8686800" y="3520440"/>
            <a:ext cx="1143000" cy="5486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 1</a:t>
            </a:r>
            <a:endParaRPr lang="en-US" sz="1800" dirty="0"/>
          </a:p>
        </p:txBody>
      </p:sp>
      <p:sp>
        <p:nvSpPr>
          <p:cNvPr id="40" name="Text 38"/>
          <p:cNvSpPr txBox="1"/>
          <p:nvPr/>
        </p:nvSpPr>
        <p:spPr>
          <a:xfrm>
            <a:off x="9829800" y="3520440"/>
            <a:ext cx="1691640" cy="548640"/>
          </a:xfrm>
          <a:prstGeom prst="rect">
            <a:avLst/>
          </a:prstGeom>
          <a:noFill/>
          <a:ln/>
        </p:spPr>
        <p:txBody>
          <a:bodyPr wrap="square" lIns="0" tIns="0" rIns="0" bIns="0" rtlCol="0" anchor="ctr"/>
          <a:lstStyle/>
          <a:p>
            <a:pPr indent="0" marL="0">
              <a:buNone/>
            </a:pPr>
            <a:r>
              <a:rPr lang="en-US" sz="1100" dirty="0">
                <a:solidFill>
                  <a:srgbClr val="F3F4F6"/>
                </a:solidFill>
                <a:latin typeface="Calibri" pitchFamily="34" charset="0"/>
                <a:ea typeface="Calibri" pitchFamily="34" charset="-122"/>
                <a:cs typeface="Calibri" pitchFamily="34" charset="-120"/>
              </a:rPr>
              <a:t>procurement decision a month made with it</a:t>
            </a:r>
            <a:endParaRPr lang="en-US" sz="1100" dirty="0"/>
          </a:p>
        </p:txBody>
      </p:sp>
      <p:sp>
        <p:nvSpPr>
          <p:cNvPr id="41" name="Text 39"/>
          <p:cNvSpPr txBox="1"/>
          <p:nvPr/>
        </p:nvSpPr>
        <p:spPr>
          <a:xfrm>
            <a:off x="8686800" y="4251960"/>
            <a:ext cx="1143000" cy="5486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2 sites</a:t>
            </a:r>
            <a:endParaRPr lang="en-US" sz="1800" dirty="0"/>
          </a:p>
        </p:txBody>
      </p:sp>
      <p:sp>
        <p:nvSpPr>
          <p:cNvPr id="42" name="Text 40"/>
          <p:cNvSpPr txBox="1"/>
          <p:nvPr/>
        </p:nvSpPr>
        <p:spPr>
          <a:xfrm>
            <a:off x="9829800" y="4251960"/>
            <a:ext cx="1691640" cy="548640"/>
          </a:xfrm>
          <a:prstGeom prst="rect">
            <a:avLst/>
          </a:prstGeom>
          <a:noFill/>
          <a:ln/>
        </p:spPr>
        <p:txBody>
          <a:bodyPr wrap="square" lIns="0" tIns="0" rIns="0" bIns="0" rtlCol="0" anchor="ctr"/>
          <a:lstStyle/>
          <a:p>
            <a:pPr indent="0" marL="0">
              <a:buNone/>
            </a:pPr>
            <a:r>
              <a:rPr lang="en-US" sz="1100" dirty="0">
                <a:solidFill>
                  <a:srgbClr val="F3F4F6"/>
                </a:solidFill>
                <a:latin typeface="Calibri" pitchFamily="34" charset="0"/>
                <a:ea typeface="Calibri" pitchFamily="34" charset="-122"/>
                <a:cs typeface="Calibri" pitchFamily="34" charset="-120"/>
              </a:rPr>
              <a:t>on one grid by month 6</a:t>
            </a:r>
            <a:endParaRPr lang="en-US" sz="1100" dirty="0"/>
          </a:p>
        </p:txBody>
      </p:sp>
      <p:sp>
        <p:nvSpPr>
          <p:cNvPr id="43" name="Text 41"/>
          <p:cNvSpPr txBox="1"/>
          <p:nvPr/>
        </p:nvSpPr>
        <p:spPr>
          <a:xfrm>
            <a:off x="548640" y="5257800"/>
            <a:ext cx="3657600" cy="274320"/>
          </a:xfrm>
          <a:prstGeom prst="rect">
            <a:avLst/>
          </a:prstGeom>
          <a:noFill/>
          <a:ln/>
        </p:spPr>
        <p:txBody>
          <a:bodyPr wrap="square" lIns="0" tIns="0" rIns="0" bIns="0" rtlCol="0" anchor="ctr"/>
          <a:lstStyle/>
          <a:p>
            <a:pPr indent="0" marL="0">
              <a:buNone/>
            </a:pPr>
            <a:r>
              <a:rPr lang="en-US" sz="1050" b="1" spc="150" kern="0" dirty="0">
                <a:solidFill>
                  <a:srgbClr val="FCA311"/>
                </a:solidFill>
                <a:latin typeface="Calibri" pitchFamily="34" charset="0"/>
                <a:ea typeface="Calibri" pitchFamily="34" charset="-122"/>
                <a:cs typeface="Calibri" pitchFamily="34" charset="-120"/>
              </a:rPr>
              <a:t>RISKS → MITIGATION</a:t>
            </a:r>
            <a:endParaRPr lang="en-US" sz="1050" dirty="0"/>
          </a:p>
        </p:txBody>
      </p:sp>
      <p:sp>
        <p:nvSpPr>
          <p:cNvPr id="44" name="Text 42"/>
          <p:cNvSpPr txBox="1"/>
          <p:nvPr/>
        </p:nvSpPr>
        <p:spPr>
          <a:xfrm>
            <a:off x="548640" y="5550408"/>
            <a:ext cx="356616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Estimated inputs</a:t>
            </a:r>
            <a:endParaRPr lang="en-US" sz="1200" dirty="0"/>
          </a:p>
        </p:txBody>
      </p:sp>
      <p:sp>
        <p:nvSpPr>
          <p:cNvPr id="45" name="Text 43"/>
          <p:cNvSpPr txBox="1"/>
          <p:nvPr/>
        </p:nvSpPr>
        <p:spPr>
          <a:xfrm>
            <a:off x="548640" y="5824728"/>
            <a:ext cx="3566160" cy="640080"/>
          </a:xfrm>
          <a:prstGeom prst="rect">
            <a:avLst/>
          </a:prstGeom>
          <a:noFill/>
          <a:ln/>
        </p:spPr>
        <p:txBody>
          <a:bodyPr wrap="square" lIns="0" tIns="0" rIns="0" bIns="0" rtlCol="0" anchor="t"/>
          <a:lstStyle/>
          <a:p>
            <a:pPr indent="0" marL="0">
              <a:buNone/>
            </a:pPr>
            <a:r>
              <a:rPr lang="en-US" sz="1050" dirty="0">
                <a:solidFill>
                  <a:srgbClr val="AAB4C3"/>
                </a:solidFill>
                <a:latin typeface="Calibri" pitchFamily="34" charset="0"/>
                <a:ea typeface="Calibri" pitchFamily="34" charset="-122"/>
                <a:cs typeface="Calibri" pitchFamily="34" charset="-120"/>
              </a:rPr>
              <a:t>Grid splits and scrap ratios are labelled as estimates in the app; metered data replaces them in weeks 0–4.</a:t>
            </a:r>
            <a:endParaRPr lang="en-US" sz="1050" dirty="0"/>
          </a:p>
        </p:txBody>
      </p:sp>
      <p:sp>
        <p:nvSpPr>
          <p:cNvPr id="46" name="Text 44"/>
          <p:cNvSpPr txBox="1"/>
          <p:nvPr/>
        </p:nvSpPr>
        <p:spPr>
          <a:xfrm>
            <a:off x="4297680" y="5550408"/>
            <a:ext cx="356616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Model drift</a:t>
            </a:r>
            <a:endParaRPr lang="en-US" sz="1200" dirty="0"/>
          </a:p>
        </p:txBody>
      </p:sp>
      <p:sp>
        <p:nvSpPr>
          <p:cNvPr id="47" name="Text 45"/>
          <p:cNvSpPr txBox="1"/>
          <p:nvPr/>
        </p:nvSpPr>
        <p:spPr>
          <a:xfrm>
            <a:off x="4297680" y="5824728"/>
            <a:ext cx="3566160" cy="640080"/>
          </a:xfrm>
          <a:prstGeom prst="rect">
            <a:avLst/>
          </a:prstGeom>
          <a:noFill/>
          <a:ln/>
        </p:spPr>
        <p:txBody>
          <a:bodyPr wrap="square" lIns="0" tIns="0" rIns="0" bIns="0" rtlCol="0" anchor="t"/>
          <a:lstStyle/>
          <a:p>
            <a:pPr indent="0" marL="0">
              <a:buNone/>
            </a:pPr>
            <a:r>
              <a:rPr lang="en-US" sz="1050" dirty="0">
                <a:solidFill>
                  <a:srgbClr val="AAB4C3"/>
                </a:solidFill>
                <a:latin typeface="Calibri" pitchFamily="34" charset="0"/>
                <a:ea typeface="Calibri" pitchFamily="34" charset="-122"/>
                <a:cs typeface="Calibri" pitchFamily="34" charset="-120"/>
              </a:rPr>
              <a:t>The workbook stays the single source; 47 automated tests re-derive every total.</a:t>
            </a:r>
            <a:endParaRPr lang="en-US" sz="1050" dirty="0"/>
          </a:p>
        </p:txBody>
      </p:sp>
      <p:sp>
        <p:nvSpPr>
          <p:cNvPr id="48" name="Text 46"/>
          <p:cNvSpPr txBox="1"/>
          <p:nvPr/>
        </p:nvSpPr>
        <p:spPr>
          <a:xfrm>
            <a:off x="8046720" y="5550408"/>
            <a:ext cx="356616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Adoption</a:t>
            </a:r>
            <a:endParaRPr lang="en-US" sz="1200" dirty="0"/>
          </a:p>
        </p:txBody>
      </p:sp>
      <p:sp>
        <p:nvSpPr>
          <p:cNvPr id="49" name="Text 47"/>
          <p:cNvSpPr txBox="1"/>
          <p:nvPr/>
        </p:nvSpPr>
        <p:spPr>
          <a:xfrm>
            <a:off x="8046720" y="5824728"/>
            <a:ext cx="3566160" cy="640080"/>
          </a:xfrm>
          <a:prstGeom prst="rect">
            <a:avLst/>
          </a:prstGeom>
          <a:noFill/>
          <a:ln/>
        </p:spPr>
        <p:txBody>
          <a:bodyPr wrap="square" lIns="0" tIns="0" rIns="0" bIns="0" rtlCol="0" anchor="t"/>
          <a:lstStyle/>
          <a:p>
            <a:pPr indent="0" marL="0">
              <a:buNone/>
            </a:pPr>
            <a:r>
              <a:rPr lang="en-US" sz="1050" dirty="0">
                <a:solidFill>
                  <a:srgbClr val="AAB4C3"/>
                </a:solidFill>
                <a:latin typeface="Calibri" pitchFamily="34" charset="0"/>
                <a:ea typeface="Calibri" pitchFamily="34" charset="-122"/>
                <a:cs typeface="Calibri" pitchFamily="34" charset="-120"/>
              </a:rPr>
              <a:t>Opens on the plant's own profile; one screen, answers in minutes.</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548640" cy="274320"/>
          </a:xfrm>
          <a:prstGeom prst="rect">
            <a:avLst/>
          </a:prstGeom>
          <a:noFill/>
          <a:ln/>
        </p:spPr>
        <p:txBody>
          <a:bodyPr wrap="square" lIns="0" tIns="0" rIns="0" bIns="0" rtlCol="0" anchor="ctr"/>
          <a:lstStyle/>
          <a:p>
            <a:pPr indent="0" marL="0">
              <a:buNone/>
            </a:pPr>
            <a:r>
              <a:rPr lang="en-US" sz="1400" b="1" dirty="0">
                <a:solidFill>
                  <a:srgbClr val="FCA311"/>
                </a:solidFill>
                <a:latin typeface="Arial" pitchFamily="34" charset="0"/>
                <a:ea typeface="Arial" pitchFamily="34" charset="-122"/>
                <a:cs typeface="Arial" pitchFamily="34" charset="-120"/>
              </a:rPr>
              <a:t>07</a:t>
            </a:r>
            <a:endParaRPr lang="en-US" sz="1400" dirty="0"/>
          </a:p>
        </p:txBody>
      </p:sp>
      <p:sp>
        <p:nvSpPr>
          <p:cNvPr id="3" name="Text 1"/>
          <p:cNvSpPr txBox="1"/>
          <p:nvPr/>
        </p:nvSpPr>
        <p:spPr>
          <a:xfrm>
            <a:off x="1051560" y="384048"/>
            <a:ext cx="9144000" cy="274320"/>
          </a:xfrm>
          <a:prstGeom prst="rect">
            <a:avLst/>
          </a:prstGeom>
          <a:noFill/>
          <a:ln/>
        </p:spPr>
        <p:txBody>
          <a:bodyPr wrap="square" lIns="0" tIns="0" rIns="0" bIns="0" rtlCol="0" anchor="ctr"/>
          <a:lstStyle/>
          <a:p>
            <a:pPr indent="0" marL="0">
              <a:buNone/>
            </a:pPr>
            <a:r>
              <a:rPr lang="en-US" sz="1100" b="1" spc="150" kern="0" dirty="0">
                <a:solidFill>
                  <a:srgbClr val="6B7280"/>
                </a:solidFill>
                <a:latin typeface="Calibri" pitchFamily="34" charset="0"/>
                <a:ea typeface="Calibri" pitchFamily="34" charset="-122"/>
                <a:cs typeface="Calibri" pitchFamily="34" charset="-120"/>
              </a:rPr>
              <a:t>IMPACT</a:t>
            </a:r>
            <a:endParaRPr lang="en-US" sz="1100" dirty="0"/>
          </a:p>
        </p:txBody>
      </p:sp>
      <p:sp>
        <p:nvSpPr>
          <p:cNvPr id="4" name="Text 2"/>
          <p:cNvSpPr txBox="1"/>
          <p:nvPr/>
        </p:nvSpPr>
        <p:spPr>
          <a:xfrm>
            <a:off x="548640" y="713232"/>
            <a:ext cx="11064240" cy="566928"/>
          </a:xfrm>
          <a:prstGeom prst="rect">
            <a:avLst/>
          </a:prstGeom>
          <a:noFill/>
          <a:ln/>
        </p:spPr>
        <p:txBody>
          <a:bodyPr wrap="square" lIns="0" tIns="0" rIns="0" bIns="0" rtlCol="0" anchor="t"/>
          <a:lstStyle/>
          <a:p>
            <a:pPr indent="0" marL="0">
              <a:buNone/>
            </a:pPr>
            <a:r>
              <a:rPr lang="en-US" sz="2800" b="1" dirty="0">
                <a:solidFill>
                  <a:srgbClr val="14213D"/>
                </a:solidFill>
                <a:latin typeface="Arial" pitchFamily="34" charset="0"/>
                <a:ea typeface="Arial" pitchFamily="34" charset="-122"/>
                <a:cs typeface="Arial" pitchFamily="34" charset="-120"/>
              </a:rPr>
              <a:t>From 2.89 to under 1: a glide path, not a guess</a:t>
            </a:r>
            <a:endParaRPr lang="en-US" sz="2800" dirty="0"/>
          </a:p>
        </p:txBody>
      </p:sp>
      <p:graphicFrame>
        <p:nvGraphicFramePr>
          <p:cNvPr id="5" name="Chart 0" descr=""/>
          <p:cNvGraphicFramePr/>
          <p:nvPr/>
        </p:nvGraphicFramePr>
        <p:xfrm>
          <a:off x="457200" y="1417320"/>
          <a:ext cx="6035040" cy="36576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548640" y="5120640"/>
            <a:ext cx="5852160" cy="502920"/>
          </a:xfrm>
          <a:prstGeom prst="rect">
            <a:avLst/>
          </a:prstGeom>
          <a:noFill/>
          <a:ln/>
        </p:spPr>
        <p:txBody>
          <a:bodyPr wrap="square" lIns="0" tIns="0" rIns="0" bIns="0" rtlCol="0" anchor="t"/>
          <a:lstStyle/>
          <a:p>
            <a:pPr indent="0" marL="0">
              <a:buNone/>
            </a:pPr>
            <a:r>
              <a:rPr lang="en-US" sz="1000" i="1" dirty="0">
                <a:solidFill>
                  <a:srgbClr val="6B7280"/>
                </a:solidFill>
                <a:latin typeface="Calibri" pitchFamily="34" charset="0"/>
                <a:ea typeface="Calibri" pitchFamily="34" charset="-122"/>
                <a:cs typeface="Calibri" pitchFamily="34" charset="-120"/>
              </a:rPr>
              <a:t>Waypoints are the optimiser's own answers: Buildable today 2.248 (2027), Stretch 1.514 (2035), Theoretical floor 0.899 (2050). Years between are interpolated for illustration.</a:t>
            </a:r>
            <a:endParaRPr lang="en-US" sz="1000" dirty="0"/>
          </a:p>
        </p:txBody>
      </p:sp>
      <p:sp>
        <p:nvSpPr>
          <p:cNvPr id="7" name="Text 4"/>
          <p:cNvSpPr txBox="1"/>
          <p:nvPr/>
        </p:nvSpPr>
        <p:spPr>
          <a:xfrm>
            <a:off x="548640" y="5669280"/>
            <a:ext cx="1920240" cy="411480"/>
          </a:xfrm>
          <a:prstGeom prst="rect">
            <a:avLst/>
          </a:prstGeom>
          <a:noFill/>
          <a:ln/>
        </p:spPr>
        <p:txBody>
          <a:bodyPr wrap="square" lIns="0" tIns="0" rIns="0" bIns="0" rtlCol="0" anchor="ctr"/>
          <a:lstStyle/>
          <a:p>
            <a:pPr indent="0" marL="0">
              <a:buNone/>
            </a:pPr>
            <a:r>
              <a:rPr lang="en-US" sz="2200" b="1" dirty="0">
                <a:solidFill>
                  <a:srgbClr val="14213D"/>
                </a:solidFill>
                <a:latin typeface="Arial" pitchFamily="34" charset="0"/>
                <a:ea typeface="Arial" pitchFamily="34" charset="-122"/>
                <a:cs typeface="Arial" pitchFamily="34" charset="-120"/>
              </a:rPr>
              <a:t>1.8 Mt</a:t>
            </a:r>
            <a:endParaRPr lang="en-US" sz="2200" dirty="0"/>
          </a:p>
        </p:txBody>
      </p:sp>
      <p:sp>
        <p:nvSpPr>
          <p:cNvPr id="8" name="Text 5"/>
          <p:cNvSpPr txBox="1"/>
          <p:nvPr/>
        </p:nvSpPr>
        <p:spPr>
          <a:xfrm>
            <a:off x="548640" y="6080760"/>
            <a:ext cx="1874520" cy="457200"/>
          </a:xfrm>
          <a:prstGeom prst="rect">
            <a:avLst/>
          </a:prstGeom>
          <a:noFill/>
          <a:ln/>
        </p:spPr>
        <p:txBody>
          <a:bodyPr wrap="square" lIns="0" tIns="0" rIns="0" bIns="0" rtlCol="0" anchor="t"/>
          <a:lstStyle/>
          <a:p>
            <a:pPr indent="0" marL="0">
              <a:buNone/>
            </a:pPr>
            <a:r>
              <a:rPr lang="en-US" sz="1000" dirty="0">
                <a:solidFill>
                  <a:srgbClr val="4B5563"/>
                </a:solidFill>
                <a:latin typeface="Calibri" pitchFamily="34" charset="0"/>
                <a:ea typeface="Calibri" pitchFamily="34" charset="-122"/>
                <a:cs typeface="Calibri" pitchFamily="34" charset="-120"/>
              </a:rPr>
              <a:t>CO₂e/yr avoided, buildable path, ~3 MTPA</a:t>
            </a:r>
            <a:endParaRPr lang="en-US" sz="1000" dirty="0"/>
          </a:p>
        </p:txBody>
      </p:sp>
      <p:sp>
        <p:nvSpPr>
          <p:cNvPr id="9" name="Text 6"/>
          <p:cNvSpPr txBox="1"/>
          <p:nvPr/>
        </p:nvSpPr>
        <p:spPr>
          <a:xfrm>
            <a:off x="2560320" y="5669280"/>
            <a:ext cx="1920240" cy="411480"/>
          </a:xfrm>
          <a:prstGeom prst="rect">
            <a:avLst/>
          </a:prstGeom>
          <a:noFill/>
          <a:ln/>
        </p:spPr>
        <p:txBody>
          <a:bodyPr wrap="square" lIns="0" tIns="0" rIns="0" bIns="0" rtlCol="0" anchor="ctr"/>
          <a:lstStyle/>
          <a:p>
            <a:pPr indent="0" marL="0">
              <a:buNone/>
            </a:pPr>
            <a:r>
              <a:rPr lang="en-US" sz="2200" b="1" dirty="0">
                <a:solidFill>
                  <a:srgbClr val="14213D"/>
                </a:solidFill>
                <a:latin typeface="Arial" pitchFamily="34" charset="0"/>
                <a:ea typeface="Arial" pitchFamily="34" charset="-122"/>
                <a:cs typeface="Arial" pitchFamily="34" charset="-120"/>
              </a:rPr>
              <a:t>−22%</a:t>
            </a:r>
            <a:endParaRPr lang="en-US" sz="2200" dirty="0"/>
          </a:p>
        </p:txBody>
      </p:sp>
      <p:sp>
        <p:nvSpPr>
          <p:cNvPr id="10" name="Text 7"/>
          <p:cNvSpPr txBox="1"/>
          <p:nvPr/>
        </p:nvSpPr>
        <p:spPr>
          <a:xfrm>
            <a:off x="2560320" y="6080760"/>
            <a:ext cx="1874520" cy="457200"/>
          </a:xfrm>
          <a:prstGeom prst="rect">
            <a:avLst/>
          </a:prstGeom>
          <a:noFill/>
          <a:ln/>
        </p:spPr>
        <p:txBody>
          <a:bodyPr wrap="square" lIns="0" tIns="0" rIns="0" bIns="0" rtlCol="0" anchor="t"/>
          <a:lstStyle/>
          <a:p>
            <a:pPr indent="0" marL="0">
              <a:buNone/>
            </a:pPr>
            <a:r>
              <a:rPr lang="en-US" sz="1000" dirty="0">
                <a:solidFill>
                  <a:srgbClr val="4B5563"/>
                </a:solidFill>
                <a:latin typeface="Calibri" pitchFamily="34" charset="0"/>
                <a:ea typeface="Calibri" pitchFamily="34" charset="-122"/>
                <a:cs typeface="Calibri" pitchFamily="34" charset="-120"/>
              </a:rPr>
              <a:t>per tonne within a year</a:t>
            </a:r>
            <a:endParaRPr lang="en-US" sz="1000" dirty="0"/>
          </a:p>
        </p:txBody>
      </p:sp>
      <p:sp>
        <p:nvSpPr>
          <p:cNvPr id="11" name="Text 8"/>
          <p:cNvSpPr txBox="1"/>
          <p:nvPr/>
        </p:nvSpPr>
        <p:spPr>
          <a:xfrm>
            <a:off x="4572000" y="5669280"/>
            <a:ext cx="1920240" cy="411480"/>
          </a:xfrm>
          <a:prstGeom prst="rect">
            <a:avLst/>
          </a:prstGeom>
          <a:noFill/>
          <a:ln/>
        </p:spPr>
        <p:txBody>
          <a:bodyPr wrap="square" lIns="0" tIns="0" rIns="0" bIns="0" rtlCol="0" anchor="ctr"/>
          <a:lstStyle/>
          <a:p>
            <a:pPr indent="0" marL="0">
              <a:buNone/>
            </a:pPr>
            <a:r>
              <a:rPr lang="en-US" sz="2200" b="1" dirty="0">
                <a:solidFill>
                  <a:srgbClr val="14213D"/>
                </a:solidFill>
                <a:latin typeface="Arial" pitchFamily="34" charset="0"/>
                <a:ea typeface="Arial" pitchFamily="34" charset="-122"/>
                <a:cs typeface="Arial" pitchFamily="34" charset="-120"/>
              </a:rPr>
              <a:t>−48%</a:t>
            </a:r>
            <a:endParaRPr lang="en-US" sz="2200" dirty="0"/>
          </a:p>
        </p:txBody>
      </p:sp>
      <p:sp>
        <p:nvSpPr>
          <p:cNvPr id="12" name="Text 9"/>
          <p:cNvSpPr txBox="1"/>
          <p:nvPr/>
        </p:nvSpPr>
        <p:spPr>
          <a:xfrm>
            <a:off x="4572000" y="6080760"/>
            <a:ext cx="1874520" cy="457200"/>
          </a:xfrm>
          <a:prstGeom prst="rect">
            <a:avLst/>
          </a:prstGeom>
          <a:noFill/>
          <a:ln/>
        </p:spPr>
        <p:txBody>
          <a:bodyPr wrap="square" lIns="0" tIns="0" rIns="0" bIns="0" rtlCol="0" anchor="t"/>
          <a:lstStyle/>
          <a:p>
            <a:pPr indent="0" marL="0">
              <a:buNone/>
            </a:pPr>
            <a:r>
              <a:rPr lang="en-US" sz="1000" dirty="0">
                <a:solidFill>
                  <a:srgbClr val="4B5563"/>
                </a:solidFill>
                <a:latin typeface="Calibri" pitchFamily="34" charset="0"/>
                <a:ea typeface="Calibri" pitchFamily="34" charset="-122"/>
                <a:cs typeface="Calibri" pitchFamily="34" charset="-120"/>
              </a:rPr>
              <a:t>per tonne on the stretch path</a:t>
            </a:r>
            <a:endParaRPr lang="en-US" sz="1000" dirty="0"/>
          </a:p>
        </p:txBody>
      </p:sp>
      <p:sp>
        <p:nvSpPr>
          <p:cNvPr id="13" name="Text 10"/>
          <p:cNvSpPr txBox="1"/>
          <p:nvPr/>
        </p:nvSpPr>
        <p:spPr>
          <a:xfrm>
            <a:off x="6858000" y="1463040"/>
            <a:ext cx="4846320" cy="274320"/>
          </a:xfrm>
          <a:prstGeom prst="rect">
            <a:avLst/>
          </a:prstGeom>
          <a:noFill/>
          <a:ln/>
        </p:spPr>
        <p:txBody>
          <a:bodyPr wrap="square" lIns="0" tIns="0" rIns="0" bIns="0" rtlCol="0" anchor="ctr"/>
          <a:lstStyle/>
          <a:p>
            <a:pPr indent="0" marL="0">
              <a:buNone/>
            </a:pPr>
            <a:r>
              <a:rPr lang="en-US" sz="1050" b="1" spc="100" kern="0" dirty="0">
                <a:solidFill>
                  <a:srgbClr val="C97A00"/>
                </a:solidFill>
                <a:latin typeface="Calibri" pitchFamily="34" charset="0"/>
                <a:ea typeface="Calibri" pitchFamily="34" charset="-122"/>
                <a:cs typeface="Calibri" pitchFamily="34" charset="-120"/>
              </a:rPr>
              <a:t>SCORECARD VS THE BRIEF'S CONSIDERATIONS</a:t>
            </a:r>
            <a:endParaRPr lang="en-US" sz="10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858000" y="1783080"/>
          <a:ext cx="4800600" cy="914400"/>
        </p:xfrm>
        <a:graphic>
          <a:graphicData uri="http://schemas.openxmlformats.org/drawingml/2006/table">
            <a:tbl>
              <a:tblPr/>
              <a:tblGrid>
                <a:gridCol w="1508760"/>
                <a:gridCol w="3291840"/>
              </a:tblGrid>
              <a:tr h="56692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Consideration</a:t>
                      </a:r>
                      <a:endParaRPr lang="en-US" sz="1050" dirty="0">
                        <a:latin typeface="Calibri" charset="0"/>
                        <a:ea typeface="Calibri" charset="0"/>
                        <a:cs typeface="Calibri" charset="0"/>
                      </a:endParaRPr>
                    </a:p>
                  </a:txBody>
                  <a:tcPr marL="91440" marR="91440" marT="45720" marB="45720" anchor="ctr">
                    <a:lnL w="9525" cap="flat" cmpd="sng" algn="ctr">
                      <a:solidFill>
                        <a:srgbClr val="D6DBE3"/>
                      </a:solidFill>
                      <a:prstDash val="solid"/>
                      <a:round/>
                      <a:headEnd type="none" w="med" len="med"/>
                      <a:tailEnd type="none" w="med" len="med"/>
                    </a:lnL>
                    <a:lnR w="9525" cap="flat" cmpd="sng" algn="ctr">
                      <a:solidFill>
                        <a:srgbClr val="D6DBE3"/>
                      </a:solidFill>
                      <a:prstDash val="solid"/>
                      <a:round/>
                      <a:headEnd type="none" w="med" len="med"/>
                      <a:tailEnd type="none" w="med" len="med"/>
                    </a:lnR>
                    <a:lnT w="9525" cap="flat" cmpd="sng" algn="ctr">
                      <a:solidFill>
                        <a:srgbClr val="D6DBE3"/>
                      </a:solidFill>
                      <a:prstDash val="solid"/>
                      <a:round/>
                      <a:headEnd type="none" w="med" len="med"/>
                      <a:tailEnd type="none" w="med" len="med"/>
                    </a:lnT>
                    <a:lnB w="9525" cap="flat" cmpd="sng" algn="ctr">
                      <a:solidFill>
                        <a:srgbClr val="D6DBE3"/>
                      </a:solidFill>
                      <a:prstDash val="solid"/>
                      <a:round/>
                      <a:headEnd type="none" w="med" len="med"/>
                      <a:tailEnd type="none" w="med" len="med"/>
                    </a:lnB>
                    <a:solidFill>
                      <a:srgbClr val="14213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How CarbonSpark answers it</a:t>
                      </a:r>
                      <a:endParaRPr lang="en-US" sz="1050" dirty="0">
                        <a:latin typeface="Calibri" charset="0"/>
                        <a:ea typeface="Calibri" charset="0"/>
                        <a:cs typeface="Calibri" charset="0"/>
                      </a:endParaRPr>
                    </a:p>
                  </a:txBody>
                  <a:tcPr marL="91440" marR="91440" marT="45720" marB="45720" anchor="ctr">
                    <a:lnL w="9525" cap="flat" cmpd="sng" algn="ctr">
                      <a:solidFill>
                        <a:srgbClr val="D6DBE3"/>
                      </a:solidFill>
                      <a:prstDash val="solid"/>
                      <a:round/>
                      <a:headEnd type="none" w="med" len="med"/>
                      <a:tailEnd type="none" w="med" len="med"/>
                    </a:lnL>
                    <a:lnR w="9525" cap="flat" cmpd="sng" algn="ctr">
                      <a:solidFill>
                        <a:srgbClr val="D6DBE3"/>
                      </a:solidFill>
                      <a:prstDash val="solid"/>
                      <a:round/>
                      <a:headEnd type="none" w="med" len="med"/>
                      <a:tailEnd type="none" w="med" len="med"/>
                    </a:lnR>
                    <a:lnT w="9525" cap="flat" cmpd="sng" algn="ctr">
                      <a:solidFill>
                        <a:srgbClr val="D6DBE3"/>
                      </a:solidFill>
                      <a:prstDash val="solid"/>
                      <a:round/>
                      <a:headEnd type="none" w="med" len="med"/>
                      <a:tailEnd type="none" w="med" len="med"/>
                    </a:lnT>
                    <a:lnB w="9525" cap="flat" cmpd="sng" algn="ctr">
                      <a:solidFill>
                        <a:srgbClr val="D6DBE3"/>
                      </a:solidFill>
                      <a:prstDash val="solid"/>
                      <a:round/>
                      <a:headEnd type="none" w="med" len="med"/>
                      <a:tailEnd type="none" w="med" len="med"/>
                    </a:lnB>
                    <a:solidFill>
                      <a:srgbClr val="14213D"/>
                    </a:solidFill>
                  </a:tcPr>
                </a:tc>
              </a:tr>
              <a:tr h="566928">
                <a:tc>
                  <a:txBody>
                    <a:bodyPr/>
                    <a:lstStyle/>
                    <a:p>
                      <a:pPr indent="0" marL="0">
                        <a:buNone/>
                      </a:pPr>
                      <a:r>
                        <a:rPr lang="en-US" sz="1050" b="1" dirty="0">
                          <a:solidFill>
                            <a:srgbClr val="14213D"/>
                          </a:solidFill>
                          <a:latin typeface="Calibri" pitchFamily="34" charset="0"/>
                          <a:ea typeface="Calibri" pitchFamily="34" charset="-122"/>
                          <a:cs typeface="Calibri" pitchFamily="34" charset="-120"/>
                        </a:rPr>
                        <a:t>Reasonable model</a:t>
                      </a:r>
                      <a:endParaRPr lang="en-US" sz="1050" dirty="0">
                        <a:latin typeface="Calibri" charset="0"/>
                        <a:ea typeface="Calibri" charset="0"/>
                        <a:cs typeface="Calibri" charset="0"/>
                      </a:endParaRPr>
                    </a:p>
                  </a:txBody>
                  <a:tcPr marL="91440" marR="91440" marT="45720" marB="45720" anchor="ctr">
                    <a:lnL w="9525" cap="flat" cmpd="sng" algn="ctr">
                      <a:solidFill>
                        <a:srgbClr val="D6DBE3"/>
                      </a:solidFill>
                      <a:prstDash val="solid"/>
                      <a:round/>
                      <a:headEnd type="none" w="med" len="med"/>
                      <a:tailEnd type="none" w="med" len="med"/>
                    </a:lnL>
                    <a:lnR w="9525" cap="flat" cmpd="sng" algn="ctr">
                      <a:solidFill>
                        <a:srgbClr val="D6DBE3"/>
                      </a:solidFill>
                      <a:prstDash val="solid"/>
                      <a:round/>
                      <a:headEnd type="none" w="med" len="med"/>
                      <a:tailEnd type="none" w="med" len="med"/>
                    </a:lnR>
                    <a:lnT w="9525" cap="flat" cmpd="sng" algn="ctr">
                      <a:solidFill>
                        <a:srgbClr val="D6DBE3"/>
                      </a:solidFill>
                      <a:prstDash val="solid"/>
                      <a:round/>
                      <a:headEnd type="none" w="med" len="med"/>
                      <a:tailEnd type="none" w="med" len="med"/>
                    </a:lnT>
                    <a:lnB w="9525" cap="flat" cmpd="sng" algn="ctr">
                      <a:solidFill>
                        <a:srgbClr val="D6DBE3"/>
                      </a:solidFill>
                      <a:prstDash val="solid"/>
                      <a:round/>
                      <a:headEnd type="none" w="med" len="med"/>
                      <a:tailEnd type="none" w="med" len="med"/>
                    </a:lnB>
                    <a:solidFill>
                      <a:srgbClr val="FFFFFF"/>
                    </a:solidFill>
                  </a:tcPr>
                </a:tc>
                <a:tc>
                  <a:txBody>
                    <a:bodyPr/>
                    <a:lstStyle/>
                    <a:p>
                      <a:pPr indent="0" marL="0">
                        <a:buNone/>
                      </a:pPr>
                      <a:r>
                        <a:rPr lang="en-US" sz="1050" dirty="0">
                          <a:solidFill>
                            <a:srgbClr val="4B5563"/>
                          </a:solidFill>
                          <a:latin typeface="Calibri" pitchFamily="34" charset="0"/>
                          <a:ea typeface="Calibri" pitchFamily="34" charset="-122"/>
                          <a:cs typeface="Calibri" pitchFamily="34" charset="-120"/>
                        </a:rPr>
                        <a:t>67-step grid recalibrated: Scope 1+2 at 1.28 vs JSL's disclosed 1.76; 47 tests</a:t>
                      </a:r>
                      <a:endParaRPr lang="en-US" sz="1050" dirty="0">
                        <a:latin typeface="Calibri" charset="0"/>
                        <a:ea typeface="Calibri" charset="0"/>
                        <a:cs typeface="Calibri" charset="0"/>
                      </a:endParaRPr>
                    </a:p>
                  </a:txBody>
                  <a:tcPr marL="91440" marR="91440" marT="45720" marB="45720" anchor="ctr">
                    <a:lnL w="9525" cap="flat" cmpd="sng" algn="ctr">
                      <a:solidFill>
                        <a:srgbClr val="D6DBE3"/>
                      </a:solidFill>
                      <a:prstDash val="solid"/>
                      <a:round/>
                      <a:headEnd type="none" w="med" len="med"/>
                      <a:tailEnd type="none" w="med" len="med"/>
                    </a:lnL>
                    <a:lnR w="9525" cap="flat" cmpd="sng" algn="ctr">
                      <a:solidFill>
                        <a:srgbClr val="D6DBE3"/>
                      </a:solidFill>
                      <a:prstDash val="solid"/>
                      <a:round/>
                      <a:headEnd type="none" w="med" len="med"/>
                      <a:tailEnd type="none" w="med" len="med"/>
                    </a:lnR>
                    <a:lnT w="9525" cap="flat" cmpd="sng" algn="ctr">
                      <a:solidFill>
                        <a:srgbClr val="D6DBE3"/>
                      </a:solidFill>
                      <a:prstDash val="solid"/>
                      <a:round/>
                      <a:headEnd type="none" w="med" len="med"/>
                      <a:tailEnd type="none" w="med" len="med"/>
                    </a:lnT>
                    <a:lnB w="9525" cap="flat" cmpd="sng" algn="ctr">
                      <a:solidFill>
                        <a:srgbClr val="D6DBE3"/>
                      </a:solidFill>
                      <a:prstDash val="solid"/>
                      <a:round/>
                      <a:headEnd type="none" w="med" len="med"/>
                      <a:tailEnd type="none" w="med" len="med"/>
                    </a:lnB>
                    <a:solidFill>
                      <a:srgbClr val="FFFFFF"/>
                    </a:solidFill>
                  </a:tcPr>
                </a:tc>
              </a:tr>
              <a:tr h="566928">
                <a:tc>
                  <a:txBody>
                    <a:bodyPr/>
                    <a:lstStyle/>
                    <a:p>
                      <a:pPr indent="0" marL="0">
                        <a:buNone/>
                      </a:pPr>
                      <a:r>
                        <a:rPr lang="en-US" sz="1050" b="1" dirty="0">
                          <a:solidFill>
                            <a:srgbClr val="14213D"/>
                          </a:solidFill>
                          <a:latin typeface="Calibri" pitchFamily="34" charset="0"/>
                          <a:ea typeface="Calibri" pitchFamily="34" charset="-122"/>
                          <a:cs typeface="Calibri" pitchFamily="34" charset="-120"/>
                        </a:rPr>
                        <a:t>Clear input → result</a:t>
                      </a:r>
                      <a:endParaRPr lang="en-US" sz="1050" dirty="0">
                        <a:latin typeface="Calibri" charset="0"/>
                        <a:ea typeface="Calibri" charset="0"/>
                        <a:cs typeface="Calibri" charset="0"/>
                      </a:endParaRPr>
                    </a:p>
                  </a:txBody>
                  <a:tcPr marL="91440" marR="91440" marT="45720" marB="45720" anchor="ctr">
                    <a:lnL w="9525" cap="flat" cmpd="sng" algn="ctr">
                      <a:solidFill>
                        <a:srgbClr val="D6DBE3"/>
                      </a:solidFill>
                      <a:prstDash val="solid"/>
                      <a:round/>
                      <a:headEnd type="none" w="med" len="med"/>
                      <a:tailEnd type="none" w="med" len="med"/>
                    </a:lnL>
                    <a:lnR w="9525" cap="flat" cmpd="sng" algn="ctr">
                      <a:solidFill>
                        <a:srgbClr val="D6DBE3"/>
                      </a:solidFill>
                      <a:prstDash val="solid"/>
                      <a:round/>
                      <a:headEnd type="none" w="med" len="med"/>
                      <a:tailEnd type="none" w="med" len="med"/>
                    </a:lnR>
                    <a:lnT w="9525" cap="flat" cmpd="sng" algn="ctr">
                      <a:solidFill>
                        <a:srgbClr val="D6DBE3"/>
                      </a:solidFill>
                      <a:prstDash val="solid"/>
                      <a:round/>
                      <a:headEnd type="none" w="med" len="med"/>
                      <a:tailEnd type="none" w="med" len="med"/>
                    </a:lnT>
                    <a:lnB w="9525" cap="flat" cmpd="sng" algn="ctr">
                      <a:solidFill>
                        <a:srgbClr val="D6DBE3"/>
                      </a:solidFill>
                      <a:prstDash val="solid"/>
                      <a:round/>
                      <a:headEnd type="none" w="med" len="med"/>
                      <a:tailEnd type="none" w="med" len="med"/>
                    </a:lnB>
                    <a:solidFill>
                      <a:srgbClr val="FFFFFF"/>
                    </a:solidFill>
                  </a:tcPr>
                </a:tc>
                <a:tc>
                  <a:txBody>
                    <a:bodyPr/>
                    <a:lstStyle/>
                    <a:p>
                      <a:pPr indent="0" marL="0">
                        <a:buNone/>
                      </a:pPr>
                      <a:r>
                        <a:rPr lang="en-US" sz="1050" dirty="0">
                          <a:solidFill>
                            <a:srgbClr val="4B5563"/>
                          </a:solidFill>
                          <a:latin typeface="Calibri" pitchFamily="34" charset="0"/>
                          <a:ea typeface="Calibri" pitchFamily="34" charset="-122"/>
                          <a:cs typeface="Calibri" pitchFamily="34" charset="-120"/>
                        </a:rPr>
                        <a:t>Live readout, tornado and carbon map, a waterfall that adds up exactly</a:t>
                      </a:r>
                      <a:endParaRPr lang="en-US" sz="1050" dirty="0">
                        <a:latin typeface="Calibri" charset="0"/>
                        <a:ea typeface="Calibri" charset="0"/>
                        <a:cs typeface="Calibri" charset="0"/>
                      </a:endParaRPr>
                    </a:p>
                  </a:txBody>
                  <a:tcPr marL="91440" marR="91440" marT="45720" marB="45720" anchor="ctr">
                    <a:lnL w="9525" cap="flat" cmpd="sng" algn="ctr">
                      <a:solidFill>
                        <a:srgbClr val="D6DBE3"/>
                      </a:solidFill>
                      <a:prstDash val="solid"/>
                      <a:round/>
                      <a:headEnd type="none" w="med" len="med"/>
                      <a:tailEnd type="none" w="med" len="med"/>
                    </a:lnL>
                    <a:lnR w="9525" cap="flat" cmpd="sng" algn="ctr">
                      <a:solidFill>
                        <a:srgbClr val="D6DBE3"/>
                      </a:solidFill>
                      <a:prstDash val="solid"/>
                      <a:round/>
                      <a:headEnd type="none" w="med" len="med"/>
                      <a:tailEnd type="none" w="med" len="med"/>
                    </a:lnR>
                    <a:lnT w="9525" cap="flat" cmpd="sng" algn="ctr">
                      <a:solidFill>
                        <a:srgbClr val="D6DBE3"/>
                      </a:solidFill>
                      <a:prstDash val="solid"/>
                      <a:round/>
                      <a:headEnd type="none" w="med" len="med"/>
                      <a:tailEnd type="none" w="med" len="med"/>
                    </a:lnT>
                    <a:lnB w="9525" cap="flat" cmpd="sng" algn="ctr">
                      <a:solidFill>
                        <a:srgbClr val="D6DBE3"/>
                      </a:solidFill>
                      <a:prstDash val="solid"/>
                      <a:round/>
                      <a:headEnd type="none" w="med" len="med"/>
                      <a:tailEnd type="none" w="med" len="med"/>
                    </a:lnB>
                    <a:solidFill>
                      <a:srgbClr val="FFFFFF"/>
                    </a:solidFill>
                  </a:tcPr>
                </a:tc>
              </a:tr>
              <a:tr h="566928">
                <a:tc>
                  <a:txBody>
                    <a:bodyPr/>
                    <a:lstStyle/>
                    <a:p>
                      <a:pPr indent="0" marL="0">
                        <a:buNone/>
                      </a:pPr>
                      <a:r>
                        <a:rPr lang="en-US" sz="1050" b="1" dirty="0">
                          <a:solidFill>
                            <a:srgbClr val="14213D"/>
                          </a:solidFill>
                          <a:latin typeface="Calibri" pitchFamily="34" charset="0"/>
                          <a:ea typeface="Calibri" pitchFamily="34" charset="-122"/>
                          <a:cs typeface="Calibri" pitchFamily="34" charset="-120"/>
                        </a:rPr>
                        <a:t>Interactive, easy UI</a:t>
                      </a:r>
                      <a:endParaRPr lang="en-US" sz="1050" dirty="0">
                        <a:latin typeface="Calibri" charset="0"/>
                        <a:ea typeface="Calibri" charset="0"/>
                        <a:cs typeface="Calibri" charset="0"/>
                      </a:endParaRPr>
                    </a:p>
                  </a:txBody>
                  <a:tcPr marL="91440" marR="91440" marT="45720" marB="45720" anchor="ctr">
                    <a:lnL w="9525" cap="flat" cmpd="sng" algn="ctr">
                      <a:solidFill>
                        <a:srgbClr val="D6DBE3"/>
                      </a:solidFill>
                      <a:prstDash val="solid"/>
                      <a:round/>
                      <a:headEnd type="none" w="med" len="med"/>
                      <a:tailEnd type="none" w="med" len="med"/>
                    </a:lnL>
                    <a:lnR w="9525" cap="flat" cmpd="sng" algn="ctr">
                      <a:solidFill>
                        <a:srgbClr val="D6DBE3"/>
                      </a:solidFill>
                      <a:prstDash val="solid"/>
                      <a:round/>
                      <a:headEnd type="none" w="med" len="med"/>
                      <a:tailEnd type="none" w="med" len="med"/>
                    </a:lnR>
                    <a:lnT w="9525" cap="flat" cmpd="sng" algn="ctr">
                      <a:solidFill>
                        <a:srgbClr val="D6DBE3"/>
                      </a:solidFill>
                      <a:prstDash val="solid"/>
                      <a:round/>
                      <a:headEnd type="none" w="med" len="med"/>
                      <a:tailEnd type="none" w="med" len="med"/>
                    </a:lnT>
                    <a:lnB w="9525" cap="flat" cmpd="sng" algn="ctr">
                      <a:solidFill>
                        <a:srgbClr val="D6DBE3"/>
                      </a:solidFill>
                      <a:prstDash val="solid"/>
                      <a:round/>
                      <a:headEnd type="none" w="med" len="med"/>
                      <a:tailEnd type="none" w="med" len="med"/>
                    </a:lnB>
                    <a:solidFill>
                      <a:srgbClr val="FFFFFF"/>
                    </a:solidFill>
                  </a:tcPr>
                </a:tc>
                <a:tc>
                  <a:txBody>
                    <a:bodyPr/>
                    <a:lstStyle/>
                    <a:p>
                      <a:pPr indent="0" marL="0">
                        <a:buNone/>
                      </a:pPr>
                      <a:r>
                        <a:rPr lang="en-US" sz="1050" dirty="0">
                          <a:solidFill>
                            <a:srgbClr val="4B5563"/>
                          </a:solidFill>
                          <a:latin typeface="Calibri" pitchFamily="34" charset="0"/>
                          <a:ea typeface="Calibri" pitchFamily="34" charset="-122"/>
                          <a:cs typeface="Calibri" pitchFamily="34" charset="-120"/>
                        </a:rPr>
                        <a:t>Opens on the plant; photo-led inputs; light/dark; 4 minutes to a plan</a:t>
                      </a:r>
                      <a:endParaRPr lang="en-US" sz="1050" dirty="0">
                        <a:latin typeface="Calibri" charset="0"/>
                        <a:ea typeface="Calibri" charset="0"/>
                        <a:cs typeface="Calibri" charset="0"/>
                      </a:endParaRPr>
                    </a:p>
                  </a:txBody>
                  <a:tcPr marL="91440" marR="91440" marT="45720" marB="45720" anchor="ctr">
                    <a:lnL w="9525" cap="flat" cmpd="sng" algn="ctr">
                      <a:solidFill>
                        <a:srgbClr val="D6DBE3"/>
                      </a:solidFill>
                      <a:prstDash val="solid"/>
                      <a:round/>
                      <a:headEnd type="none" w="med" len="med"/>
                      <a:tailEnd type="none" w="med" len="med"/>
                    </a:lnL>
                    <a:lnR w="9525" cap="flat" cmpd="sng" algn="ctr">
                      <a:solidFill>
                        <a:srgbClr val="D6DBE3"/>
                      </a:solidFill>
                      <a:prstDash val="solid"/>
                      <a:round/>
                      <a:headEnd type="none" w="med" len="med"/>
                      <a:tailEnd type="none" w="med" len="med"/>
                    </a:lnR>
                    <a:lnT w="9525" cap="flat" cmpd="sng" algn="ctr">
                      <a:solidFill>
                        <a:srgbClr val="D6DBE3"/>
                      </a:solidFill>
                      <a:prstDash val="solid"/>
                      <a:round/>
                      <a:headEnd type="none" w="med" len="med"/>
                      <a:tailEnd type="none" w="med" len="med"/>
                    </a:lnT>
                    <a:lnB w="9525" cap="flat" cmpd="sng" algn="ctr">
                      <a:solidFill>
                        <a:srgbClr val="D6DBE3"/>
                      </a:solidFill>
                      <a:prstDash val="solid"/>
                      <a:round/>
                      <a:headEnd type="none" w="med" len="med"/>
                      <a:tailEnd type="none" w="med" len="med"/>
                    </a:lnB>
                    <a:solidFill>
                      <a:srgbClr val="FFFFFF"/>
                    </a:solidFill>
                  </a:tcPr>
                </a:tc>
              </a:tr>
              <a:tr h="566928">
                <a:tc>
                  <a:txBody>
                    <a:bodyPr/>
                    <a:lstStyle/>
                    <a:p>
                      <a:pPr indent="0" marL="0">
                        <a:buNone/>
                      </a:pPr>
                      <a:r>
                        <a:rPr lang="en-US" sz="1050" b="1" dirty="0">
                          <a:solidFill>
                            <a:srgbClr val="14213D"/>
                          </a:solidFill>
                          <a:latin typeface="Calibri" pitchFamily="34" charset="0"/>
                          <a:ea typeface="Calibri" pitchFamily="34" charset="-122"/>
                          <a:cs typeface="Calibri" pitchFamily="34" charset="-120"/>
                        </a:rPr>
                        <a:t>Useful optimisation</a:t>
                      </a:r>
                      <a:endParaRPr lang="en-US" sz="1050" dirty="0">
                        <a:latin typeface="Calibri" charset="0"/>
                        <a:ea typeface="Calibri" charset="0"/>
                        <a:cs typeface="Calibri" charset="0"/>
                      </a:endParaRPr>
                    </a:p>
                  </a:txBody>
                  <a:tcPr marL="91440" marR="91440" marT="45720" marB="45720" anchor="ctr">
                    <a:lnL w="9525" cap="flat" cmpd="sng" algn="ctr">
                      <a:solidFill>
                        <a:srgbClr val="D6DBE3"/>
                      </a:solidFill>
                      <a:prstDash val="solid"/>
                      <a:round/>
                      <a:headEnd type="none" w="med" len="med"/>
                      <a:tailEnd type="none" w="med" len="med"/>
                    </a:lnL>
                    <a:lnR w="9525" cap="flat" cmpd="sng" algn="ctr">
                      <a:solidFill>
                        <a:srgbClr val="D6DBE3"/>
                      </a:solidFill>
                      <a:prstDash val="solid"/>
                      <a:round/>
                      <a:headEnd type="none" w="med" len="med"/>
                      <a:tailEnd type="none" w="med" len="med"/>
                    </a:lnR>
                    <a:lnT w="9525" cap="flat" cmpd="sng" algn="ctr">
                      <a:solidFill>
                        <a:srgbClr val="D6DBE3"/>
                      </a:solidFill>
                      <a:prstDash val="solid"/>
                      <a:round/>
                      <a:headEnd type="none" w="med" len="med"/>
                      <a:tailEnd type="none" w="med" len="med"/>
                    </a:lnT>
                    <a:lnB w="9525" cap="flat" cmpd="sng" algn="ctr">
                      <a:solidFill>
                        <a:srgbClr val="D6DBE3"/>
                      </a:solidFill>
                      <a:prstDash val="solid"/>
                      <a:round/>
                      <a:headEnd type="none" w="med" len="med"/>
                      <a:tailEnd type="none" w="med" len="med"/>
                    </a:lnB>
                    <a:solidFill>
                      <a:srgbClr val="FFFFFF"/>
                    </a:solidFill>
                  </a:tcPr>
                </a:tc>
                <a:tc>
                  <a:txBody>
                    <a:bodyPr/>
                    <a:lstStyle/>
                    <a:p>
                      <a:pPr indent="0" marL="0">
                        <a:buNone/>
                      </a:pPr>
                      <a:r>
                        <a:rPr lang="en-US" sz="1050" dirty="0">
                          <a:solidFill>
                            <a:srgbClr val="4B5563"/>
                          </a:solidFill>
                          <a:latin typeface="Calibri" pitchFamily="34" charset="0"/>
                          <a:ea typeface="Calibri" pitchFamily="34" charset="-122"/>
                          <a:cs typeface="Calibri" pitchFamily="34" charset="-120"/>
                        </a:rPr>
                        <a:t>Exact search, 3 ambition levels, A/B compare, written review</a:t>
                      </a:r>
                      <a:endParaRPr lang="en-US" sz="1050" dirty="0">
                        <a:latin typeface="Calibri" charset="0"/>
                        <a:ea typeface="Calibri" charset="0"/>
                        <a:cs typeface="Calibri" charset="0"/>
                      </a:endParaRPr>
                    </a:p>
                  </a:txBody>
                  <a:tcPr marL="91440" marR="91440" marT="45720" marB="45720" anchor="ctr">
                    <a:lnL w="9525" cap="flat" cmpd="sng" algn="ctr">
                      <a:solidFill>
                        <a:srgbClr val="D6DBE3"/>
                      </a:solidFill>
                      <a:prstDash val="solid"/>
                      <a:round/>
                      <a:headEnd type="none" w="med" len="med"/>
                      <a:tailEnd type="none" w="med" len="med"/>
                    </a:lnL>
                    <a:lnR w="9525" cap="flat" cmpd="sng" algn="ctr">
                      <a:solidFill>
                        <a:srgbClr val="D6DBE3"/>
                      </a:solidFill>
                      <a:prstDash val="solid"/>
                      <a:round/>
                      <a:headEnd type="none" w="med" len="med"/>
                      <a:tailEnd type="none" w="med" len="med"/>
                    </a:lnR>
                    <a:lnT w="9525" cap="flat" cmpd="sng" algn="ctr">
                      <a:solidFill>
                        <a:srgbClr val="D6DBE3"/>
                      </a:solidFill>
                      <a:prstDash val="solid"/>
                      <a:round/>
                      <a:headEnd type="none" w="med" len="med"/>
                      <a:tailEnd type="none" w="med" len="med"/>
                    </a:lnT>
                    <a:lnB w="9525" cap="flat" cmpd="sng" algn="ctr">
                      <a:solidFill>
                        <a:srgbClr val="D6DBE3"/>
                      </a:solidFill>
                      <a:prstDash val="solid"/>
                      <a:round/>
                      <a:headEnd type="none" w="med" len="med"/>
                      <a:tailEnd type="none" w="med" len="med"/>
                    </a:lnB>
                    <a:solidFill>
                      <a:srgbClr val="FFFFFF"/>
                    </a:solidFill>
                  </a:tcPr>
                </a:tc>
              </a:tr>
              <a:tr h="566928">
                <a:tc>
                  <a:txBody>
                    <a:bodyPr/>
                    <a:lstStyle/>
                    <a:p>
                      <a:pPr indent="0" marL="0">
                        <a:buNone/>
                      </a:pPr>
                      <a:r>
                        <a:rPr lang="en-US" sz="1050" b="1" dirty="0">
                          <a:solidFill>
                            <a:srgbClr val="14213D"/>
                          </a:solidFill>
                          <a:latin typeface="Calibri" pitchFamily="34" charset="0"/>
                          <a:ea typeface="Calibri" pitchFamily="34" charset="-122"/>
                          <a:cs typeface="Calibri" pitchFamily="34" charset="-120"/>
                        </a:rPr>
                        <a:t>Measurable reduction</a:t>
                      </a:r>
                      <a:endParaRPr lang="en-US" sz="1050" dirty="0">
                        <a:latin typeface="Calibri" charset="0"/>
                        <a:ea typeface="Calibri" charset="0"/>
                        <a:cs typeface="Calibri" charset="0"/>
                      </a:endParaRPr>
                    </a:p>
                  </a:txBody>
                  <a:tcPr marL="91440" marR="91440" marT="45720" marB="45720" anchor="ctr">
                    <a:lnL w="9525" cap="flat" cmpd="sng" algn="ctr">
                      <a:solidFill>
                        <a:srgbClr val="D6DBE3"/>
                      </a:solidFill>
                      <a:prstDash val="solid"/>
                      <a:round/>
                      <a:headEnd type="none" w="med" len="med"/>
                      <a:tailEnd type="none" w="med" len="med"/>
                    </a:lnL>
                    <a:lnR w="9525" cap="flat" cmpd="sng" algn="ctr">
                      <a:solidFill>
                        <a:srgbClr val="D6DBE3"/>
                      </a:solidFill>
                      <a:prstDash val="solid"/>
                      <a:round/>
                      <a:headEnd type="none" w="med" len="med"/>
                      <a:tailEnd type="none" w="med" len="med"/>
                    </a:lnR>
                    <a:lnT w="9525" cap="flat" cmpd="sng" algn="ctr">
                      <a:solidFill>
                        <a:srgbClr val="D6DBE3"/>
                      </a:solidFill>
                      <a:prstDash val="solid"/>
                      <a:round/>
                      <a:headEnd type="none" w="med" len="med"/>
                      <a:tailEnd type="none" w="med" len="med"/>
                    </a:lnT>
                    <a:lnB w="9525" cap="flat" cmpd="sng" algn="ctr">
                      <a:solidFill>
                        <a:srgbClr val="D6DBE3"/>
                      </a:solidFill>
                      <a:prstDash val="solid"/>
                      <a:round/>
                      <a:headEnd type="none" w="med" len="med"/>
                      <a:tailEnd type="none" w="med" len="med"/>
                    </a:lnB>
                    <a:solidFill>
                      <a:srgbClr val="FFFFFF"/>
                    </a:solidFill>
                  </a:tcPr>
                </a:tc>
                <a:tc>
                  <a:txBody>
                    <a:bodyPr/>
                    <a:lstStyle/>
                    <a:p>
                      <a:pPr indent="0" marL="0">
                        <a:buNone/>
                      </a:pPr>
                      <a:r>
                        <a:rPr lang="en-US" sz="1050" dirty="0">
                          <a:solidFill>
                            <a:srgbClr val="4B5563"/>
                          </a:solidFill>
                          <a:latin typeface="Calibri" pitchFamily="34" charset="0"/>
                          <a:ea typeface="Calibri" pitchFamily="34" charset="-122"/>
                          <a:cs typeface="Calibri" pitchFamily="34" charset="-120"/>
                        </a:rPr>
                        <a:t>2.887 → 2.248 t/t buildable (−22%); 1.514 stretch (−48%)</a:t>
                      </a:r>
                      <a:endParaRPr lang="en-US" sz="1050" dirty="0">
                        <a:latin typeface="Calibri" charset="0"/>
                        <a:ea typeface="Calibri" charset="0"/>
                        <a:cs typeface="Calibri" charset="0"/>
                      </a:endParaRPr>
                    </a:p>
                  </a:txBody>
                  <a:tcPr marL="91440" marR="91440" marT="45720" marB="45720" anchor="ctr">
                    <a:lnL w="9525" cap="flat" cmpd="sng" algn="ctr">
                      <a:solidFill>
                        <a:srgbClr val="D6DBE3"/>
                      </a:solidFill>
                      <a:prstDash val="solid"/>
                      <a:round/>
                      <a:headEnd type="none" w="med" len="med"/>
                      <a:tailEnd type="none" w="med" len="med"/>
                    </a:lnL>
                    <a:lnR w="9525" cap="flat" cmpd="sng" algn="ctr">
                      <a:solidFill>
                        <a:srgbClr val="D6DBE3"/>
                      </a:solidFill>
                      <a:prstDash val="solid"/>
                      <a:round/>
                      <a:headEnd type="none" w="med" len="med"/>
                      <a:tailEnd type="none" w="med" len="med"/>
                    </a:lnR>
                    <a:lnT w="9525" cap="flat" cmpd="sng" algn="ctr">
                      <a:solidFill>
                        <a:srgbClr val="D6DBE3"/>
                      </a:solidFill>
                      <a:prstDash val="solid"/>
                      <a:round/>
                      <a:headEnd type="none" w="med" len="med"/>
                      <a:tailEnd type="none" w="med" len="med"/>
                    </a:lnT>
                    <a:lnB w="9525" cap="flat" cmpd="sng" algn="ctr">
                      <a:solidFill>
                        <a:srgbClr val="D6DBE3"/>
                      </a:solidFill>
                      <a:prstDash val="solid"/>
                      <a:round/>
                      <a:headEnd type="none" w="med" len="med"/>
                      <a:tailEnd type="none" w="med" len="med"/>
                    </a:lnB>
                    <a:solidFill>
                      <a:srgbClr val="FFFFFF"/>
                    </a:solidFill>
                  </a:tcPr>
                </a:tc>
              </a:tr>
            </a:tbl>
          </a:graphicData>
        </a:graphic>
      </p:graphicFrame>
      <p:sp>
        <p:nvSpPr>
          <p:cNvPr id="15" name="Text 11"/>
          <p:cNvSpPr txBox="1"/>
          <p:nvPr/>
        </p:nvSpPr>
        <p:spPr>
          <a:xfrm>
            <a:off x="6858000" y="6080760"/>
            <a:ext cx="4800600" cy="274320"/>
          </a:xfrm>
          <a:prstGeom prst="rect">
            <a:avLst/>
          </a:prstGeom>
          <a:noFill/>
          <a:ln/>
        </p:spPr>
        <p:txBody>
          <a:bodyPr wrap="square" lIns="0" tIns="0" rIns="0" bIns="0"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Every figure here can be reproduced live in the tool.</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CarbonSpark — Round 2 (alternate)</dc:title>
  <dc:subject>PptxGenJS Presentation</dc:subject>
  <dc:creator>PptxGenJS</dc:creator>
  <cp:lastModifiedBy>PptxGenJS</cp:lastModifiedBy>
  <cp:revision>1</cp:revision>
  <dcterms:created xsi:type="dcterms:W3CDTF">2026-09-27T11:25:15Z</dcterms:created>
  <dcterms:modified xsi:type="dcterms:W3CDTF">2026-09-27T11:25:15Z</dcterms:modified>
</cp:coreProperties>
</file>