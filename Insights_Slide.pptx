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AA2D0"/>
              </a:solidFill>
              <a:ln w="12700" cap="flat">
                <a:solidFill>
                  <a:srgbClr val="2A292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971F"/>
              </a:solidFill>
              <a:ln w="12700" cap="flat">
                <a:solidFill>
                  <a:srgbClr val="2A292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1633F"/>
              </a:solidFill>
              <a:ln w="12700" cap="flat">
                <a:solidFill>
                  <a:srgbClr val="2A292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Raw material (Scope 3)</c:v>
                </c:pt>
                <c:pt idx="1">
                  <c:v>Electricity (Scope 2)</c:v>
                </c:pt>
                <c:pt idx="2">
                  <c:v>On site (Scope 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1.612</c:v>
                </c:pt>
                <c:pt idx="1">
                  <c:v>0.832</c:v>
                </c:pt>
                <c:pt idx="2">
                  <c:v>0.443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Insights are what we learned from studying the problem, and each one explains a design choice. The doughnut is one tonne from a typical electric-arc stainless route: 56% of its carbon comes with the raw material, 29% from purchased electricity, 15% burned on site. One: the raw material matters most; every extra point of scrap saves about 35 kg per tonne, so scrap versus virgin is the first control in CarbonSpark. Two: electricity is next; coal power emits about 85 times more per kWh than wind, so users build the grid mix source by source. Three: not every lever is worth chasing; grid and scrap together are worth about 0.6 t/t, rail and technology under 0.05, so the tool ranks levers biggest first. Four: practical has limits; stainless still needs virgin chromium and nickel and no plant can drop coal overnight, so the optimiser works within realistic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D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before building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484632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tonne's carbon comes from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2011680"/>
          <a:ext cx="3474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1783080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2.89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/ tonne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822960" y="5239512"/>
            <a:ext cx="164592" cy="164592"/>
          </a:xfrm>
          <a:prstGeom prst="rect">
            <a:avLst/>
          </a:prstGeom>
          <a:solidFill>
            <a:srgbClr val="5AA2D0"/>
          </a:solidFill>
          <a:ln w="12700">
            <a:solidFill>
              <a:srgbClr val="5AA2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5166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(Scope 3)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51663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5568696"/>
            <a:ext cx="164592" cy="164592"/>
          </a:xfrm>
          <a:prstGeom prst="rect">
            <a:avLst/>
          </a:prstGeom>
          <a:solidFill>
            <a:srgbClr val="C9971F"/>
          </a:solidFill>
          <a:ln w="12700">
            <a:solidFill>
              <a:srgbClr val="C997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54955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(Scope 2)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54955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5897880"/>
            <a:ext cx="164592" cy="164592"/>
          </a:xfrm>
          <a:prstGeom prst="rect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58247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site (Scope 1)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5824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91540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CARBONSPARK…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46320" y="1810512"/>
            <a:ext cx="6793992" cy="987552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83480" y="2075688"/>
            <a:ext cx="457200" cy="45720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23560" y="1920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material matters most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623560" y="22677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point of scrap saves ~35 kg CO₂e per tonne.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732520" y="2194560"/>
            <a:ext cx="274320" cy="219456"/>
          </a:xfrm>
          <a:prstGeom prst="rightArrow">
            <a:avLst/>
          </a:prstGeom>
          <a:solidFill>
            <a:srgbClr val="E08A63"/>
          </a:solidFill>
          <a:ln w="12700">
            <a:solidFill>
              <a:srgbClr val="E08A6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98280" y="181051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scrap vs virgin first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846320" y="2935224"/>
            <a:ext cx="6793992" cy="987552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83480" y="3200400"/>
            <a:ext cx="457200" cy="45720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9834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623560" y="30449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is the next big lever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623560" y="33924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power emits ~85× more per kWh than wind.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732520" y="3319272"/>
            <a:ext cx="274320" cy="219456"/>
          </a:xfrm>
          <a:prstGeom prst="rightArrow">
            <a:avLst/>
          </a:prstGeom>
          <a:solidFill>
            <a:srgbClr val="E08A63"/>
          </a:solidFill>
          <a:ln w="12700">
            <a:solidFill>
              <a:srgbClr val="E08A6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098280" y="2935224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build the grid mix, source by source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46320" y="4059936"/>
            <a:ext cx="6793992" cy="987552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83480" y="4325112"/>
            <a:ext cx="457200" cy="45720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98348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623560" y="41696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levers barely matter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5623560" y="45171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scrap save ~0.6 t/t; rail + technology under 0.05.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732520" y="4443984"/>
            <a:ext cx="274320" cy="219456"/>
          </a:xfrm>
          <a:prstGeom prst="rightArrow">
            <a:avLst/>
          </a:prstGeom>
          <a:solidFill>
            <a:srgbClr val="E08A63"/>
          </a:solidFill>
          <a:ln w="12700">
            <a:solidFill>
              <a:srgbClr val="E08A6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98280" y="4059936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 levers, biggest first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4846320" y="5184648"/>
            <a:ext cx="6793992" cy="987552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983480" y="5449824"/>
            <a:ext cx="457200" cy="45720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983480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5623560" y="52943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“Practical” has limits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623560" y="5641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needs virgin chromium and nickel; coal can't vanish overnight.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732520" y="5568696"/>
            <a:ext cx="274320" cy="219456"/>
          </a:xfrm>
          <a:prstGeom prst="rightArrow">
            <a:avLst/>
          </a:prstGeom>
          <a:solidFill>
            <a:srgbClr val="E08A63"/>
          </a:solidFill>
          <a:ln w="12700">
            <a:solidFill>
              <a:srgbClr val="E08A6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098280" y="5184648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within realistic limits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CarbonSpark</dc:title>
  <dc:subject>PptxGenJS Presentation</dc:subject>
  <dc:creator>PptxGenJS</dc:creator>
  <cp:lastModifiedBy>PptxGenJS</cp:lastModifiedBy>
  <cp:revision>1</cp:revision>
  <dcterms:created xsi:type="dcterms:W3CDTF">2026-09-27T16:33:36Z</dcterms:created>
  <dcterms:modified xsi:type="dcterms:W3CDTF">2026-09-27T16:33:36Z</dcterms:modified>
</cp:coreProperties>
</file>