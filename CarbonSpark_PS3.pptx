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left blank deliberately. Add team name, members, college and the problem statement title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decision gap, not on the technology. The point of this slide: the emissions of a tonne are determined by four choices, and none of the people making them can see the consequence at the time. Numbers are from our own model run on the supplied workbook: the default route (40% scrap, today's Indian grid, first-listed technology at every stage) gives 6.167 tCO2e/t and 47.4 GJ/t. Scope 2 at 3.451 t/t is 56% of the total — say this out loud, it is the reason the grid-mix slider is the centrepiece of the tool. The objectives are deliberately measurable so the validation slide can be checked against them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'how'. Three things to land. First: the tool reads the workbook itself at load — no coefficient is re-typed, so it cannot drift from the source of truth. Second: the model is not a black box — every metric is linear in the virgin/scrap split, and the two transport rows are bilinear in (virgin/scrap) x (rail/road), which is what makes the whole thing exactly re-arrangeable. Third, the differentiator: because it is exactly re-arrangeable, we export the current route to the browser as a coefficient model, so while a slider is being dragged the figures AND the Plotly bars recompute in the page. Streamlit only commits a slider on release; without this the tool feels dead under the hand. The screenshot shows the docked Inputs panel — scrap ratio and haulage split — over the live readout.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slide — spend the most time here. Every row is quoted against Jajpur as we model it (4.598 t/t), the same reference the tool uses on screen. The workbook's own default route sits 34% above it; Hisar is 1.5% above, so the two sites are close. Then the three optimiser levels. The key defence: 'Buildable today' at 2.089 t/t (-54.6%) holds coal at 45% or more of supply and caps hydro and nuclear near their real grid share, because an industrial consumer cannot contract unlimited amounts of either. That is what makes it a feasible answer rather than a hypothetical one. On validation, the strongest single fact is the 1e-9 agreement between the browser model and the server — the live figures are the same arithmetic, not an approximation. Be upfront about the limitations; the electricity intensities in the supplied workbook are high against public benchmarks, which is exactly why we present deltas rather than certified absolutes.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differentiation and impact. The one thing to say if you only get one sentence: every other calculator recomputes on the server after you let go of the control — ours re-arranges the model into coefficients and evaluates it in the page, so the number moves with your hand and is still exact to 1e-9. Second differentiator is the feasibility framing, which answers the brief's word 'practical' directly. On impact, quote the annualised figure: at 1 Mt of output, the buildable path avoids 2,508 kt CO2e a year, cuts specific energy 28.3%, and takes 65% off Scope 2 — the component that was 56% of the tonne on slide 1. Invite them to open the tool and change any input; nothing in it is hard-coded.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384048" cy="384048"/>
          </a:xfrm>
          <a:prstGeom prst="ellipse">
            <a:avLst/>
          </a:prstGeom>
          <a:solidFill>
            <a:srgbClr val="B24A2C"/>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 name="Text 1"/>
          <p:cNvSpPr txBox="1"/>
          <p:nvPr/>
        </p:nvSpPr>
        <p:spPr>
          <a:xfrm>
            <a:off x="1115568" y="365760"/>
            <a:ext cx="10506456" cy="219456"/>
          </a:xfrm>
          <a:prstGeom prst="rect">
            <a:avLst/>
          </a:prstGeom>
          <a:noFill/>
          <a:ln/>
        </p:spPr>
        <p:txBody>
          <a:bodyPr wrap="square" lIns="0" tIns="0" rIns="0" bIns="0" rtlCol="0" anchor="ctr"/>
          <a:lstStyle/>
          <a:p>
            <a:pPr indent="0" marL="0">
              <a:buNone/>
            </a:pPr>
            <a:r>
              <a:rPr lang="en-US" sz="1050" b="1" spc="160" kern="0" dirty="0">
                <a:solidFill>
                  <a:srgbClr val="B24A2C"/>
                </a:solidFill>
                <a:latin typeface="Calibri" pitchFamily="34" charset="0"/>
                <a:ea typeface="Calibri" pitchFamily="34" charset="-122"/>
                <a:cs typeface="Calibri" pitchFamily="34" charset="-120"/>
              </a:rPr>
              <a:t>PROBLEM UNDERSTANDING  ·  OBJECTIVES</a:t>
            </a:r>
            <a:endParaRPr lang="en-US" sz="1050" dirty="0"/>
          </a:p>
        </p:txBody>
      </p:sp>
      <p:sp>
        <p:nvSpPr>
          <p:cNvPr id="4" name="Text 2"/>
          <p:cNvSpPr txBox="1"/>
          <p:nvPr/>
        </p:nvSpPr>
        <p:spPr>
          <a:xfrm>
            <a:off x="1115568" y="603504"/>
            <a:ext cx="10506456" cy="475488"/>
          </a:xfrm>
          <a:prstGeom prst="rect">
            <a:avLst/>
          </a:prstGeom>
          <a:noFill/>
          <a:ln/>
        </p:spPr>
        <p:txBody>
          <a:bodyPr wrap="square" lIns="0" tIns="0" rIns="0" bIns="0" rtlCol="0" anchor="ctr"/>
          <a:lstStyle/>
          <a:p>
            <a:pPr indent="0" marL="0">
              <a:buNone/>
            </a:pPr>
            <a:r>
              <a:rPr lang="en-US" sz="2700" dirty="0">
                <a:solidFill>
                  <a:srgbClr val="1F1F1E"/>
                </a:solidFill>
                <a:latin typeface="Cambria" pitchFamily="34" charset="0"/>
                <a:ea typeface="Cambria" pitchFamily="34" charset="-122"/>
                <a:cs typeface="Cambria" pitchFamily="34" charset="-120"/>
              </a:rPr>
              <a:t>Emissions are decided long before anyone can see them</a:t>
            </a:r>
            <a:endParaRPr lang="en-US" sz="2700" dirty="0"/>
          </a:p>
        </p:txBody>
      </p:sp>
      <p:sp>
        <p:nvSpPr>
          <p:cNvPr id="5" name="Text 3"/>
          <p:cNvSpPr txBox="1"/>
          <p:nvPr/>
        </p:nvSpPr>
        <p:spPr>
          <a:xfrm>
            <a:off x="566928" y="1335024"/>
            <a:ext cx="6766560" cy="1115568"/>
          </a:xfrm>
          <a:prstGeom prst="rect">
            <a:avLst/>
          </a:prstGeom>
          <a:noFill/>
          <a:ln/>
        </p:spPr>
        <p:txBody>
          <a:bodyPr wrap="square" lIns="0" tIns="0" rIns="0" bIns="0" rtlCol="0" anchor="ctr"/>
          <a:lstStyle/>
          <a:p>
            <a:pPr indent="0" marL="0">
              <a:lnSpc>
                <a:spcPts val="1800"/>
              </a:lnSpc>
              <a:buNone/>
            </a:pPr>
            <a:r>
              <a:rPr lang="en-US" sz="1250" dirty="0">
                <a:solidFill>
                  <a:srgbClr val="5F5C55"/>
                </a:solidFill>
                <a:latin typeface="Calibri" pitchFamily="34" charset="0"/>
                <a:ea typeface="Calibri" pitchFamily="34" charset="-122"/>
                <a:cs typeface="Calibri" pitchFamily="34" charset="-120"/>
              </a:rPr>
              <a:t>A stainless tonne's carbon is fixed by four choices — how much scrap is charged, which grid supplies the furnaces, how the material is hauled, and which technology each stage runs. Those choices are made by planners and buyers who have no number in front of them at the moment of deciding. The workbook that holds the coefficients is an audit artefact, not a decision tool.</a:t>
            </a:r>
            <a:endParaRPr lang="en-US" sz="1250" dirty="0"/>
          </a:p>
        </p:txBody>
      </p:sp>
      <p:sp>
        <p:nvSpPr>
          <p:cNvPr id="6" name="Text 4"/>
          <p:cNvSpPr txBox="1"/>
          <p:nvPr/>
        </p:nvSpPr>
        <p:spPr>
          <a:xfrm>
            <a:off x="566928" y="2578608"/>
            <a:ext cx="6766560" cy="201168"/>
          </a:xfrm>
          <a:prstGeom prst="rect">
            <a:avLst/>
          </a:prstGeom>
          <a:noFill/>
          <a:ln/>
        </p:spPr>
        <p:txBody>
          <a:bodyPr wrap="square" lIns="0" tIns="0" rIns="0" bIns="0" rtlCol="0" anchor="ctr"/>
          <a:lstStyle/>
          <a:p>
            <a:pPr indent="0" marL="0">
              <a:buNone/>
            </a:pPr>
            <a:r>
              <a:rPr lang="en-US" sz="950" b="1" spc="140" kern="0" dirty="0">
                <a:solidFill>
                  <a:srgbClr val="B24A2C"/>
                </a:solidFill>
                <a:latin typeface="Calibri" pitchFamily="34" charset="0"/>
                <a:ea typeface="Calibri" pitchFamily="34" charset="-122"/>
                <a:cs typeface="Calibri" pitchFamily="34" charset="-120"/>
              </a:rPr>
              <a:t>WHY IT MATTERS</a:t>
            </a:r>
            <a:endParaRPr lang="en-US" sz="950" dirty="0"/>
          </a:p>
        </p:txBody>
      </p:sp>
      <p:sp>
        <p:nvSpPr>
          <p:cNvPr id="7" name="Text 5"/>
          <p:cNvSpPr txBox="1"/>
          <p:nvPr/>
        </p:nvSpPr>
        <p:spPr>
          <a:xfrm>
            <a:off x="566928" y="2816352"/>
            <a:ext cx="6766560" cy="137160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5F5C55"/>
                </a:solidFill>
                <a:latin typeface="Calibri" pitchFamily="34" charset="0"/>
                <a:ea typeface="Calibri" pitchFamily="34" charset="-122"/>
                <a:cs typeface="Calibri" pitchFamily="34" charset="-120"/>
              </a:rPr>
              <a:t>Scope 2 — purchased electricity — is 56% of the baseline tonne. The single biggest lever is a procurement decision, not a metallurgical one.</a:t>
            </a:r>
            <a:endParaRPr lang="en-US" sz="1250" dirty="0"/>
          </a:p>
          <a:p>
            <a:pPr marL="342900" indent="-342900">
              <a:lnSpc>
                <a:spcPts val="1700"/>
              </a:lnSpc>
              <a:spcAft>
                <a:spcPts val="700"/>
              </a:spcAft>
              <a:buSzPct val="100000"/>
              <a:buChar char="•"/>
            </a:pPr>
            <a:r>
              <a:rPr lang="en-US" sz="1250" dirty="0">
                <a:solidFill>
                  <a:srgbClr val="5F5C55"/>
                </a:solidFill>
                <a:latin typeface="Calibri" pitchFamily="34" charset="0"/>
                <a:ea typeface="Calibri" pitchFamily="34" charset="-122"/>
                <a:cs typeface="Calibri" pitchFamily="34" charset="-120"/>
              </a:rPr>
              <a:t>Scrap displaces virgin chromium and nickel, but grade requirements cap how far it can go. The trade-off is real and currently unquantified at the plant.</a:t>
            </a:r>
            <a:endParaRPr lang="en-US" sz="1250" dirty="0"/>
          </a:p>
          <a:p>
            <a:pPr marL="342900" indent="-342900">
              <a:lnSpc>
                <a:spcPts val="1700"/>
              </a:lnSpc>
              <a:spcAft>
                <a:spcPts val="700"/>
              </a:spcAft>
              <a:buSzPct val="100000"/>
              <a:buChar char="•"/>
            </a:pPr>
            <a:r>
              <a:rPr lang="en-US" sz="1250" dirty="0">
                <a:solidFill>
                  <a:srgbClr val="5F5C55"/>
                </a:solidFill>
                <a:latin typeface="Calibri" pitchFamily="34" charset="0"/>
                <a:ea typeface="Calibri" pitchFamily="34" charset="-122"/>
                <a:cs typeface="Calibri" pitchFamily="34" charset="-120"/>
              </a:rPr>
              <a:t>Net Zero by 2050 needs the marginal question answered in seconds: what does this change do to the tonne?</a:t>
            </a:r>
            <a:endParaRPr lang="en-US" sz="1250" dirty="0"/>
          </a:p>
        </p:txBody>
      </p:sp>
      <p:sp>
        <p:nvSpPr>
          <p:cNvPr id="8" name="Text 6"/>
          <p:cNvSpPr txBox="1"/>
          <p:nvPr/>
        </p:nvSpPr>
        <p:spPr>
          <a:xfrm>
            <a:off x="566928" y="4315968"/>
            <a:ext cx="6766560" cy="201168"/>
          </a:xfrm>
          <a:prstGeom prst="rect">
            <a:avLst/>
          </a:prstGeom>
          <a:noFill/>
          <a:ln/>
        </p:spPr>
        <p:txBody>
          <a:bodyPr wrap="square" lIns="0" tIns="0" rIns="0" bIns="0" rtlCol="0" anchor="ctr"/>
          <a:lstStyle/>
          <a:p>
            <a:pPr indent="0" marL="0">
              <a:buNone/>
            </a:pPr>
            <a:r>
              <a:rPr lang="en-US" sz="950" b="1" spc="140" kern="0" dirty="0">
                <a:solidFill>
                  <a:srgbClr val="B24A2C"/>
                </a:solidFill>
                <a:latin typeface="Calibri" pitchFamily="34" charset="0"/>
                <a:ea typeface="Calibri" pitchFamily="34" charset="-122"/>
                <a:cs typeface="Calibri" pitchFamily="34" charset="-120"/>
              </a:rPr>
              <a:t>OBJECTIVES — MEASURABLE</a:t>
            </a:r>
            <a:endParaRPr lang="en-US" sz="950" dirty="0"/>
          </a:p>
        </p:txBody>
      </p:sp>
      <p:sp>
        <p:nvSpPr>
          <p:cNvPr id="9" name="Text 7"/>
          <p:cNvSpPr txBox="1"/>
          <p:nvPr/>
        </p:nvSpPr>
        <p:spPr>
          <a:xfrm>
            <a:off x="566928" y="4553712"/>
            <a:ext cx="6766560" cy="173736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5F5C55"/>
                </a:solidFill>
                <a:latin typeface="Calibri" pitchFamily="34" charset="0"/>
                <a:ea typeface="Calibri" pitchFamily="34" charset="-122"/>
                <a:cs typeface="Calibri" pitchFamily="34" charset="-120"/>
              </a:rPr>
              <a:t>Model every process step in the JSL grid — 67 routes across 8 departments — not a lumped plant average.</a:t>
            </a:r>
            <a:endParaRPr lang="en-US" sz="1250" dirty="0"/>
          </a:p>
          <a:p>
            <a:pPr marL="342900" indent="-342900">
              <a:lnSpc>
                <a:spcPts val="1700"/>
              </a:lnSpc>
              <a:spcAft>
                <a:spcPts val="700"/>
              </a:spcAft>
              <a:buSzPct val="100000"/>
              <a:buChar char="•"/>
            </a:pPr>
            <a:r>
              <a:rPr lang="en-US" sz="1250" dirty="0">
                <a:solidFill>
                  <a:srgbClr val="5F5C55"/>
                </a:solidFill>
                <a:latin typeface="Calibri" pitchFamily="34" charset="0"/>
                <a:ea typeface="Calibri" pitchFamily="34" charset="-122"/>
                <a:cs typeface="Calibri" pitchFamily="34" charset="-120"/>
              </a:rPr>
              <a:t>Report Scope 1, 2 and 3 separately, per GHG Protocol, and reconcile to the workbook exactly.</a:t>
            </a:r>
            <a:endParaRPr lang="en-US" sz="1250" dirty="0"/>
          </a:p>
          <a:p>
            <a:pPr marL="342900" indent="-342900">
              <a:lnSpc>
                <a:spcPts val="1700"/>
              </a:lnSpc>
              <a:spcAft>
                <a:spcPts val="700"/>
              </a:spcAft>
              <a:buSzPct val="100000"/>
              <a:buChar char="•"/>
            </a:pPr>
            <a:r>
              <a:rPr lang="en-US" sz="1250" dirty="0">
                <a:solidFill>
                  <a:srgbClr val="5F5C55"/>
                </a:solidFill>
                <a:latin typeface="Calibri" pitchFamily="34" charset="0"/>
                <a:ea typeface="Calibri" pitchFamily="34" charset="-122"/>
                <a:cs typeface="Calibri" pitchFamily="34" charset="-120"/>
              </a:rPr>
              <a:t>Respond to an input while it is being dragged, not after it is released.</a:t>
            </a:r>
            <a:endParaRPr lang="en-US" sz="1250" dirty="0"/>
          </a:p>
          <a:p>
            <a:pPr marL="342900" indent="-342900">
              <a:lnSpc>
                <a:spcPts val="1700"/>
              </a:lnSpc>
              <a:spcAft>
                <a:spcPts val="700"/>
              </a:spcAft>
              <a:buSzPct val="100000"/>
              <a:buChar char="•"/>
            </a:pPr>
            <a:r>
              <a:rPr lang="en-US" sz="1250" dirty="0">
                <a:solidFill>
                  <a:srgbClr val="5F5C55"/>
                </a:solidFill>
                <a:latin typeface="Calibri" pitchFamily="34" charset="0"/>
                <a:ea typeface="Calibri" pitchFamily="34" charset="-122"/>
                <a:cs typeface="Calibri" pitchFamily="34" charset="-120"/>
              </a:rPr>
              <a:t>Return a lower-carbon configuration the plant can actually contract — and say what it would take.</a:t>
            </a:r>
            <a:endParaRPr lang="en-US" sz="1250" dirty="0"/>
          </a:p>
        </p:txBody>
      </p:sp>
      <p:sp>
        <p:nvSpPr>
          <p:cNvPr id="10" name="Shape 8"/>
          <p:cNvSpPr/>
          <p:nvPr/>
        </p:nvSpPr>
        <p:spPr>
          <a:xfrm>
            <a:off x="7635240" y="1335024"/>
            <a:ext cx="3986784" cy="4956048"/>
          </a:xfrm>
          <a:prstGeom prst="roundRect">
            <a:avLst>
              <a:gd name="adj" fmla="val 1376"/>
            </a:avLst>
          </a:prstGeom>
          <a:solidFill>
            <a:srgbClr val="F2F0EB"/>
          </a:solidFill>
          <a:ln w="12700">
            <a:solidFill>
              <a:srgbClr val="F2F0EB"/>
            </a:solidFill>
            <a:prstDash val="solid"/>
          </a:ln>
        </p:spPr>
      </p:sp>
      <p:sp>
        <p:nvSpPr>
          <p:cNvPr id="11" name="Text 9"/>
          <p:cNvSpPr txBox="1"/>
          <p:nvPr/>
        </p:nvSpPr>
        <p:spPr>
          <a:xfrm>
            <a:off x="7973568" y="1591056"/>
            <a:ext cx="3383280" cy="201168"/>
          </a:xfrm>
          <a:prstGeom prst="rect">
            <a:avLst/>
          </a:prstGeom>
          <a:noFill/>
          <a:ln/>
        </p:spPr>
        <p:txBody>
          <a:bodyPr wrap="square" lIns="0" tIns="0" rIns="0" bIns="0" rtlCol="0" anchor="ctr"/>
          <a:lstStyle/>
          <a:p>
            <a:pPr indent="0" marL="0">
              <a:buNone/>
            </a:pPr>
            <a:r>
              <a:rPr lang="en-US" sz="950" b="1" spc="140" kern="0" dirty="0">
                <a:solidFill>
                  <a:srgbClr val="B24A2C"/>
                </a:solidFill>
                <a:latin typeface="Calibri" pitchFamily="34" charset="0"/>
                <a:ea typeface="Calibri" pitchFamily="34" charset="-122"/>
                <a:cs typeface="Calibri" pitchFamily="34" charset="-120"/>
              </a:rPr>
              <a:t>THE TONNE TODAY</a:t>
            </a:r>
            <a:endParaRPr lang="en-US" sz="950" dirty="0"/>
          </a:p>
        </p:txBody>
      </p:sp>
      <p:sp>
        <p:nvSpPr>
          <p:cNvPr id="12" name="Text 10"/>
          <p:cNvSpPr txBox="1"/>
          <p:nvPr/>
        </p:nvSpPr>
        <p:spPr>
          <a:xfrm>
            <a:off x="7973568" y="1883664"/>
            <a:ext cx="3383280" cy="475488"/>
          </a:xfrm>
          <a:prstGeom prst="rect">
            <a:avLst/>
          </a:prstGeom>
          <a:noFill/>
          <a:ln/>
        </p:spPr>
        <p:txBody>
          <a:bodyPr wrap="square" lIns="0" tIns="0" rIns="0" bIns="0" rtlCol="0" anchor="ctr"/>
          <a:lstStyle/>
          <a:p>
            <a:pPr indent="0" marL="0">
              <a:buNone/>
            </a:pPr>
            <a:r>
              <a:rPr lang="en-US" sz="2800" dirty="0">
                <a:solidFill>
                  <a:srgbClr val="B24A2C"/>
                </a:solidFill>
                <a:latin typeface="Cambria" pitchFamily="34" charset="0"/>
                <a:ea typeface="Cambria" pitchFamily="34" charset="-122"/>
                <a:cs typeface="Cambria" pitchFamily="34" charset="-120"/>
              </a:rPr>
              <a:t>6.167</a:t>
            </a:r>
            <a:endParaRPr lang="en-US" sz="2800" dirty="0"/>
          </a:p>
        </p:txBody>
      </p:sp>
      <p:sp>
        <p:nvSpPr>
          <p:cNvPr id="13" name="Text 11"/>
          <p:cNvSpPr txBox="1"/>
          <p:nvPr/>
        </p:nvSpPr>
        <p:spPr>
          <a:xfrm>
            <a:off x="7973568" y="2359152"/>
            <a:ext cx="3383280" cy="402336"/>
          </a:xfrm>
          <a:prstGeom prst="rect">
            <a:avLst/>
          </a:prstGeom>
          <a:noFill/>
          <a:ln/>
        </p:spPr>
        <p:txBody>
          <a:bodyPr wrap="square" lIns="0" tIns="0" rIns="0" bIns="0" rtlCol="0" anchor="ctr"/>
          <a:lstStyle/>
          <a:p>
            <a:pPr indent="0" marL="0">
              <a:lnSpc>
                <a:spcPts val="1200"/>
              </a:lnSpc>
              <a:buNone/>
            </a:pPr>
            <a:r>
              <a:rPr lang="en-US" sz="950" dirty="0">
                <a:solidFill>
                  <a:srgbClr val="5F5C55"/>
                </a:solidFill>
                <a:latin typeface="Calibri" pitchFamily="34" charset="0"/>
                <a:ea typeface="Calibri" pitchFamily="34" charset="-122"/>
                <a:cs typeface="Calibri" pitchFamily="34" charset="-120"/>
              </a:rPr>
              <a:t>tCO₂e per tonne — workbook default route, 40% scrap, today's Indian grid</a:t>
            </a:r>
            <a:endParaRPr lang="en-US" sz="950" dirty="0"/>
          </a:p>
        </p:txBody>
      </p:sp>
      <p:sp>
        <p:nvSpPr>
          <p:cNvPr id="14" name="Text 12"/>
          <p:cNvSpPr txBox="1"/>
          <p:nvPr/>
        </p:nvSpPr>
        <p:spPr>
          <a:xfrm>
            <a:off x="7973568" y="2889504"/>
            <a:ext cx="3383280" cy="475488"/>
          </a:xfrm>
          <a:prstGeom prst="rect">
            <a:avLst/>
          </a:prstGeom>
          <a:noFill/>
          <a:ln/>
        </p:spPr>
        <p:txBody>
          <a:bodyPr wrap="square" lIns="0" tIns="0" rIns="0" bIns="0" rtlCol="0" anchor="ctr"/>
          <a:lstStyle/>
          <a:p>
            <a:pPr indent="0" marL="0">
              <a:buNone/>
            </a:pPr>
            <a:r>
              <a:rPr lang="en-US" sz="2800" dirty="0">
                <a:solidFill>
                  <a:srgbClr val="1F6E9E"/>
                </a:solidFill>
                <a:latin typeface="Cambria" pitchFamily="34" charset="0"/>
                <a:ea typeface="Cambria" pitchFamily="34" charset="-122"/>
                <a:cs typeface="Cambria" pitchFamily="34" charset="-120"/>
              </a:rPr>
              <a:t>56%</a:t>
            </a:r>
            <a:endParaRPr lang="en-US" sz="2800" dirty="0"/>
          </a:p>
        </p:txBody>
      </p:sp>
      <p:sp>
        <p:nvSpPr>
          <p:cNvPr id="15" name="Text 13"/>
          <p:cNvSpPr txBox="1"/>
          <p:nvPr/>
        </p:nvSpPr>
        <p:spPr>
          <a:xfrm>
            <a:off x="7973568" y="3364992"/>
            <a:ext cx="3383280" cy="402336"/>
          </a:xfrm>
          <a:prstGeom prst="rect">
            <a:avLst/>
          </a:prstGeom>
          <a:noFill/>
          <a:ln/>
        </p:spPr>
        <p:txBody>
          <a:bodyPr wrap="square" lIns="0" tIns="0" rIns="0" bIns="0" rtlCol="0" anchor="ctr"/>
          <a:lstStyle/>
          <a:p>
            <a:pPr indent="0" marL="0">
              <a:lnSpc>
                <a:spcPts val="1200"/>
              </a:lnSpc>
              <a:buNone/>
            </a:pPr>
            <a:r>
              <a:rPr lang="en-US" sz="950" dirty="0">
                <a:solidFill>
                  <a:srgbClr val="5F5C55"/>
                </a:solidFill>
                <a:latin typeface="Calibri" pitchFamily="34" charset="0"/>
                <a:ea typeface="Calibri" pitchFamily="34" charset="-122"/>
                <a:cs typeface="Calibri" pitchFamily="34" charset="-120"/>
              </a:rPr>
              <a:t>of that total is Scope 2 alone (3.451 tCO₂e/t)</a:t>
            </a:r>
            <a:endParaRPr lang="en-US" sz="950" dirty="0"/>
          </a:p>
        </p:txBody>
      </p:sp>
      <p:sp>
        <p:nvSpPr>
          <p:cNvPr id="16" name="Text 14"/>
          <p:cNvSpPr txBox="1"/>
          <p:nvPr/>
        </p:nvSpPr>
        <p:spPr>
          <a:xfrm>
            <a:off x="7973568" y="3895344"/>
            <a:ext cx="3383280" cy="475488"/>
          </a:xfrm>
          <a:prstGeom prst="rect">
            <a:avLst/>
          </a:prstGeom>
          <a:noFill/>
          <a:ln/>
        </p:spPr>
        <p:txBody>
          <a:bodyPr wrap="square" lIns="0" tIns="0" rIns="0" bIns="0" rtlCol="0" anchor="ctr"/>
          <a:lstStyle/>
          <a:p>
            <a:pPr indent="0" marL="0">
              <a:buNone/>
            </a:pPr>
            <a:r>
              <a:rPr lang="en-US" sz="2800" dirty="0">
                <a:solidFill>
                  <a:srgbClr val="C9971F"/>
                </a:solidFill>
                <a:latin typeface="Cambria" pitchFamily="34" charset="0"/>
                <a:ea typeface="Cambria" pitchFamily="34" charset="-122"/>
                <a:cs typeface="Cambria" pitchFamily="34" charset="-120"/>
              </a:rPr>
              <a:t>47.4</a:t>
            </a:r>
            <a:endParaRPr lang="en-US" sz="2800" dirty="0"/>
          </a:p>
        </p:txBody>
      </p:sp>
      <p:sp>
        <p:nvSpPr>
          <p:cNvPr id="17" name="Text 15"/>
          <p:cNvSpPr txBox="1"/>
          <p:nvPr/>
        </p:nvSpPr>
        <p:spPr>
          <a:xfrm>
            <a:off x="7973568" y="4370832"/>
            <a:ext cx="3383280" cy="402336"/>
          </a:xfrm>
          <a:prstGeom prst="rect">
            <a:avLst/>
          </a:prstGeom>
          <a:noFill/>
          <a:ln/>
        </p:spPr>
        <p:txBody>
          <a:bodyPr wrap="square" lIns="0" tIns="0" rIns="0" bIns="0" rtlCol="0" anchor="ctr"/>
          <a:lstStyle/>
          <a:p>
            <a:pPr indent="0" marL="0">
              <a:lnSpc>
                <a:spcPts val="1200"/>
              </a:lnSpc>
              <a:buNone/>
            </a:pPr>
            <a:r>
              <a:rPr lang="en-US" sz="950" dirty="0">
                <a:solidFill>
                  <a:srgbClr val="5F5C55"/>
                </a:solidFill>
                <a:latin typeface="Calibri" pitchFamily="34" charset="0"/>
                <a:ea typeface="Calibri" pitchFamily="34" charset="-122"/>
                <a:cs typeface="Calibri" pitchFamily="34" charset="-120"/>
              </a:rPr>
              <a:t>GJ/t specific energy at the same baseline</a:t>
            </a:r>
            <a:endParaRPr lang="en-US" sz="950" dirty="0"/>
          </a:p>
        </p:txBody>
      </p:sp>
      <p:sp>
        <p:nvSpPr>
          <p:cNvPr id="18" name="Text 16"/>
          <p:cNvSpPr txBox="1"/>
          <p:nvPr/>
        </p:nvSpPr>
        <p:spPr>
          <a:xfrm>
            <a:off x="7973568" y="4901184"/>
            <a:ext cx="3383280" cy="475488"/>
          </a:xfrm>
          <a:prstGeom prst="rect">
            <a:avLst/>
          </a:prstGeom>
          <a:noFill/>
          <a:ln/>
        </p:spPr>
        <p:txBody>
          <a:bodyPr wrap="square" lIns="0" tIns="0" rIns="0" bIns="0" rtlCol="0" anchor="ctr"/>
          <a:lstStyle/>
          <a:p>
            <a:pPr indent="0" marL="0">
              <a:buNone/>
            </a:pPr>
            <a:r>
              <a:rPr lang="en-US" sz="2800" dirty="0">
                <a:solidFill>
                  <a:srgbClr val="1F1F1E"/>
                </a:solidFill>
                <a:latin typeface="Cambria" pitchFamily="34" charset="0"/>
                <a:ea typeface="Cambria" pitchFamily="34" charset="-122"/>
                <a:cs typeface="Cambria" pitchFamily="34" charset="-120"/>
              </a:rPr>
              <a:t>67</a:t>
            </a:r>
            <a:endParaRPr lang="en-US" sz="2800" dirty="0"/>
          </a:p>
        </p:txBody>
      </p:sp>
      <p:sp>
        <p:nvSpPr>
          <p:cNvPr id="19" name="Text 17"/>
          <p:cNvSpPr txBox="1"/>
          <p:nvPr/>
        </p:nvSpPr>
        <p:spPr>
          <a:xfrm>
            <a:off x="7973568" y="5376672"/>
            <a:ext cx="3383280" cy="402336"/>
          </a:xfrm>
          <a:prstGeom prst="rect">
            <a:avLst/>
          </a:prstGeom>
          <a:noFill/>
          <a:ln/>
        </p:spPr>
        <p:txBody>
          <a:bodyPr wrap="square" lIns="0" tIns="0" rIns="0" bIns="0" rtlCol="0" anchor="ctr"/>
          <a:lstStyle/>
          <a:p>
            <a:pPr indent="0" marL="0">
              <a:lnSpc>
                <a:spcPts val="1200"/>
              </a:lnSpc>
              <a:buNone/>
            </a:pPr>
            <a:r>
              <a:rPr lang="en-US" sz="950" dirty="0">
                <a:solidFill>
                  <a:srgbClr val="5F5C55"/>
                </a:solidFill>
                <a:latin typeface="Calibri" pitchFamily="34" charset="0"/>
                <a:ea typeface="Calibri" pitchFamily="34" charset="-122"/>
                <a:cs typeface="Calibri" pitchFamily="34" charset="-120"/>
              </a:rPr>
              <a:t>process routes carrying their own Scope 1/2/3 coefficients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384048" cy="384048"/>
          </a:xfrm>
          <a:prstGeom prst="ellipse">
            <a:avLst/>
          </a:prstGeom>
          <a:solidFill>
            <a:srgbClr val="B24A2C"/>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 name="Text 1"/>
          <p:cNvSpPr txBox="1"/>
          <p:nvPr/>
        </p:nvSpPr>
        <p:spPr>
          <a:xfrm>
            <a:off x="1115568" y="365760"/>
            <a:ext cx="10506456" cy="219456"/>
          </a:xfrm>
          <a:prstGeom prst="rect">
            <a:avLst/>
          </a:prstGeom>
          <a:noFill/>
          <a:ln/>
        </p:spPr>
        <p:txBody>
          <a:bodyPr wrap="square" lIns="0" tIns="0" rIns="0" bIns="0" rtlCol="0" anchor="ctr"/>
          <a:lstStyle/>
          <a:p>
            <a:pPr indent="0" marL="0">
              <a:buNone/>
            </a:pPr>
            <a:r>
              <a:rPr lang="en-US" sz="1050" b="1" spc="160" kern="0" dirty="0">
                <a:solidFill>
                  <a:srgbClr val="B24A2C"/>
                </a:solidFill>
                <a:latin typeface="Calibri" pitchFamily="34" charset="0"/>
                <a:ea typeface="Calibri" pitchFamily="34" charset="-122"/>
                <a:cs typeface="Calibri" pitchFamily="34" charset="-120"/>
              </a:rPr>
              <a:t>PROPOSED SOLUTION</a:t>
            </a:r>
            <a:endParaRPr lang="en-US" sz="1050" dirty="0"/>
          </a:p>
        </p:txBody>
      </p:sp>
      <p:sp>
        <p:nvSpPr>
          <p:cNvPr id="4" name="Text 2"/>
          <p:cNvSpPr txBox="1"/>
          <p:nvPr/>
        </p:nvSpPr>
        <p:spPr>
          <a:xfrm>
            <a:off x="1115568" y="603504"/>
            <a:ext cx="10506456" cy="475488"/>
          </a:xfrm>
          <a:prstGeom prst="rect">
            <a:avLst/>
          </a:prstGeom>
          <a:noFill/>
          <a:ln/>
        </p:spPr>
        <p:txBody>
          <a:bodyPr wrap="square" lIns="0" tIns="0" rIns="0" bIns="0" rtlCol="0" anchor="ctr"/>
          <a:lstStyle/>
          <a:p>
            <a:pPr indent="0" marL="0">
              <a:buNone/>
            </a:pPr>
            <a:r>
              <a:rPr lang="en-US" sz="2700" dirty="0">
                <a:solidFill>
                  <a:srgbClr val="1F1F1E"/>
                </a:solidFill>
                <a:latin typeface="Cambria" pitchFamily="34" charset="0"/>
                <a:ea typeface="Cambria" pitchFamily="34" charset="-122"/>
                <a:cs typeface="Cambria" pitchFamily="34" charset="-120"/>
              </a:rPr>
              <a:t>CarbonSpark — the workbook, made interactive</a:t>
            </a:r>
            <a:endParaRPr lang="en-US" sz="2700" dirty="0"/>
          </a:p>
        </p:txBody>
      </p:sp>
      <p:sp>
        <p:nvSpPr>
          <p:cNvPr id="5" name="Text 3"/>
          <p:cNvSpPr txBox="1"/>
          <p:nvPr/>
        </p:nvSpPr>
        <p:spPr>
          <a:xfrm>
            <a:off x="566928" y="1316736"/>
            <a:ext cx="5623560" cy="694944"/>
          </a:xfrm>
          <a:prstGeom prst="rect">
            <a:avLst/>
          </a:prstGeom>
          <a:noFill/>
          <a:ln/>
        </p:spPr>
        <p:txBody>
          <a:bodyPr wrap="square" lIns="0" tIns="0" rIns="0" bIns="0" rtlCol="0" anchor="ctr"/>
          <a:lstStyle/>
          <a:p>
            <a:pPr indent="0" marL="0">
              <a:lnSpc>
                <a:spcPts val="1800"/>
              </a:lnSpc>
              <a:buNone/>
            </a:pPr>
            <a:r>
              <a:rPr lang="en-US" sz="1250" dirty="0">
                <a:solidFill>
                  <a:srgbClr val="5F5C55"/>
                </a:solidFill>
                <a:latin typeface="Calibri" pitchFamily="34" charset="0"/>
                <a:ea typeface="Calibri" pitchFamily="34" charset="-122"/>
                <a:cs typeface="Calibri" pitchFamily="34" charset="-120"/>
              </a:rPr>
              <a:t>A Streamlit web application built directly on the supplied grid. Every coefficient is read from the workbook at load; nothing is re-typed, so the tool cannot drift from its source.</a:t>
            </a:r>
            <a:endParaRPr lang="en-US" sz="1250" dirty="0"/>
          </a:p>
        </p:txBody>
      </p:sp>
      <p:sp>
        <p:nvSpPr>
          <p:cNvPr id="6" name="Text 4"/>
          <p:cNvSpPr txBox="1"/>
          <p:nvPr/>
        </p:nvSpPr>
        <p:spPr>
          <a:xfrm>
            <a:off x="566928" y="2029968"/>
            <a:ext cx="274320" cy="274320"/>
          </a:xfrm>
          <a:prstGeom prst="ellipse">
            <a:avLst/>
          </a:prstGeom>
          <a:solidFill>
            <a:srgbClr val="1F6E9E"/>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txBox="1"/>
          <p:nvPr/>
        </p:nvSpPr>
        <p:spPr>
          <a:xfrm>
            <a:off x="969264" y="2002536"/>
            <a:ext cx="5212080" cy="219456"/>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Extract</a:t>
            </a:r>
            <a:endParaRPr lang="en-US" sz="1200" dirty="0"/>
          </a:p>
        </p:txBody>
      </p:sp>
      <p:sp>
        <p:nvSpPr>
          <p:cNvPr id="8" name="Text 6"/>
          <p:cNvSpPr txBox="1"/>
          <p:nvPr/>
        </p:nvSpPr>
        <p:spPr>
          <a:xfrm>
            <a:off x="969264" y="2212848"/>
            <a:ext cx="5212080" cy="566928"/>
          </a:xfrm>
          <a:prstGeom prst="rect">
            <a:avLst/>
          </a:prstGeom>
          <a:noFill/>
          <a:ln/>
        </p:spPr>
        <p:txBody>
          <a:bodyPr wrap="square" lIns="0" tIns="0" rIns="0" bIns="0" rtlCol="0" anchor="ctr"/>
          <a:lstStyle/>
          <a:p>
            <a:pPr indent="0" marL="0">
              <a:lnSpc>
                <a:spcPts val="1400"/>
              </a:lnSpc>
              <a:buNone/>
            </a:pPr>
            <a:r>
              <a:rPr lang="en-US" sz="1050" dirty="0">
                <a:solidFill>
                  <a:srgbClr val="5F5C55"/>
                </a:solidFill>
                <a:latin typeface="Calibri" pitchFamily="34" charset="0"/>
                <a:ea typeface="Calibri" pitchFamily="34" charset="-122"/>
                <a:cs typeface="Calibri" pitchFamily="34" charset="-120"/>
              </a:rPr>
              <a:t>67 process rows × 8 departments parsed from the workbook, coefficients and notes kept together.</a:t>
            </a:r>
            <a:endParaRPr lang="en-US" sz="1050" dirty="0"/>
          </a:p>
        </p:txBody>
      </p:sp>
      <p:sp>
        <p:nvSpPr>
          <p:cNvPr id="9" name="Text 7"/>
          <p:cNvSpPr txBox="1"/>
          <p:nvPr/>
        </p:nvSpPr>
        <p:spPr>
          <a:xfrm>
            <a:off x="566928" y="2999232"/>
            <a:ext cx="274320" cy="274320"/>
          </a:xfrm>
          <a:prstGeom prst="ellipse">
            <a:avLst/>
          </a:prstGeom>
          <a:solidFill>
            <a:srgbClr val="1F6E9E"/>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0" name="Text 8"/>
          <p:cNvSpPr txBox="1"/>
          <p:nvPr/>
        </p:nvSpPr>
        <p:spPr>
          <a:xfrm>
            <a:off x="969264" y="2971800"/>
            <a:ext cx="5212080" cy="219456"/>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Model</a:t>
            </a:r>
            <a:endParaRPr lang="en-US" sz="1200" dirty="0"/>
          </a:p>
        </p:txBody>
      </p:sp>
      <p:sp>
        <p:nvSpPr>
          <p:cNvPr id="11" name="Text 9"/>
          <p:cNvSpPr txBox="1"/>
          <p:nvPr/>
        </p:nvSpPr>
        <p:spPr>
          <a:xfrm>
            <a:off x="969264" y="3182112"/>
            <a:ext cx="5212080" cy="566928"/>
          </a:xfrm>
          <a:prstGeom prst="rect">
            <a:avLst/>
          </a:prstGeom>
          <a:noFill/>
          <a:ln/>
        </p:spPr>
        <p:txBody>
          <a:bodyPr wrap="square" lIns="0" tIns="0" rIns="0" bIns="0" rtlCol="0" anchor="ctr"/>
          <a:lstStyle/>
          <a:p>
            <a:pPr indent="0" marL="0">
              <a:lnSpc>
                <a:spcPts val="1400"/>
              </a:lnSpc>
              <a:buNone/>
            </a:pPr>
            <a:r>
              <a:rPr lang="en-US" sz="1050" dirty="0">
                <a:solidFill>
                  <a:srgbClr val="5F5C55"/>
                </a:solidFill>
                <a:latin typeface="Calibri" pitchFamily="34" charset="0"/>
                <a:ea typeface="Calibri" pitchFamily="34" charset="-122"/>
                <a:cs typeface="Calibri" pitchFamily="34" charset="-120"/>
              </a:rPr>
              <a:t>Every metric is linear in virgin/scrap share; transport rows are bilinear in (x,y)×(rail,road). Scope 2 = kWh × grid factor.</a:t>
            </a:r>
            <a:endParaRPr lang="en-US" sz="1050" dirty="0"/>
          </a:p>
        </p:txBody>
      </p:sp>
      <p:sp>
        <p:nvSpPr>
          <p:cNvPr id="12" name="Text 10"/>
          <p:cNvSpPr txBox="1"/>
          <p:nvPr/>
        </p:nvSpPr>
        <p:spPr>
          <a:xfrm>
            <a:off x="566928" y="3968496"/>
            <a:ext cx="274320" cy="274320"/>
          </a:xfrm>
          <a:prstGeom prst="ellipse">
            <a:avLst/>
          </a:prstGeom>
          <a:solidFill>
            <a:srgbClr val="1F6E9E"/>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3" name="Text 11"/>
          <p:cNvSpPr txBox="1"/>
          <p:nvPr/>
        </p:nvSpPr>
        <p:spPr>
          <a:xfrm>
            <a:off x="969264" y="3941064"/>
            <a:ext cx="5212080" cy="219456"/>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Re-arrange</a:t>
            </a:r>
            <a:endParaRPr lang="en-US" sz="1200" dirty="0"/>
          </a:p>
        </p:txBody>
      </p:sp>
      <p:sp>
        <p:nvSpPr>
          <p:cNvPr id="14" name="Text 12"/>
          <p:cNvSpPr txBox="1"/>
          <p:nvPr/>
        </p:nvSpPr>
        <p:spPr>
          <a:xfrm>
            <a:off x="969264" y="4151376"/>
            <a:ext cx="5212080" cy="566928"/>
          </a:xfrm>
          <a:prstGeom prst="rect">
            <a:avLst/>
          </a:prstGeom>
          <a:noFill/>
          <a:ln/>
        </p:spPr>
        <p:txBody>
          <a:bodyPr wrap="square" lIns="0" tIns="0" rIns="0" bIns="0" rtlCol="0" anchor="ctr"/>
          <a:lstStyle/>
          <a:p>
            <a:pPr indent="0" marL="0">
              <a:lnSpc>
                <a:spcPts val="1400"/>
              </a:lnSpc>
              <a:buNone/>
            </a:pPr>
            <a:r>
              <a:rPr lang="en-US" sz="1050" dirty="0">
                <a:solidFill>
                  <a:srgbClr val="5F5C55"/>
                </a:solidFill>
                <a:latin typeface="Calibri" pitchFamily="34" charset="0"/>
                <a:ea typeface="Calibri" pitchFamily="34" charset="-122"/>
                <a:cs typeface="Calibri" pitchFamily="34" charset="-120"/>
              </a:rPr>
              <a:t>The route is exported to the browser as a coefficient model, so a drag is arithmetic in the page — not a server round-trip.</a:t>
            </a:r>
            <a:endParaRPr lang="en-US" sz="1050" dirty="0"/>
          </a:p>
        </p:txBody>
      </p:sp>
      <p:sp>
        <p:nvSpPr>
          <p:cNvPr id="15" name="Text 13"/>
          <p:cNvSpPr txBox="1"/>
          <p:nvPr/>
        </p:nvSpPr>
        <p:spPr>
          <a:xfrm>
            <a:off x="566928" y="4937760"/>
            <a:ext cx="274320" cy="274320"/>
          </a:xfrm>
          <a:prstGeom prst="ellipse">
            <a:avLst/>
          </a:prstGeom>
          <a:solidFill>
            <a:srgbClr val="1F6E9E"/>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6" name="Text 14"/>
          <p:cNvSpPr txBox="1"/>
          <p:nvPr/>
        </p:nvSpPr>
        <p:spPr>
          <a:xfrm>
            <a:off x="969264" y="4910328"/>
            <a:ext cx="5212080" cy="219456"/>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Decide</a:t>
            </a:r>
            <a:endParaRPr lang="en-US" sz="1200" dirty="0"/>
          </a:p>
        </p:txBody>
      </p:sp>
      <p:sp>
        <p:nvSpPr>
          <p:cNvPr id="17" name="Text 15"/>
          <p:cNvSpPr txBox="1"/>
          <p:nvPr/>
        </p:nvSpPr>
        <p:spPr>
          <a:xfrm>
            <a:off x="969264" y="5120640"/>
            <a:ext cx="5212080" cy="566928"/>
          </a:xfrm>
          <a:prstGeom prst="rect">
            <a:avLst/>
          </a:prstGeom>
          <a:noFill/>
          <a:ln/>
        </p:spPr>
        <p:txBody>
          <a:bodyPr wrap="square" lIns="0" tIns="0" rIns="0" bIns="0" rtlCol="0" anchor="ctr"/>
          <a:lstStyle/>
          <a:p>
            <a:pPr indent="0" marL="0">
              <a:lnSpc>
                <a:spcPts val="1400"/>
              </a:lnSpc>
              <a:buNone/>
            </a:pPr>
            <a:r>
              <a:rPr lang="en-US" sz="1050" dirty="0">
                <a:solidFill>
                  <a:srgbClr val="5F5C55"/>
                </a:solidFill>
                <a:latin typeface="Calibri" pitchFamily="34" charset="0"/>
                <a:ea typeface="Calibri" pitchFamily="34" charset="-122"/>
                <a:cs typeface="Calibri" pitchFamily="34" charset="-120"/>
              </a:rPr>
              <a:t>Four levers, a scenario comparison, and a feasibility-bounded optimiser over the same model.</a:t>
            </a:r>
            <a:endParaRPr lang="en-US" sz="1050" dirty="0"/>
          </a:p>
        </p:txBody>
      </p:sp>
      <p:sp>
        <p:nvSpPr>
          <p:cNvPr id="18" name="Shape 16"/>
          <p:cNvSpPr/>
          <p:nvPr/>
        </p:nvSpPr>
        <p:spPr>
          <a:xfrm>
            <a:off x="566928" y="5852160"/>
            <a:ext cx="5623560" cy="658368"/>
          </a:xfrm>
          <a:prstGeom prst="roundRect">
            <a:avLst>
              <a:gd name="adj" fmla="val 8333"/>
            </a:avLst>
          </a:prstGeom>
          <a:solidFill>
            <a:srgbClr val="F2F0EB"/>
          </a:solidFill>
          <a:ln w="12700">
            <a:solidFill>
              <a:srgbClr val="F2F0EB"/>
            </a:solidFill>
            <a:prstDash val="solid"/>
          </a:ln>
        </p:spPr>
      </p:sp>
      <p:sp>
        <p:nvSpPr>
          <p:cNvPr id="19" name="Text 17"/>
          <p:cNvSpPr txBox="1"/>
          <p:nvPr/>
        </p:nvSpPr>
        <p:spPr>
          <a:xfrm>
            <a:off x="768096" y="5998464"/>
            <a:ext cx="5257800" cy="402336"/>
          </a:xfrm>
          <a:prstGeom prst="rect">
            <a:avLst/>
          </a:prstGeom>
          <a:noFill/>
          <a:ln/>
        </p:spPr>
        <p:txBody>
          <a:bodyPr wrap="square" lIns="0" tIns="0" rIns="0" bIns="0" rtlCol="0" anchor="ctr"/>
          <a:lstStyle/>
          <a:p>
            <a:pPr indent="0" marL="0">
              <a:buNone/>
            </a:pPr>
            <a:r>
              <a:rPr lang="en-US" sz="1100" b="1" dirty="0">
                <a:solidFill>
                  <a:srgbClr val="1F1F1E"/>
                </a:solidFill>
                <a:latin typeface="Calibri" pitchFamily="34" charset="0"/>
                <a:ea typeface="Calibri" pitchFamily="34" charset="-122"/>
                <a:cs typeface="Calibri" pitchFamily="34" charset="-120"/>
              </a:rPr>
              <a:t>Four levers:  </a:t>
            </a:r>
            <a:pPr indent="0" marL="0">
              <a:buNone/>
            </a:pPr>
            <a:r>
              <a:rPr lang="en-US" sz="1100" dirty="0">
                <a:solidFill>
                  <a:srgbClr val="5F5C55"/>
                </a:solidFill>
                <a:latin typeface="Calibri" pitchFamily="34" charset="0"/>
                <a:ea typeface="Calibri" pitchFamily="34" charset="-122"/>
                <a:cs typeface="Calibri" pitchFamily="34" charset="-120"/>
              </a:rPr>
              <a:t>scrap share · grid mix · rail/road per leg · technology per stage</a:t>
            </a:r>
            <a:endParaRPr lang="en-US" sz="1100" dirty="0"/>
          </a:p>
        </p:txBody>
      </p:sp>
      <p:pic>
        <p:nvPicPr>
          <p:cNvPr id="20" name="Image 0" descr="shots/sc_readout.png">    </p:cNvPr>
          <p:cNvPicPr>
            <a:picLocks noChangeAspect="1"/>
          </p:cNvPicPr>
          <p:nvPr/>
        </p:nvPicPr>
        <p:blipFill>
          <a:blip r:embed="rId1"/>
          <a:stretch>
            <a:fillRect/>
          </a:stretch>
        </p:blipFill>
        <p:spPr>
          <a:xfrm>
            <a:off x="6473952" y="1316736"/>
            <a:ext cx="5148072" cy="539496"/>
          </a:xfrm>
          <a:prstGeom prst="rect">
            <a:avLst/>
          </a:prstGeom>
        </p:spPr>
      </p:pic>
      <p:pic>
        <p:nvPicPr>
          <p:cNvPr id="21" name="Image 1" descr="shots/sc_inputs.png">    </p:cNvPr>
          <p:cNvPicPr>
            <a:picLocks noChangeAspect="1"/>
          </p:cNvPicPr>
          <p:nvPr/>
        </p:nvPicPr>
        <p:blipFill>
          <a:blip r:embed="rId2"/>
          <a:stretch>
            <a:fillRect/>
          </a:stretch>
        </p:blipFill>
        <p:spPr>
          <a:xfrm>
            <a:off x="6473952" y="1993392"/>
            <a:ext cx="2971800" cy="3822192"/>
          </a:xfrm>
          <a:prstGeom prst="rect">
            <a:avLst/>
          </a:prstGeom>
        </p:spPr>
      </p:pic>
      <p:sp>
        <p:nvSpPr>
          <p:cNvPr id="22" name="Shape 18"/>
          <p:cNvSpPr/>
          <p:nvPr/>
        </p:nvSpPr>
        <p:spPr>
          <a:xfrm>
            <a:off x="9628632" y="1993392"/>
            <a:ext cx="1993392" cy="3822192"/>
          </a:xfrm>
          <a:prstGeom prst="roundRect">
            <a:avLst>
              <a:gd name="adj" fmla="val 2752"/>
            </a:avLst>
          </a:prstGeom>
          <a:solidFill>
            <a:srgbClr val="F2F0EB"/>
          </a:solidFill>
          <a:ln w="12700">
            <a:solidFill>
              <a:srgbClr val="F2F0EB"/>
            </a:solidFill>
            <a:prstDash val="solid"/>
          </a:ln>
        </p:spPr>
      </p:sp>
      <p:sp>
        <p:nvSpPr>
          <p:cNvPr id="23" name="Text 19"/>
          <p:cNvSpPr txBox="1"/>
          <p:nvPr/>
        </p:nvSpPr>
        <p:spPr>
          <a:xfrm>
            <a:off x="9829800" y="2212848"/>
            <a:ext cx="1609344" cy="219456"/>
          </a:xfrm>
          <a:prstGeom prst="rect">
            <a:avLst/>
          </a:prstGeom>
          <a:noFill/>
          <a:ln/>
        </p:spPr>
        <p:txBody>
          <a:bodyPr wrap="square" lIns="0" tIns="0" rIns="0" bIns="0" rtlCol="0" anchor="ctr"/>
          <a:lstStyle/>
          <a:p>
            <a:pPr indent="0" marL="0">
              <a:buNone/>
            </a:pPr>
            <a:r>
              <a:rPr lang="en-US" sz="900" b="1" spc="120" kern="0" dirty="0">
                <a:solidFill>
                  <a:srgbClr val="B24A2C"/>
                </a:solidFill>
                <a:latin typeface="Calibri" pitchFamily="34" charset="0"/>
                <a:ea typeface="Calibri" pitchFamily="34" charset="-122"/>
                <a:cs typeface="Calibri" pitchFamily="34" charset="-120"/>
              </a:rPr>
              <a:t>WHAT THE USER SEES</a:t>
            </a:r>
            <a:endParaRPr lang="en-US" sz="900" dirty="0"/>
          </a:p>
        </p:txBody>
      </p:sp>
      <p:sp>
        <p:nvSpPr>
          <p:cNvPr id="24" name="Text 20"/>
          <p:cNvSpPr txBox="1"/>
          <p:nvPr/>
        </p:nvSpPr>
        <p:spPr>
          <a:xfrm>
            <a:off x="9829800" y="2542032"/>
            <a:ext cx="1609344" cy="3108960"/>
          </a:xfrm>
          <a:prstGeom prst="rect">
            <a:avLst/>
          </a:prstGeom>
          <a:noFill/>
          <a:ln/>
        </p:spPr>
        <p:txBody>
          <a:bodyPr wrap="square" lIns="0" tIns="0" rIns="0" bIns="0" rtlCol="0" anchor="ctr"/>
          <a:lstStyle/>
          <a:p>
            <a:pPr marL="342900" indent="-342900">
              <a:lnSpc>
                <a:spcPts val="1250"/>
              </a:lnSpc>
              <a:spcAft>
                <a:spcPts val="1000"/>
              </a:spcAft>
              <a:buSzPct val="100000"/>
              <a:buChar char="•"/>
            </a:pPr>
            <a:r>
              <a:rPr lang="en-US" sz="950" dirty="0">
                <a:solidFill>
                  <a:srgbClr val="5F5C55"/>
                </a:solidFill>
                <a:latin typeface="Calibri" pitchFamily="34" charset="0"/>
                <a:ea typeface="Calibri" pitchFamily="34" charset="-122"/>
                <a:cs typeface="Calibri" pitchFamily="34" charset="-120"/>
              </a:rPr>
              <a:t>One headline tonne, split into Scope 1 / 2 / 3</a:t>
            </a:r>
            <a:endParaRPr lang="en-US" sz="950" dirty="0"/>
          </a:p>
          <a:p>
            <a:pPr marL="342900" indent="-342900">
              <a:lnSpc>
                <a:spcPts val="1250"/>
              </a:lnSpc>
              <a:spcAft>
                <a:spcPts val="1000"/>
              </a:spcAft>
              <a:buSzPct val="100000"/>
              <a:buChar char="•"/>
            </a:pPr>
            <a:r>
              <a:rPr lang="en-US" sz="950" dirty="0">
                <a:solidFill>
                  <a:srgbClr val="5F5C55"/>
                </a:solidFill>
                <a:latin typeface="Calibri" pitchFamily="34" charset="0"/>
                <a:ea typeface="Calibri" pitchFamily="34" charset="-122"/>
                <a:cs typeface="Calibri" pitchFamily="34" charset="-120"/>
              </a:rPr>
              <a:t>Inputs in a docked panel, never a page away</a:t>
            </a:r>
            <a:endParaRPr lang="en-US" sz="950" dirty="0"/>
          </a:p>
          <a:p>
            <a:pPr marL="342900" indent="-342900">
              <a:lnSpc>
                <a:spcPts val="1250"/>
              </a:lnSpc>
              <a:spcAft>
                <a:spcPts val="1000"/>
              </a:spcAft>
              <a:buSzPct val="100000"/>
              <a:buChar char="•"/>
            </a:pPr>
            <a:r>
              <a:rPr lang="en-US" sz="950" dirty="0">
                <a:solidFill>
                  <a:srgbClr val="5F5C55"/>
                </a:solidFill>
                <a:latin typeface="Calibri" pitchFamily="34" charset="0"/>
                <a:ea typeface="Calibri" pitchFamily="34" charset="-122"/>
                <a:cs typeface="Calibri" pitchFamily="34" charset="-120"/>
              </a:rPr>
              <a:t>Figures and charts follow the slider live</a:t>
            </a:r>
            <a:endParaRPr lang="en-US" sz="950" dirty="0"/>
          </a:p>
          <a:p>
            <a:pPr marL="342900" indent="-342900">
              <a:lnSpc>
                <a:spcPts val="1250"/>
              </a:lnSpc>
              <a:spcAft>
                <a:spcPts val="1000"/>
              </a:spcAft>
              <a:buSzPct val="100000"/>
              <a:buChar char="•"/>
            </a:pPr>
            <a:r>
              <a:rPr lang="en-US" sz="950" dirty="0">
                <a:solidFill>
                  <a:srgbClr val="5F5C55"/>
                </a:solidFill>
                <a:latin typeface="Calibri" pitchFamily="34" charset="0"/>
                <a:ea typeface="Calibri" pitchFamily="34" charset="-122"/>
                <a:cs typeface="Calibri" pitchFamily="34" charset="-120"/>
              </a:rPr>
              <a:t>Per-process table behind every number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384048" cy="384048"/>
          </a:xfrm>
          <a:prstGeom prst="ellipse">
            <a:avLst/>
          </a:prstGeom>
          <a:solidFill>
            <a:srgbClr val="B24A2C"/>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 name="Text 1"/>
          <p:cNvSpPr txBox="1"/>
          <p:nvPr/>
        </p:nvSpPr>
        <p:spPr>
          <a:xfrm>
            <a:off x="1115568" y="365760"/>
            <a:ext cx="10506456" cy="219456"/>
          </a:xfrm>
          <a:prstGeom prst="rect">
            <a:avLst/>
          </a:prstGeom>
          <a:noFill/>
          <a:ln/>
        </p:spPr>
        <p:txBody>
          <a:bodyPr wrap="square" lIns="0" tIns="0" rIns="0" bIns="0" rtlCol="0" anchor="ctr"/>
          <a:lstStyle/>
          <a:p>
            <a:pPr indent="0" marL="0">
              <a:buNone/>
            </a:pPr>
            <a:r>
              <a:rPr lang="en-US" sz="1050" b="1" spc="160" kern="0" dirty="0">
                <a:solidFill>
                  <a:srgbClr val="B24A2C"/>
                </a:solidFill>
                <a:latin typeface="Calibri" pitchFamily="34" charset="0"/>
                <a:ea typeface="Calibri" pitchFamily="34" charset="-122"/>
                <a:cs typeface="Calibri" pitchFamily="34" charset="-120"/>
              </a:rPr>
              <a:t>VALIDATION  ·  FEASIBILITY  ·  ASSUMPTIONS</a:t>
            </a:r>
            <a:endParaRPr lang="en-US" sz="1050" dirty="0"/>
          </a:p>
        </p:txBody>
      </p:sp>
      <p:sp>
        <p:nvSpPr>
          <p:cNvPr id="4" name="Text 2"/>
          <p:cNvSpPr txBox="1"/>
          <p:nvPr/>
        </p:nvSpPr>
        <p:spPr>
          <a:xfrm>
            <a:off x="1115568" y="603504"/>
            <a:ext cx="10506456" cy="475488"/>
          </a:xfrm>
          <a:prstGeom prst="rect">
            <a:avLst/>
          </a:prstGeom>
          <a:noFill/>
          <a:ln/>
        </p:spPr>
        <p:txBody>
          <a:bodyPr wrap="square" lIns="0" tIns="0" rIns="0" bIns="0" rtlCol="0" anchor="ctr"/>
          <a:lstStyle/>
          <a:p>
            <a:pPr indent="0" marL="0">
              <a:buNone/>
            </a:pPr>
            <a:r>
              <a:rPr lang="en-US" sz="2700" dirty="0">
                <a:solidFill>
                  <a:srgbClr val="1F1F1E"/>
                </a:solidFill>
                <a:latin typeface="Cambria" pitchFamily="34" charset="0"/>
                <a:ea typeface="Cambria" pitchFamily="34" charset="-122"/>
                <a:cs typeface="Cambria" pitchFamily="34" charset="-120"/>
              </a:rPr>
              <a:t>What is buildable, not what is imaginable</a:t>
            </a:r>
            <a:endParaRPr lang="en-US" sz="2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316736"/>
          <a:ext cx="6784848" cy="914400"/>
        </p:xfrm>
        <a:graphic>
          <a:graphicData uri="http://schemas.openxmlformats.org/drawingml/2006/table">
            <a:tbl>
              <a:tblPr/>
              <a:tblGrid>
                <a:gridCol w="2139696"/>
                <a:gridCol w="859536"/>
                <a:gridCol w="932688"/>
                <a:gridCol w="2852928"/>
              </a:tblGrid>
              <a:tr h="310896">
                <a:tc>
                  <a:txBody>
                    <a:bodyPr/>
                    <a:lstStyle/>
                    <a:p>
                      <a:pPr indent="0" marL="0">
                        <a:buNone/>
                      </a:pPr>
                      <a:r>
                        <a:rPr lang="en-US" sz="1050" b="1" dirty="0">
                          <a:solidFill>
                            <a:srgbClr val="1F1F1E"/>
                          </a:solidFill>
                          <a:latin typeface="Calibri" pitchFamily="34" charset="0"/>
                          <a:ea typeface="Calibri" pitchFamily="34" charset="-122"/>
                          <a:cs typeface="Calibri" pitchFamily="34" charset="-120"/>
                        </a:rPr>
                        <a:t>SCENARIO</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1F1E"/>
                          </a:solidFill>
                          <a:latin typeface="Calibri" pitchFamily="34" charset="0"/>
                          <a:ea typeface="Calibri" pitchFamily="34" charset="-122"/>
                          <a:cs typeface="Calibri" pitchFamily="34" charset="-120"/>
                        </a:rPr>
                        <a:t>tCO₂e/t</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1F1E"/>
                          </a:solidFill>
                          <a:latin typeface="Calibri" pitchFamily="34" charset="0"/>
                          <a:ea typeface="Calibri" pitchFamily="34" charset="-122"/>
                          <a:cs typeface="Calibri" pitchFamily="34" charset="-120"/>
                        </a:rPr>
                        <a:t>vs JAJPUR</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indent="0" marL="0">
                        <a:buNone/>
                      </a:pPr>
                      <a:r>
                        <a:rPr lang="en-US" sz="1050" b="1" dirty="0">
                          <a:solidFill>
                            <a:srgbClr val="1F1F1E"/>
                          </a:solidFill>
                          <a:latin typeface="Calibri" pitchFamily="34" charset="0"/>
                          <a:ea typeface="Calibri" pitchFamily="34" charset="-122"/>
                          <a:cs typeface="Calibri" pitchFamily="34" charset="-120"/>
                        </a:rPr>
                        <a:t>WHAT IT ASSUMES</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F1F1E"/>
                          </a:solidFill>
                          <a:latin typeface="Calibri" pitchFamily="34" charset="0"/>
                          <a:ea typeface="Calibri" pitchFamily="34" charset="-122"/>
                          <a:cs typeface="Calibri" pitchFamily="34" charset="-120"/>
                        </a:rPr>
                        <a:t>Workbook default route</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1F1E"/>
                          </a:solidFill>
                          <a:latin typeface="Calibri" pitchFamily="34" charset="0"/>
                          <a:ea typeface="Calibri" pitchFamily="34" charset="-122"/>
                          <a:cs typeface="Calibri" pitchFamily="34" charset="-120"/>
                        </a:rPr>
                        <a:t>6.167</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5F5C55"/>
                          </a:solidFill>
                          <a:latin typeface="Calibri" pitchFamily="34" charset="0"/>
                          <a:ea typeface="Calibri" pitchFamily="34" charset="-122"/>
                          <a:cs typeface="Calibri" pitchFamily="34" charset="-120"/>
                        </a:rPr>
                        <a:t>+34.1%</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indent="0" marL="0">
                        <a:buNone/>
                      </a:pPr>
                      <a:r>
                        <a:rPr lang="en-US" sz="950" dirty="0">
                          <a:solidFill>
                            <a:srgbClr val="5F5C55"/>
                          </a:solidFill>
                          <a:latin typeface="Calibri" pitchFamily="34" charset="0"/>
                          <a:ea typeface="Calibri" pitchFamily="34" charset="-122"/>
                          <a:cs typeface="Calibri" pitchFamily="34" charset="-120"/>
                        </a:rPr>
                        <a:t>40% scrap · Indian grid today</a:t>
                      </a:r>
                      <a:endParaRPr lang="en-US" sz="9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F1F1E"/>
                          </a:solidFill>
                          <a:latin typeface="Calibri" pitchFamily="34" charset="0"/>
                          <a:ea typeface="Calibri" pitchFamily="34" charset="-122"/>
                          <a:cs typeface="Calibri" pitchFamily="34" charset="-120"/>
                        </a:rPr>
                        <a:t>JSL Jajpur — reference</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1F1E"/>
                          </a:solidFill>
                          <a:latin typeface="Calibri" pitchFamily="34" charset="0"/>
                          <a:ea typeface="Calibri" pitchFamily="34" charset="-122"/>
                          <a:cs typeface="Calibri" pitchFamily="34" charset="-120"/>
                        </a:rPr>
                        <a:t>4.598</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5F5C55"/>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indent="0" marL="0">
                        <a:buNone/>
                      </a:pPr>
                      <a:r>
                        <a:rPr lang="en-US" sz="950" dirty="0">
                          <a:solidFill>
                            <a:srgbClr val="5F5C55"/>
                          </a:solidFill>
                          <a:latin typeface="Calibri" pitchFamily="34" charset="0"/>
                          <a:ea typeface="Calibri" pitchFamily="34" charset="-122"/>
                          <a:cs typeface="Calibri" pitchFamily="34" charset="-120"/>
                        </a:rPr>
                        <a:t>35% scrap · 29 stages · 0.762 kg/kWh</a:t>
                      </a:r>
                      <a:endParaRPr lang="en-US" sz="9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F1F1E"/>
                          </a:solidFill>
                          <a:latin typeface="Calibri" pitchFamily="34" charset="0"/>
                          <a:ea typeface="Calibri" pitchFamily="34" charset="-122"/>
                          <a:cs typeface="Calibri" pitchFamily="34" charset="-120"/>
                        </a:rPr>
                        <a:t>JSL Hisar as configured</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1F1E"/>
                          </a:solidFill>
                          <a:latin typeface="Calibri" pitchFamily="34" charset="0"/>
                          <a:ea typeface="Calibri" pitchFamily="34" charset="-122"/>
                          <a:cs typeface="Calibri" pitchFamily="34" charset="-120"/>
                        </a:rPr>
                        <a:t>4.669</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5F5C55"/>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indent="0" marL="0">
                        <a:buNone/>
                      </a:pPr>
                      <a:r>
                        <a:rPr lang="en-US" sz="950" dirty="0">
                          <a:solidFill>
                            <a:srgbClr val="5F5C55"/>
                          </a:solidFill>
                          <a:latin typeface="Calibri" pitchFamily="34" charset="0"/>
                          <a:ea typeface="Calibri" pitchFamily="34" charset="-122"/>
                          <a:cs typeface="Calibri" pitchFamily="34" charset="-120"/>
                        </a:rPr>
                        <a:t>45% scrap · 31 stages</a:t>
                      </a:r>
                      <a:endParaRPr lang="en-US" sz="9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1F1E"/>
                          </a:solidFill>
                          <a:latin typeface="Calibri" pitchFamily="34" charset="0"/>
                          <a:ea typeface="Calibri" pitchFamily="34" charset="-122"/>
                          <a:cs typeface="Calibri" pitchFamily="34" charset="-120"/>
                        </a:rPr>
                        <a:t>Buildable today</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B24A2C"/>
                          </a:solidFill>
                          <a:latin typeface="Calibri" pitchFamily="34" charset="0"/>
                          <a:ea typeface="Calibri" pitchFamily="34" charset="-122"/>
                          <a:cs typeface="Calibri" pitchFamily="34" charset="-120"/>
                        </a:rPr>
                        <a:t>2.089</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B24A2C"/>
                          </a:solidFill>
                          <a:latin typeface="Calibri" pitchFamily="34" charset="0"/>
                          <a:ea typeface="Calibri" pitchFamily="34" charset="-122"/>
                          <a:cs typeface="Calibri" pitchFamily="34" charset="-120"/>
                        </a:rPr>
                        <a:t>−54.6%</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indent="0" marL="0">
                        <a:buNone/>
                      </a:pPr>
                      <a:r>
                        <a:rPr lang="en-US" sz="950" dirty="0">
                          <a:solidFill>
                            <a:srgbClr val="5F5C55"/>
                          </a:solidFill>
                          <a:latin typeface="Calibri" pitchFamily="34" charset="0"/>
                          <a:ea typeface="Calibri" pitchFamily="34" charset="-122"/>
                          <a:cs typeface="Calibri" pitchFamily="34" charset="-120"/>
                        </a:rPr>
                        <a:t>60% scrap · grid 0.439 · coal held ≥45%</a:t>
                      </a:r>
                      <a:endParaRPr lang="en-US" sz="9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1F1E"/>
                          </a:solidFill>
                          <a:latin typeface="Calibri" pitchFamily="34" charset="0"/>
                          <a:ea typeface="Calibri" pitchFamily="34" charset="-122"/>
                          <a:cs typeface="Calibri" pitchFamily="34" charset="-120"/>
                        </a:rPr>
                        <a:t>Stretch, but reachable</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B24A2C"/>
                          </a:solidFill>
                          <a:latin typeface="Calibri" pitchFamily="34" charset="0"/>
                          <a:ea typeface="Calibri" pitchFamily="34" charset="-122"/>
                          <a:cs typeface="Calibri" pitchFamily="34" charset="-120"/>
                        </a:rPr>
                        <a:t>1.205</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B24A2C"/>
                          </a:solidFill>
                          <a:latin typeface="Calibri" pitchFamily="34" charset="0"/>
                          <a:ea typeface="Calibri" pitchFamily="34" charset="-122"/>
                          <a:cs typeface="Calibri" pitchFamily="34" charset="-120"/>
                        </a:rPr>
                        <a:t>−73.8%</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indent="0" marL="0">
                        <a:buNone/>
                      </a:pPr>
                      <a:r>
                        <a:rPr lang="en-US" sz="950" dirty="0">
                          <a:solidFill>
                            <a:srgbClr val="5F5C55"/>
                          </a:solidFill>
                          <a:latin typeface="Calibri" pitchFamily="34" charset="0"/>
                          <a:ea typeface="Calibri" pitchFamily="34" charset="-122"/>
                          <a:cs typeface="Calibri" pitchFamily="34" charset="-120"/>
                        </a:rPr>
                        <a:t>80% scrap · grid 0.111 · firmed renewables</a:t>
                      </a:r>
                      <a:endParaRPr lang="en-US" sz="9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1F1E"/>
                          </a:solidFill>
                          <a:latin typeface="Calibri" pitchFamily="34" charset="0"/>
                          <a:ea typeface="Calibri" pitchFamily="34" charset="-122"/>
                          <a:cs typeface="Calibri" pitchFamily="34" charset="-120"/>
                        </a:rPr>
                        <a:t>Theoretical floor</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B24A2C"/>
                          </a:solidFill>
                          <a:latin typeface="Calibri" pitchFamily="34" charset="0"/>
                          <a:ea typeface="Calibri" pitchFamily="34" charset="-122"/>
                          <a:cs typeface="Calibri" pitchFamily="34" charset="-120"/>
                        </a:rPr>
                        <a:t>0.821</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B24A2C"/>
                          </a:solidFill>
                          <a:latin typeface="Calibri" pitchFamily="34" charset="0"/>
                          <a:ea typeface="Calibri" pitchFamily="34" charset="-122"/>
                          <a:cs typeface="Calibri" pitchFamily="34" charset="-120"/>
                        </a:rPr>
                        <a:t>−82.2%</a:t>
                      </a:r>
                      <a:endParaRPr lang="en-US" sz="10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c>
                  <a:txBody>
                    <a:bodyPr/>
                    <a:lstStyle/>
                    <a:p>
                      <a:pPr indent="0" marL="0">
                        <a:buNone/>
                      </a:pPr>
                      <a:r>
                        <a:rPr lang="en-US" sz="950" dirty="0">
                          <a:solidFill>
                            <a:srgbClr val="5F5C55"/>
                          </a:solidFill>
                          <a:latin typeface="Calibri" pitchFamily="34" charset="0"/>
                          <a:ea typeface="Calibri" pitchFamily="34" charset="-122"/>
                          <a:cs typeface="Calibri" pitchFamily="34" charset="-120"/>
                        </a:rPr>
                        <a:t>100% scrap · non-fossil grid · any technology</a:t>
                      </a:r>
                      <a:endParaRPr lang="en-US" sz="950" dirty="0">
                        <a:latin typeface="Calibri" charset="0"/>
                        <a:ea typeface="Calibri" charset="0"/>
                        <a:cs typeface="Calibri" charset="0"/>
                      </a:endParaRPr>
                    </a:p>
                  </a:txBody>
                  <a:tcPr marL="63500" marR="63500" marT="25400" marB="25400" anchor="ctr">
                    <a:lnL w="6350" cap="flat" cmpd="sng" algn="ctr">
                      <a:solidFill>
                        <a:srgbClr val="DCD8CF"/>
                      </a:solidFill>
                      <a:prstDash val="solid"/>
                      <a:round/>
                      <a:headEnd type="none" w="med" len="med"/>
                      <a:tailEnd type="none" w="med" len="med"/>
                    </a:lnL>
                    <a:lnR w="6350" cap="flat" cmpd="sng" algn="ctr">
                      <a:solidFill>
                        <a:srgbClr val="DCD8CF"/>
                      </a:solidFill>
                      <a:prstDash val="solid"/>
                      <a:round/>
                      <a:headEnd type="none" w="med" len="med"/>
                      <a:tailEnd type="none" w="med" len="med"/>
                    </a:lnR>
                    <a:lnT w="6350" cap="flat" cmpd="sng" algn="ctr">
                      <a:solidFill>
                        <a:srgbClr val="DCD8CF"/>
                      </a:solidFill>
                      <a:prstDash val="solid"/>
                      <a:round/>
                      <a:headEnd type="none" w="med" len="med"/>
                      <a:tailEnd type="none" w="med" len="med"/>
                    </a:lnT>
                    <a:lnB w="6350" cap="flat" cmpd="sng" algn="ctr">
                      <a:solidFill>
                        <a:srgbClr val="DCD8CF"/>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66928" y="3621024"/>
            <a:ext cx="3246120" cy="201168"/>
          </a:xfrm>
          <a:prstGeom prst="rect">
            <a:avLst/>
          </a:prstGeom>
          <a:noFill/>
          <a:ln/>
        </p:spPr>
        <p:txBody>
          <a:bodyPr wrap="square" lIns="0" tIns="0" rIns="0" bIns="0" rtlCol="0" anchor="ctr"/>
          <a:lstStyle/>
          <a:p>
            <a:pPr indent="0" marL="0">
              <a:buNone/>
            </a:pPr>
            <a:r>
              <a:rPr lang="en-US" sz="950" b="1" spc="140" kern="0" dirty="0">
                <a:solidFill>
                  <a:srgbClr val="B24A2C"/>
                </a:solidFill>
                <a:latin typeface="Calibri" pitchFamily="34" charset="0"/>
                <a:ea typeface="Calibri" pitchFamily="34" charset="-122"/>
                <a:cs typeface="Calibri" pitchFamily="34" charset="-120"/>
              </a:rPr>
              <a:t>HOW WE KNOW IT IS RIGHT</a:t>
            </a:r>
            <a:endParaRPr lang="en-US" sz="950" dirty="0"/>
          </a:p>
        </p:txBody>
      </p:sp>
      <p:sp>
        <p:nvSpPr>
          <p:cNvPr id="7" name="Text 4"/>
          <p:cNvSpPr txBox="1"/>
          <p:nvPr/>
        </p:nvSpPr>
        <p:spPr>
          <a:xfrm>
            <a:off x="566928" y="3858768"/>
            <a:ext cx="3246120" cy="228600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1000" dirty="0">
                <a:solidFill>
                  <a:srgbClr val="5F5C55"/>
                </a:solidFill>
                <a:latin typeface="Calibri" pitchFamily="34" charset="0"/>
                <a:ea typeface="Calibri" pitchFamily="34" charset="-122"/>
                <a:cs typeface="Calibri" pitchFamily="34" charset="-120"/>
              </a:rPr>
              <a:t>37 automated tests, including a full re-derivation of the workbook totals.</a:t>
            </a:r>
            <a:endParaRPr lang="en-US" sz="1000" dirty="0"/>
          </a:p>
          <a:p>
            <a:pPr marL="342900" indent="-342900">
              <a:lnSpc>
                <a:spcPts val="1300"/>
              </a:lnSpc>
              <a:spcAft>
                <a:spcPts val="600"/>
              </a:spcAft>
              <a:buSzPct val="100000"/>
              <a:buChar char="•"/>
            </a:pPr>
            <a:r>
              <a:rPr lang="en-US" sz="1000" dirty="0">
                <a:solidFill>
                  <a:srgbClr val="5F5C55"/>
                </a:solidFill>
                <a:latin typeface="Calibri" pitchFamily="34" charset="0"/>
                <a:ea typeface="Calibri" pitchFamily="34" charset="-122"/>
                <a:cs typeface="Calibri" pitchFamily="34" charset="-120"/>
              </a:rPr>
              <a:t>The browser's live model matches the server to 1×10⁻⁹ across four scenarios and every department.</a:t>
            </a:r>
            <a:endParaRPr lang="en-US" sz="1000" dirty="0"/>
          </a:p>
          <a:p>
            <a:pPr marL="342900" indent="-342900">
              <a:lnSpc>
                <a:spcPts val="1300"/>
              </a:lnSpc>
              <a:spcAft>
                <a:spcPts val="600"/>
              </a:spcAft>
              <a:buSzPct val="100000"/>
              <a:buChar char="•"/>
            </a:pPr>
            <a:r>
              <a:rPr lang="en-US" sz="1000" dirty="0">
                <a:solidFill>
                  <a:srgbClr val="5F5C55"/>
                </a:solidFill>
                <a:latin typeface="Calibri" pitchFamily="34" charset="0"/>
                <a:ea typeface="Calibri" pitchFamily="34" charset="-122"/>
                <a:cs typeface="Calibri" pitchFamily="34" charset="-120"/>
              </a:rPr>
              <a:t>All 65 Scope-2 rows reconcile to their stated kWh and grid factor.</a:t>
            </a:r>
            <a:endParaRPr lang="en-US" sz="1000" dirty="0"/>
          </a:p>
          <a:p>
            <a:pPr marL="342900" indent="-342900">
              <a:lnSpc>
                <a:spcPts val="1300"/>
              </a:lnSpc>
              <a:spcAft>
                <a:spcPts val="600"/>
              </a:spcAft>
              <a:buSzPct val="100000"/>
              <a:buChar char="•"/>
            </a:pPr>
            <a:r>
              <a:rPr lang="en-US" sz="1000" dirty="0">
                <a:solidFill>
                  <a:srgbClr val="5F5C55"/>
                </a:solidFill>
                <a:latin typeface="Calibri" pitchFamily="34" charset="0"/>
                <a:ea typeface="Calibri" pitchFamily="34" charset="-122"/>
                <a:cs typeface="Calibri" pitchFamily="34" charset="-120"/>
              </a:rPr>
              <a:t>Global warming potentials are IPCC AR5; grid factors are AR5 lifecycle medians.</a:t>
            </a:r>
            <a:endParaRPr lang="en-US" sz="1000" dirty="0"/>
          </a:p>
        </p:txBody>
      </p:sp>
      <p:sp>
        <p:nvSpPr>
          <p:cNvPr id="8" name="Text 5"/>
          <p:cNvSpPr txBox="1"/>
          <p:nvPr/>
        </p:nvSpPr>
        <p:spPr>
          <a:xfrm>
            <a:off x="4105656" y="3621024"/>
            <a:ext cx="3246120" cy="201168"/>
          </a:xfrm>
          <a:prstGeom prst="rect">
            <a:avLst/>
          </a:prstGeom>
          <a:noFill/>
          <a:ln/>
        </p:spPr>
        <p:txBody>
          <a:bodyPr wrap="square" lIns="0" tIns="0" rIns="0" bIns="0" rtlCol="0" anchor="ctr"/>
          <a:lstStyle/>
          <a:p>
            <a:pPr indent="0" marL="0">
              <a:buNone/>
            </a:pPr>
            <a:r>
              <a:rPr lang="en-US" sz="950" b="1" spc="140" kern="0" dirty="0">
                <a:solidFill>
                  <a:srgbClr val="B24A2C"/>
                </a:solidFill>
                <a:latin typeface="Calibri" pitchFamily="34" charset="0"/>
                <a:ea typeface="Calibri" pitchFamily="34" charset="-122"/>
                <a:cs typeface="Calibri" pitchFamily="34" charset="-120"/>
              </a:rPr>
              <a:t>ASSUMPTIONS &amp; LIMITATIONS</a:t>
            </a:r>
            <a:endParaRPr lang="en-US" sz="950" dirty="0"/>
          </a:p>
        </p:txBody>
      </p:sp>
      <p:sp>
        <p:nvSpPr>
          <p:cNvPr id="9" name="Text 6"/>
          <p:cNvSpPr txBox="1"/>
          <p:nvPr/>
        </p:nvSpPr>
        <p:spPr>
          <a:xfrm>
            <a:off x="4105656" y="3858768"/>
            <a:ext cx="3246120" cy="228600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1000" dirty="0">
                <a:solidFill>
                  <a:srgbClr val="5F5C55"/>
                </a:solidFill>
                <a:latin typeface="Calibri" pitchFamily="34" charset="0"/>
                <a:ea typeface="Calibri" pitchFamily="34" charset="-122"/>
                <a:cs typeface="Calibri" pitchFamily="34" charset="-120"/>
              </a:rPr>
              <a:t>The workbook's gas columns carry Scope 1 only (~10% of the scope total) — we report them as such rather than as a full gas split.</a:t>
            </a:r>
            <a:endParaRPr lang="en-US" sz="1000" dirty="0"/>
          </a:p>
          <a:p>
            <a:pPr marL="342900" indent="-342900">
              <a:lnSpc>
                <a:spcPts val="1300"/>
              </a:lnSpc>
              <a:spcAft>
                <a:spcPts val="600"/>
              </a:spcAft>
              <a:buSzPct val="100000"/>
              <a:buChar char="•"/>
            </a:pPr>
            <a:r>
              <a:rPr lang="en-US" sz="1000" dirty="0">
                <a:solidFill>
                  <a:srgbClr val="5F5C55"/>
                </a:solidFill>
                <a:latin typeface="Calibri" pitchFamily="34" charset="0"/>
                <a:ea typeface="Calibri" pitchFamily="34" charset="-122"/>
                <a:cs typeface="Calibri" pitchFamily="34" charset="-120"/>
              </a:rPr>
              <a:t>Its electricity intensities are high against public figures (EAF 1,668 kWh/t vs a typical 450–700). Absolute values are therefore indicative; differences between scenarios are robust.</a:t>
            </a:r>
            <a:endParaRPr lang="en-US" sz="1000" dirty="0"/>
          </a:p>
          <a:p>
            <a:pPr marL="342900" indent="-342900">
              <a:lnSpc>
                <a:spcPts val="1300"/>
              </a:lnSpc>
              <a:spcAft>
                <a:spcPts val="600"/>
              </a:spcAft>
              <a:buSzPct val="100000"/>
              <a:buChar char="•"/>
            </a:pPr>
            <a:r>
              <a:rPr lang="en-US" sz="1000" dirty="0">
                <a:solidFill>
                  <a:srgbClr val="5F5C55"/>
                </a:solidFill>
                <a:latin typeface="Calibri" pitchFamily="34" charset="0"/>
                <a:ea typeface="Calibri" pitchFamily="34" charset="-122"/>
                <a:cs typeface="Calibri" pitchFamily="34" charset="-120"/>
              </a:rPr>
              <a:t>Plant profiles are built from public disclosures, not an equipment inventory. Jajpur's source-wise grid split is an estimate.</a:t>
            </a:r>
            <a:endParaRPr lang="en-US" sz="1000" dirty="0"/>
          </a:p>
        </p:txBody>
      </p:sp>
      <p:pic>
        <p:nvPicPr>
          <p:cNvPr id="10" name="Image 0" descr="shots/sc_optimiser.png">    </p:cNvPr>
          <p:cNvPicPr>
            <a:picLocks noChangeAspect="1"/>
          </p:cNvPicPr>
          <p:nvPr/>
        </p:nvPicPr>
        <p:blipFill>
          <a:blip r:embed="rId1"/>
          <a:stretch>
            <a:fillRect/>
          </a:stretch>
        </p:blipFill>
        <p:spPr>
          <a:xfrm>
            <a:off x="7552944" y="1316736"/>
            <a:ext cx="4069080" cy="1792224"/>
          </a:xfrm>
          <a:prstGeom prst="rect">
            <a:avLst/>
          </a:prstGeom>
        </p:spPr>
      </p:pic>
      <p:sp>
        <p:nvSpPr>
          <p:cNvPr id="11" name="Shape 7"/>
          <p:cNvSpPr/>
          <p:nvPr/>
        </p:nvSpPr>
        <p:spPr>
          <a:xfrm>
            <a:off x="7552944" y="3273552"/>
            <a:ext cx="4069080" cy="2907792"/>
          </a:xfrm>
          <a:prstGeom prst="roundRect">
            <a:avLst>
              <a:gd name="adj" fmla="val 1887"/>
            </a:avLst>
          </a:prstGeom>
          <a:solidFill>
            <a:srgbClr val="F2F0EB"/>
          </a:solidFill>
          <a:ln w="12700">
            <a:solidFill>
              <a:srgbClr val="F2F0EB"/>
            </a:solidFill>
            <a:prstDash val="solid"/>
          </a:ln>
        </p:spPr>
      </p:sp>
      <p:sp>
        <p:nvSpPr>
          <p:cNvPr id="12" name="Text 8"/>
          <p:cNvSpPr txBox="1"/>
          <p:nvPr/>
        </p:nvSpPr>
        <p:spPr>
          <a:xfrm>
            <a:off x="7790688" y="3474720"/>
            <a:ext cx="3593592" cy="201168"/>
          </a:xfrm>
          <a:prstGeom prst="rect">
            <a:avLst/>
          </a:prstGeom>
          <a:noFill/>
          <a:ln/>
        </p:spPr>
        <p:txBody>
          <a:bodyPr wrap="square" lIns="0" tIns="0" rIns="0" bIns="0" rtlCol="0" anchor="ctr"/>
          <a:lstStyle/>
          <a:p>
            <a:pPr indent="0" marL="0">
              <a:buNone/>
            </a:pPr>
            <a:r>
              <a:rPr lang="en-US" sz="950" b="1" spc="140" kern="0" dirty="0">
                <a:solidFill>
                  <a:srgbClr val="B24A2C"/>
                </a:solidFill>
                <a:latin typeface="Calibri" pitchFamily="34" charset="0"/>
                <a:ea typeface="Calibri" pitchFamily="34" charset="-122"/>
                <a:cs typeface="Calibri" pitchFamily="34" charset="-120"/>
              </a:rPr>
              <a:t>WHY THREE LEVELS</a:t>
            </a:r>
            <a:endParaRPr lang="en-US" sz="950" dirty="0"/>
          </a:p>
        </p:txBody>
      </p:sp>
      <p:sp>
        <p:nvSpPr>
          <p:cNvPr id="13" name="Text 9"/>
          <p:cNvSpPr txBox="1"/>
          <p:nvPr/>
        </p:nvSpPr>
        <p:spPr>
          <a:xfrm>
            <a:off x="7790688" y="3730752"/>
            <a:ext cx="3593592" cy="2286000"/>
          </a:xfrm>
          <a:prstGeom prst="rect">
            <a:avLst/>
          </a:prstGeom>
          <a:noFill/>
          <a:ln/>
        </p:spPr>
        <p:txBody>
          <a:bodyPr wrap="square" lIns="0" tIns="0" rIns="0" bIns="0" rtlCol="0" anchor="ctr"/>
          <a:lstStyle/>
          <a:p>
            <a:pPr indent="0" marL="0">
              <a:lnSpc>
                <a:spcPts val="1400"/>
              </a:lnSpc>
              <a:buNone/>
            </a:pPr>
            <a:r>
              <a:rPr lang="en-US" sz="1000" dirty="0">
                <a:solidFill>
                  <a:srgbClr val="5F5C55"/>
                </a:solidFill>
                <a:latin typeface="Calibri" pitchFamily="34" charset="0"/>
                <a:ea typeface="Calibri" pitchFamily="34" charset="-122"/>
                <a:cs typeface="Calibri" pitchFamily="34" charset="-120"/>
              </a:rPr>
              <a:t>An unbounded search lands on 100% scrap and a 100% wind grid and tells the plant nothing. Each level carries its own explicit limits — a coal floor because the grid a plant is connected to is coal-fired, a scrap cap because stainless needs virgin chromium and nickel, and no vacuum or remelting routes, which carry a negligible share of world tonnage. The tool states the reasoning for every limit on screen.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1F1E"/>
        </a:solidFill>
      </p:bgPr>
    </p:bg>
    <p:spTree>
      <p:nvGrpSpPr>
        <p:cNvPr id="1" name=""/>
        <p:cNvGrpSpPr/>
        <p:nvPr/>
      </p:nvGrpSpPr>
      <p:grpSpPr>
        <a:xfrm>
          <a:off x="0" y="0"/>
          <a:ext cx="0" cy="0"/>
          <a:chOff x="0" y="0"/>
          <a:chExt cx="0" cy="0"/>
        </a:xfrm>
      </p:grpSpPr>
      <p:sp>
        <p:nvSpPr>
          <p:cNvPr id="2" name="Text 0"/>
          <p:cNvSpPr txBox="1"/>
          <p:nvPr/>
        </p:nvSpPr>
        <p:spPr>
          <a:xfrm>
            <a:off x="566928" y="384048"/>
            <a:ext cx="384048" cy="384048"/>
          </a:xfrm>
          <a:prstGeom prst="ellipse">
            <a:avLst/>
          </a:prstGeom>
          <a:solidFill>
            <a:srgbClr val="B24A2C"/>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 name="Text 1"/>
          <p:cNvSpPr txBox="1"/>
          <p:nvPr/>
        </p:nvSpPr>
        <p:spPr>
          <a:xfrm>
            <a:off x="1115568" y="365760"/>
            <a:ext cx="10506456" cy="219456"/>
          </a:xfrm>
          <a:prstGeom prst="rect">
            <a:avLst/>
          </a:prstGeom>
          <a:noFill/>
          <a:ln/>
        </p:spPr>
        <p:txBody>
          <a:bodyPr wrap="square" lIns="0" tIns="0" rIns="0" bIns="0" rtlCol="0" anchor="ctr"/>
          <a:lstStyle/>
          <a:p>
            <a:pPr indent="0" marL="0">
              <a:buNone/>
            </a:pPr>
            <a:r>
              <a:rPr lang="en-US" sz="1050" b="1" spc="160" kern="0" dirty="0">
                <a:solidFill>
                  <a:srgbClr val="E0A48C"/>
                </a:solidFill>
                <a:latin typeface="Calibri" pitchFamily="34" charset="0"/>
                <a:ea typeface="Calibri" pitchFamily="34" charset="-122"/>
                <a:cs typeface="Calibri" pitchFamily="34" charset="-120"/>
              </a:rPr>
              <a:t>INNOVATION  ·  DIFFERENTIATION  ·  EXPECTED IMPACT</a:t>
            </a:r>
            <a:endParaRPr lang="en-US" sz="1050" dirty="0"/>
          </a:p>
        </p:txBody>
      </p:sp>
      <p:sp>
        <p:nvSpPr>
          <p:cNvPr id="4" name="Text 2"/>
          <p:cNvSpPr txBox="1"/>
          <p:nvPr/>
        </p:nvSpPr>
        <p:spPr>
          <a:xfrm>
            <a:off x="1115568" y="603504"/>
            <a:ext cx="10506456" cy="475488"/>
          </a:xfrm>
          <a:prstGeom prst="rect">
            <a:avLst/>
          </a:prstGeom>
          <a:noFill/>
          <a:ln/>
        </p:spPr>
        <p:txBody>
          <a:bodyPr wrap="square" lIns="0" tIns="0" rIns="0" bIns="0" rtlCol="0" anchor="ctr"/>
          <a:lstStyle/>
          <a:p>
            <a:pPr indent="0" marL="0">
              <a:buNone/>
            </a:pPr>
            <a:r>
              <a:rPr lang="en-US" sz="2700" dirty="0">
                <a:solidFill>
                  <a:srgbClr val="FFFFFF"/>
                </a:solidFill>
                <a:latin typeface="Cambria" pitchFamily="34" charset="0"/>
                <a:ea typeface="Cambria" pitchFamily="34" charset="-122"/>
                <a:cs typeface="Cambria" pitchFamily="34" charset="-120"/>
              </a:rPr>
              <a:t>What this does that a spreadsheet cannot</a:t>
            </a:r>
            <a:endParaRPr lang="en-US" sz="2700" dirty="0"/>
          </a:p>
        </p:txBody>
      </p:sp>
      <p:sp>
        <p:nvSpPr>
          <p:cNvPr id="5" name="Text 3"/>
          <p:cNvSpPr txBox="1"/>
          <p:nvPr/>
        </p:nvSpPr>
        <p:spPr>
          <a:xfrm>
            <a:off x="566928" y="1389888"/>
            <a:ext cx="5486400" cy="237744"/>
          </a:xfrm>
          <a:prstGeom prst="rect">
            <a:avLst/>
          </a:prstGeom>
          <a:noFill/>
          <a:ln/>
        </p:spPr>
        <p:txBody>
          <a:bodyPr wrap="square" lIns="0" tIns="0" rIns="0" bIns="0" rtlCol="0" anchor="ctr"/>
          <a:lstStyle/>
          <a:p>
            <a:pPr indent="0" marL="0">
              <a:buNone/>
            </a:pPr>
            <a:r>
              <a:rPr lang="en-US" sz="1250" b="1" dirty="0">
                <a:solidFill>
                  <a:srgbClr val="F0C9A8"/>
                </a:solidFill>
                <a:latin typeface="Calibri" pitchFamily="34" charset="0"/>
                <a:ea typeface="Calibri" pitchFamily="34" charset="-122"/>
                <a:cs typeface="Calibri" pitchFamily="34" charset="-120"/>
              </a:rPr>
              <a:t>Live, not lagged</a:t>
            </a:r>
            <a:endParaRPr lang="en-US" sz="1250" dirty="0"/>
          </a:p>
        </p:txBody>
      </p:sp>
      <p:sp>
        <p:nvSpPr>
          <p:cNvPr id="6" name="Text 4"/>
          <p:cNvSpPr txBox="1"/>
          <p:nvPr/>
        </p:nvSpPr>
        <p:spPr>
          <a:xfrm>
            <a:off x="566928" y="1627632"/>
            <a:ext cx="5486400" cy="658368"/>
          </a:xfrm>
          <a:prstGeom prst="rect">
            <a:avLst/>
          </a:prstGeom>
          <a:noFill/>
          <a:ln/>
        </p:spPr>
        <p:txBody>
          <a:bodyPr wrap="square" lIns="0" tIns="0" rIns="0" bIns="0" rtlCol="0" anchor="ctr"/>
          <a:lstStyle/>
          <a:p>
            <a:pPr indent="0" marL="0">
              <a:lnSpc>
                <a:spcPts val="1400"/>
              </a:lnSpc>
              <a:buNone/>
            </a:pPr>
            <a:r>
              <a:rPr lang="en-US" sz="1050" dirty="0">
                <a:solidFill>
                  <a:srgbClr val="A8A49B"/>
                </a:solidFill>
                <a:latin typeface="Calibri" pitchFamily="34" charset="0"/>
                <a:ea typeface="Calibri" pitchFamily="34" charset="-122"/>
                <a:cs typeface="Calibri" pitchFamily="34" charset="-120"/>
              </a:rPr>
              <a:t>The route is re-arranged into coefficients and evaluated in the browser, so figures and charts track the slider mid-drag — exact to 1×10⁻⁹, not an approximation.</a:t>
            </a:r>
            <a:endParaRPr lang="en-US" sz="1050" dirty="0"/>
          </a:p>
        </p:txBody>
      </p:sp>
      <p:sp>
        <p:nvSpPr>
          <p:cNvPr id="7" name="Text 5"/>
          <p:cNvSpPr txBox="1"/>
          <p:nvPr/>
        </p:nvSpPr>
        <p:spPr>
          <a:xfrm>
            <a:off x="566928" y="2450592"/>
            <a:ext cx="5486400" cy="237744"/>
          </a:xfrm>
          <a:prstGeom prst="rect">
            <a:avLst/>
          </a:prstGeom>
          <a:noFill/>
          <a:ln/>
        </p:spPr>
        <p:txBody>
          <a:bodyPr wrap="square" lIns="0" tIns="0" rIns="0" bIns="0" rtlCol="0" anchor="ctr"/>
          <a:lstStyle/>
          <a:p>
            <a:pPr indent="0" marL="0">
              <a:buNone/>
            </a:pPr>
            <a:r>
              <a:rPr lang="en-US" sz="1250" b="1" dirty="0">
                <a:solidFill>
                  <a:srgbClr val="F0C9A8"/>
                </a:solidFill>
                <a:latin typeface="Calibri" pitchFamily="34" charset="0"/>
                <a:ea typeface="Calibri" pitchFamily="34" charset="-122"/>
                <a:cs typeface="Calibri" pitchFamily="34" charset="-120"/>
              </a:rPr>
              <a:t>Feasible, not fantastical</a:t>
            </a:r>
            <a:endParaRPr lang="en-US" sz="1250" dirty="0"/>
          </a:p>
        </p:txBody>
      </p:sp>
      <p:sp>
        <p:nvSpPr>
          <p:cNvPr id="8" name="Text 6"/>
          <p:cNvSpPr txBox="1"/>
          <p:nvPr/>
        </p:nvSpPr>
        <p:spPr>
          <a:xfrm>
            <a:off x="566928" y="2688336"/>
            <a:ext cx="5486400" cy="658368"/>
          </a:xfrm>
          <a:prstGeom prst="rect">
            <a:avLst/>
          </a:prstGeom>
          <a:noFill/>
          <a:ln/>
        </p:spPr>
        <p:txBody>
          <a:bodyPr wrap="square" lIns="0" tIns="0" rIns="0" bIns="0" rtlCol="0" anchor="ctr"/>
          <a:lstStyle/>
          <a:p>
            <a:pPr indent="0" marL="0">
              <a:lnSpc>
                <a:spcPts val="1400"/>
              </a:lnSpc>
              <a:buNone/>
            </a:pPr>
            <a:r>
              <a:rPr lang="en-US" sz="1050" dirty="0">
                <a:solidFill>
                  <a:srgbClr val="A8A49B"/>
                </a:solidFill>
                <a:latin typeface="Calibri" pitchFamily="34" charset="0"/>
                <a:ea typeface="Calibri" pitchFamily="34" charset="-122"/>
                <a:cs typeface="Calibri" pitchFamily="34" charset="-120"/>
              </a:rPr>
              <a:t>Three ambition levels with stated economic and grid limits, so the answer is something a plant can put in a procurement plan.</a:t>
            </a:r>
            <a:endParaRPr lang="en-US" sz="1050" dirty="0"/>
          </a:p>
        </p:txBody>
      </p:sp>
      <p:sp>
        <p:nvSpPr>
          <p:cNvPr id="9" name="Text 7"/>
          <p:cNvSpPr txBox="1"/>
          <p:nvPr/>
        </p:nvSpPr>
        <p:spPr>
          <a:xfrm>
            <a:off x="566928" y="3511296"/>
            <a:ext cx="5486400" cy="237744"/>
          </a:xfrm>
          <a:prstGeom prst="rect">
            <a:avLst/>
          </a:prstGeom>
          <a:noFill/>
          <a:ln/>
        </p:spPr>
        <p:txBody>
          <a:bodyPr wrap="square" lIns="0" tIns="0" rIns="0" bIns="0" rtlCol="0" anchor="ctr"/>
          <a:lstStyle/>
          <a:p>
            <a:pPr indent="0" marL="0">
              <a:buNone/>
            </a:pPr>
            <a:r>
              <a:rPr lang="en-US" sz="1250" b="1" dirty="0">
                <a:solidFill>
                  <a:srgbClr val="F0C9A8"/>
                </a:solidFill>
                <a:latin typeface="Calibri" pitchFamily="34" charset="0"/>
                <a:ea typeface="Calibri" pitchFamily="34" charset="-122"/>
                <a:cs typeface="Calibri" pitchFamily="34" charset="-120"/>
              </a:rPr>
              <a:t>Scenario against scenario</a:t>
            </a:r>
            <a:endParaRPr lang="en-US" sz="1250" dirty="0"/>
          </a:p>
        </p:txBody>
      </p:sp>
      <p:sp>
        <p:nvSpPr>
          <p:cNvPr id="10" name="Text 8"/>
          <p:cNvSpPr txBox="1"/>
          <p:nvPr/>
        </p:nvSpPr>
        <p:spPr>
          <a:xfrm>
            <a:off x="566928" y="3749040"/>
            <a:ext cx="5486400" cy="658368"/>
          </a:xfrm>
          <a:prstGeom prst="rect">
            <a:avLst/>
          </a:prstGeom>
          <a:noFill/>
          <a:ln/>
        </p:spPr>
        <p:txBody>
          <a:bodyPr wrap="square" lIns="0" tIns="0" rIns="0" bIns="0" rtlCol="0" anchor="ctr"/>
          <a:lstStyle/>
          <a:p>
            <a:pPr indent="0" marL="0">
              <a:lnSpc>
                <a:spcPts val="1400"/>
              </a:lnSpc>
              <a:buNone/>
            </a:pPr>
            <a:r>
              <a:rPr lang="en-US" sz="1050" dirty="0">
                <a:solidFill>
                  <a:srgbClr val="A8A49B"/>
                </a:solidFill>
                <a:latin typeface="Calibri" pitchFamily="34" charset="0"/>
                <a:ea typeface="Calibri" pitchFamily="34" charset="-122"/>
                <a:cs typeface="Calibri" pitchFamily="34" charset="-120"/>
              </a:rPr>
              <a:t>Any two configurations compared side by side — baseline, the live plant, or two of the user's own — with per-scope deltas.</a:t>
            </a:r>
            <a:endParaRPr lang="en-US" sz="1050" dirty="0"/>
          </a:p>
        </p:txBody>
      </p:sp>
      <p:sp>
        <p:nvSpPr>
          <p:cNvPr id="11" name="Text 9"/>
          <p:cNvSpPr txBox="1"/>
          <p:nvPr/>
        </p:nvSpPr>
        <p:spPr>
          <a:xfrm>
            <a:off x="566928" y="4572000"/>
            <a:ext cx="5486400" cy="237744"/>
          </a:xfrm>
          <a:prstGeom prst="rect">
            <a:avLst/>
          </a:prstGeom>
          <a:noFill/>
          <a:ln/>
        </p:spPr>
        <p:txBody>
          <a:bodyPr wrap="square" lIns="0" tIns="0" rIns="0" bIns="0" rtlCol="0" anchor="ctr"/>
          <a:lstStyle/>
          <a:p>
            <a:pPr indent="0" marL="0">
              <a:buNone/>
            </a:pPr>
            <a:r>
              <a:rPr lang="en-US" sz="1250" b="1" dirty="0">
                <a:solidFill>
                  <a:srgbClr val="F0C9A8"/>
                </a:solidFill>
                <a:latin typeface="Calibri" pitchFamily="34" charset="0"/>
                <a:ea typeface="Calibri" pitchFamily="34" charset="-122"/>
                <a:cs typeface="Calibri" pitchFamily="34" charset="-120"/>
              </a:rPr>
              <a:t>Auditable to the row</a:t>
            </a:r>
            <a:endParaRPr lang="en-US" sz="1250" dirty="0"/>
          </a:p>
        </p:txBody>
      </p:sp>
      <p:sp>
        <p:nvSpPr>
          <p:cNvPr id="12" name="Text 10"/>
          <p:cNvSpPr txBox="1"/>
          <p:nvPr/>
        </p:nvSpPr>
        <p:spPr>
          <a:xfrm>
            <a:off x="566928" y="4809744"/>
            <a:ext cx="5486400" cy="658368"/>
          </a:xfrm>
          <a:prstGeom prst="rect">
            <a:avLst/>
          </a:prstGeom>
          <a:noFill/>
          <a:ln/>
        </p:spPr>
        <p:txBody>
          <a:bodyPr wrap="square" lIns="0" tIns="0" rIns="0" bIns="0" rtlCol="0" anchor="ctr"/>
          <a:lstStyle/>
          <a:p>
            <a:pPr indent="0" marL="0">
              <a:lnSpc>
                <a:spcPts val="1400"/>
              </a:lnSpc>
              <a:buNone/>
            </a:pPr>
            <a:r>
              <a:rPr lang="en-US" sz="1050" dirty="0">
                <a:solidFill>
                  <a:srgbClr val="A8A49B"/>
                </a:solidFill>
                <a:latin typeface="Calibri" pitchFamily="34" charset="0"/>
                <a:ea typeface="Calibri" pitchFamily="34" charset="-122"/>
                <a:cs typeface="Calibri" pitchFamily="34" charset="-120"/>
              </a:rPr>
              <a:t>Every headline opens into the per-process table and the workbook's own coefficient notes.</a:t>
            </a:r>
            <a:endParaRPr lang="en-US" sz="1050" dirty="0"/>
          </a:p>
        </p:txBody>
      </p:sp>
      <p:pic>
        <p:nvPicPr>
          <p:cNvPr id="13" name="Image 0" descr="shots/sc_compare.png">    </p:cNvPr>
          <p:cNvPicPr>
            <a:picLocks noChangeAspect="1"/>
          </p:cNvPicPr>
          <p:nvPr/>
        </p:nvPicPr>
        <p:blipFill>
          <a:blip r:embed="rId1"/>
          <a:stretch>
            <a:fillRect/>
          </a:stretch>
        </p:blipFill>
        <p:spPr>
          <a:xfrm>
            <a:off x="6455664" y="1389888"/>
            <a:ext cx="5166360" cy="2066544"/>
          </a:xfrm>
          <a:prstGeom prst="rect">
            <a:avLst/>
          </a:prstGeom>
        </p:spPr>
      </p:pic>
      <p:sp>
        <p:nvSpPr>
          <p:cNvPr id="14" name="Shape 11"/>
          <p:cNvSpPr/>
          <p:nvPr/>
        </p:nvSpPr>
        <p:spPr>
          <a:xfrm>
            <a:off x="6455664" y="3785616"/>
            <a:ext cx="5166360" cy="2029968"/>
          </a:xfrm>
          <a:prstGeom prst="roundRect">
            <a:avLst>
              <a:gd name="adj" fmla="val 2703"/>
            </a:avLst>
          </a:prstGeom>
          <a:solidFill>
            <a:srgbClr val="2B2A27"/>
          </a:solidFill>
          <a:ln w="12700">
            <a:solidFill>
              <a:srgbClr val="2B2A27"/>
            </a:solidFill>
            <a:prstDash val="solid"/>
          </a:ln>
        </p:spPr>
      </p:sp>
      <p:sp>
        <p:nvSpPr>
          <p:cNvPr id="15" name="Text 12"/>
          <p:cNvSpPr txBox="1"/>
          <p:nvPr/>
        </p:nvSpPr>
        <p:spPr>
          <a:xfrm>
            <a:off x="6693408" y="4023360"/>
            <a:ext cx="4690872" cy="201168"/>
          </a:xfrm>
          <a:prstGeom prst="rect">
            <a:avLst/>
          </a:prstGeom>
          <a:noFill/>
          <a:ln/>
        </p:spPr>
        <p:txBody>
          <a:bodyPr wrap="square" lIns="0" tIns="0" rIns="0" bIns="0" rtlCol="0" anchor="ctr"/>
          <a:lstStyle/>
          <a:p>
            <a:pPr indent="0" marL="0">
              <a:buNone/>
            </a:pPr>
            <a:r>
              <a:rPr lang="en-US" sz="950" b="1" spc="140" kern="0" dirty="0">
                <a:solidFill>
                  <a:srgbClr val="E0A48C"/>
                </a:solidFill>
                <a:latin typeface="Calibri" pitchFamily="34" charset="0"/>
                <a:ea typeface="Calibri" pitchFamily="34" charset="-122"/>
                <a:cs typeface="Calibri" pitchFamily="34" charset="-120"/>
              </a:rPr>
              <a:t>EXPECTED IMPACT  —  AT 1 Mt OF OUTPUT</a:t>
            </a:r>
            <a:endParaRPr lang="en-US" sz="950" dirty="0"/>
          </a:p>
        </p:txBody>
      </p:sp>
      <p:sp>
        <p:nvSpPr>
          <p:cNvPr id="16" name="Text 13"/>
          <p:cNvSpPr txBox="1"/>
          <p:nvPr/>
        </p:nvSpPr>
        <p:spPr>
          <a:xfrm>
            <a:off x="6693408" y="4370832"/>
            <a:ext cx="1481328" cy="402336"/>
          </a:xfrm>
          <a:prstGeom prst="rect">
            <a:avLst/>
          </a:prstGeom>
          <a:noFill/>
          <a:ln/>
        </p:spPr>
        <p:txBody>
          <a:bodyPr wrap="square" lIns="0" tIns="0" rIns="0" bIns="0" rtlCol="0" anchor="ctr"/>
          <a:lstStyle/>
          <a:p>
            <a:pPr indent="0" marL="0">
              <a:buNone/>
            </a:pPr>
            <a:r>
              <a:rPr lang="en-US" sz="2200" dirty="0">
                <a:solidFill>
                  <a:srgbClr val="F0C9A8"/>
                </a:solidFill>
                <a:latin typeface="Cambria" pitchFamily="34" charset="0"/>
                <a:ea typeface="Cambria" pitchFamily="34" charset="-122"/>
                <a:cs typeface="Cambria" pitchFamily="34" charset="-120"/>
              </a:rPr>
              <a:t>2,508</a:t>
            </a:r>
            <a:endParaRPr lang="en-US" sz="2200" dirty="0"/>
          </a:p>
        </p:txBody>
      </p:sp>
      <p:sp>
        <p:nvSpPr>
          <p:cNvPr id="17" name="Text 14"/>
          <p:cNvSpPr txBox="1"/>
          <p:nvPr/>
        </p:nvSpPr>
        <p:spPr>
          <a:xfrm>
            <a:off x="6693408" y="4809744"/>
            <a:ext cx="1481328" cy="896112"/>
          </a:xfrm>
          <a:prstGeom prst="rect">
            <a:avLst/>
          </a:prstGeom>
          <a:noFill/>
          <a:ln/>
        </p:spPr>
        <p:txBody>
          <a:bodyPr wrap="square" lIns="0" tIns="0" rIns="0" bIns="0" rtlCol="0" anchor="ctr"/>
          <a:lstStyle/>
          <a:p>
            <a:pPr indent="0" marL="0">
              <a:lnSpc>
                <a:spcPts val="1100"/>
              </a:lnSpc>
              <a:buNone/>
            </a:pPr>
            <a:r>
              <a:rPr lang="en-US" sz="850" dirty="0">
                <a:solidFill>
                  <a:srgbClr val="A8A49B"/>
                </a:solidFill>
                <a:latin typeface="Calibri" pitchFamily="34" charset="0"/>
                <a:ea typeface="Calibri" pitchFamily="34" charset="-122"/>
                <a:cs typeface="Calibri" pitchFamily="34" charset="-120"/>
              </a:rPr>
              <a:t>kt CO₂e avoided per year on the buildable path</a:t>
            </a:r>
            <a:endParaRPr lang="en-US" sz="850" dirty="0"/>
          </a:p>
        </p:txBody>
      </p:sp>
      <p:sp>
        <p:nvSpPr>
          <p:cNvPr id="18" name="Text 15"/>
          <p:cNvSpPr txBox="1"/>
          <p:nvPr/>
        </p:nvSpPr>
        <p:spPr>
          <a:xfrm>
            <a:off x="8266176" y="4370832"/>
            <a:ext cx="1481328" cy="402336"/>
          </a:xfrm>
          <a:prstGeom prst="rect">
            <a:avLst/>
          </a:prstGeom>
          <a:noFill/>
          <a:ln/>
        </p:spPr>
        <p:txBody>
          <a:bodyPr wrap="square" lIns="0" tIns="0" rIns="0" bIns="0" rtlCol="0" anchor="ctr"/>
          <a:lstStyle/>
          <a:p>
            <a:pPr indent="0" marL="0">
              <a:buNone/>
            </a:pPr>
            <a:r>
              <a:rPr lang="en-US" sz="2200" dirty="0">
                <a:solidFill>
                  <a:srgbClr val="E8C56A"/>
                </a:solidFill>
                <a:latin typeface="Cambria" pitchFamily="34" charset="0"/>
                <a:ea typeface="Cambria" pitchFamily="34" charset="-122"/>
                <a:cs typeface="Cambria" pitchFamily="34" charset="-120"/>
              </a:rPr>
              <a:t>−28.3%</a:t>
            </a:r>
            <a:endParaRPr lang="en-US" sz="2200" dirty="0"/>
          </a:p>
        </p:txBody>
      </p:sp>
      <p:sp>
        <p:nvSpPr>
          <p:cNvPr id="19" name="Text 16"/>
          <p:cNvSpPr txBox="1"/>
          <p:nvPr/>
        </p:nvSpPr>
        <p:spPr>
          <a:xfrm>
            <a:off x="8266176" y="4809744"/>
            <a:ext cx="1481328" cy="896112"/>
          </a:xfrm>
          <a:prstGeom prst="rect">
            <a:avLst/>
          </a:prstGeom>
          <a:noFill/>
          <a:ln/>
        </p:spPr>
        <p:txBody>
          <a:bodyPr wrap="square" lIns="0" tIns="0" rIns="0" bIns="0" rtlCol="0" anchor="ctr"/>
          <a:lstStyle/>
          <a:p>
            <a:pPr indent="0" marL="0">
              <a:lnSpc>
                <a:spcPts val="1100"/>
              </a:lnSpc>
              <a:buNone/>
            </a:pPr>
            <a:r>
              <a:rPr lang="en-US" sz="850" dirty="0">
                <a:solidFill>
                  <a:srgbClr val="A8A49B"/>
                </a:solidFill>
                <a:latin typeface="Calibri" pitchFamily="34" charset="0"/>
                <a:ea typeface="Calibri" pitchFamily="34" charset="-122"/>
                <a:cs typeface="Calibri" pitchFamily="34" charset="-120"/>
              </a:rPr>
              <a:t>specific energy, 33.9 → 24.3 GJ/t</a:t>
            </a:r>
            <a:endParaRPr lang="en-US" sz="850" dirty="0"/>
          </a:p>
        </p:txBody>
      </p:sp>
      <p:sp>
        <p:nvSpPr>
          <p:cNvPr id="20" name="Text 17"/>
          <p:cNvSpPr txBox="1"/>
          <p:nvPr/>
        </p:nvSpPr>
        <p:spPr>
          <a:xfrm>
            <a:off x="9838944" y="4370832"/>
            <a:ext cx="1481328" cy="402336"/>
          </a:xfrm>
          <a:prstGeom prst="rect">
            <a:avLst/>
          </a:prstGeom>
          <a:noFill/>
          <a:ln/>
        </p:spPr>
        <p:txBody>
          <a:bodyPr wrap="square" lIns="0" tIns="0" rIns="0" bIns="0" rtlCol="0" anchor="ctr"/>
          <a:lstStyle/>
          <a:p>
            <a:pPr indent="0" marL="0">
              <a:buNone/>
            </a:pPr>
            <a:r>
              <a:rPr lang="en-US" sz="2200" dirty="0">
                <a:solidFill>
                  <a:srgbClr val="7FB8DC"/>
                </a:solidFill>
                <a:latin typeface="Cambria" pitchFamily="34" charset="0"/>
                <a:ea typeface="Cambria" pitchFamily="34" charset="-122"/>
                <a:cs typeface="Cambria" pitchFamily="34" charset="-120"/>
              </a:rPr>
              <a:t>−65.0%</a:t>
            </a:r>
            <a:endParaRPr lang="en-US" sz="2200" dirty="0"/>
          </a:p>
        </p:txBody>
      </p:sp>
      <p:sp>
        <p:nvSpPr>
          <p:cNvPr id="21" name="Text 18"/>
          <p:cNvSpPr txBox="1"/>
          <p:nvPr/>
        </p:nvSpPr>
        <p:spPr>
          <a:xfrm>
            <a:off x="9838944" y="4809744"/>
            <a:ext cx="1481328" cy="896112"/>
          </a:xfrm>
          <a:prstGeom prst="rect">
            <a:avLst/>
          </a:prstGeom>
          <a:noFill/>
          <a:ln/>
        </p:spPr>
        <p:txBody>
          <a:bodyPr wrap="square" lIns="0" tIns="0" rIns="0" bIns="0" rtlCol="0" anchor="ctr"/>
          <a:lstStyle/>
          <a:p>
            <a:pPr indent="0" marL="0">
              <a:lnSpc>
                <a:spcPts val="1100"/>
              </a:lnSpc>
              <a:buNone/>
            </a:pPr>
            <a:r>
              <a:rPr lang="en-US" sz="850" dirty="0">
                <a:solidFill>
                  <a:srgbClr val="A8A49B"/>
                </a:solidFill>
                <a:latin typeface="Calibri" pitchFamily="34" charset="0"/>
                <a:ea typeface="Calibri" pitchFamily="34" charset="-122"/>
                <a:cs typeface="Calibri" pitchFamily="34" charset="-120"/>
              </a:rPr>
              <a:t>Scope 2, the largest single component</a:t>
            </a:r>
            <a:endParaRPr lang="en-US" sz="850" dirty="0"/>
          </a:p>
        </p:txBody>
      </p:sp>
      <p:sp>
        <p:nvSpPr>
          <p:cNvPr id="22" name="Text 19"/>
          <p:cNvSpPr txBox="1"/>
          <p:nvPr/>
        </p:nvSpPr>
        <p:spPr>
          <a:xfrm>
            <a:off x="566928" y="6053328"/>
            <a:ext cx="5486400" cy="219456"/>
          </a:xfrm>
          <a:prstGeom prst="rect">
            <a:avLst/>
          </a:prstGeom>
          <a:noFill/>
          <a:ln/>
        </p:spPr>
        <p:txBody>
          <a:bodyPr wrap="square" lIns="0" tIns="0" rIns="0" bIns="0" rtlCol="0" anchor="ctr"/>
          <a:lstStyle/>
          <a:p>
            <a:pPr indent="0" marL="0">
              <a:buNone/>
            </a:pPr>
            <a:r>
              <a:rPr lang="en-US" sz="900" i="1" dirty="0">
                <a:solidFill>
                  <a:srgbClr val="6E6A62"/>
                </a:solidFill>
                <a:latin typeface="Calibri" pitchFamily="34" charset="0"/>
                <a:ea typeface="Calibri" pitchFamily="34" charset="-122"/>
                <a:cs typeface="Calibri" pitchFamily="34" charset="-120"/>
              </a:rPr>
              <a:t>Built on the supplied workbook · Streamlit · open to any plant configuration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CarbonSpark — Problem Statement 3</dc:title>
  <dc:subject>PptxGenJS Presentation</dc:subject>
  <dc:creator>CarbonSpark</dc:creator>
  <cp:lastModifiedBy>CarbonSpark</cp:lastModifiedBy>
  <cp:revision>1</cp:revision>
  <dcterms:created xsi:type="dcterms:W3CDTF">2026-09-11T07:24:06Z</dcterms:created>
  <dcterms:modified xsi:type="dcterms:W3CDTF">2026-09-11T07:24:06Z</dcterms:modified>
</cp:coreProperties>
</file>