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 left blank deliberately. Add team name, members, college and the problem statement title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decision gap, not on the technology. Keep the brief's own two levers front and centre — scrap versus virgin charge, and the energy mix — because those are what the problem statement asks for and what actually moves the tonne. The process-route work on the next slide is the cherry on top, not the headline; introduce it that way. Numbers are from our own model run on the supplied workbook: the default route (40% scrap, today's Indian grid, first-listed technology at every stage) gives 6.167 tCO2e/t and 47.4 GJ/t. Scope 2 at 3.451 t/t is 56% of the total — say this out loud, it is the reason the grid mix is the centrepiece of the tool. The objectives are deliberately measurable so the validation slide can be checked against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'how', and the differentiation lives here — lead with it. The brief asks for two levers: input mix and energy source. We built those and then went further, modelling the process route itself, because the technology a stage runs moves the tonne as much as the charge does. Concretely: 48 stages that can each be switched out of the route, and 24 interchangeable technologies concentrated in five real decision points — six melting routes, four decarburisation, four refining, eight casting, two inspection. Pick two at one stage and the tonne splits between them, which is how a plant running two casters actually behaves. The second claim to land: all of it is live. Streamlit only commits a slider on release, so we re-arrange the route into a coefficient model and evaluate it in the page — figures and the charts move with your hand, and it still agrees with the server to 1e-9. The screenshot is the per-process table: every row carries its variation and its share, so nothing is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slide — spend the most time here. Every row is quoted against the workbook's own default route, 6.167 tCO2e/t, which is the same reference the tool shows on screen. Row two is worth pausing on: moving scrap alone from 40% to 76%, with the grid and the route untouched, already takes 20.4% off the tonne — that is the brief's first lever doing its work on its own. Then the three optimiser levels, which move the charge and the grid together. The key defence: 'Buildable today' at 3.498 t/t (-43.3%) holds coal at 45% or more of supply and caps hydro and nuclear near their real grid share, because an industrial consumer cannot contract unlimited amounts of either. That is what makes it a feasible answer rather than a hypothetical one. On validation, the strongest single fact is the 1e-9 agreement between the browser model and the server — the live figures are the same arithmetic, not an approximation. Be upfront about the limitations; the electricity intensities in the supplied workbook are high against public benchmarks, which is exactly why we present deltas rather than certified absolutes.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differentiation and impact. The one thing to say if you only get one sentence: every other calculator recomputes on the server after you let go of the control — ours re-arranges the model into coefficients and evaluates it in the page, so the number moves with your hand and is still exact to 1e-9. Second differentiator is the feasibility framing, which answers the brief's word 'practical' directly. On impact, quote the annualised figure: at 1 Mt of output, the buildable path avoids 2,669 kt CO2e a year, cuts specific energy 18.8%, and takes 53.7% off Scope 2 — the component that was 56% of the tonne on slide 1. Invite them to open the tool and change any input; nothing in it is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384048" cy="384048"/>
          </a:xfrm>
          <a:prstGeom prst="ellipse">
            <a:avLst/>
          </a:prstGeom>
          <a:solidFill>
            <a:srgbClr val="B24A2C"/>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3" name="Text 1"/>
          <p:cNvSpPr txBox="1"/>
          <p:nvPr/>
        </p:nvSpPr>
        <p:spPr>
          <a:xfrm>
            <a:off x="1115568" y="365760"/>
            <a:ext cx="10506456" cy="219456"/>
          </a:xfrm>
          <a:prstGeom prst="rect">
            <a:avLst/>
          </a:prstGeom>
          <a:noFill/>
          <a:ln/>
        </p:spPr>
        <p:txBody>
          <a:bodyPr wrap="square" lIns="0" tIns="0" rIns="0" bIns="0" rtlCol="0" anchor="ctr"/>
          <a:lstStyle/>
          <a:p>
            <a:pPr indent="0" marL="0">
              <a:buNone/>
            </a:pPr>
            <a:r>
              <a:rPr lang="en-US" sz="1050" b="1" spc="160" kern="0" dirty="0">
                <a:solidFill>
                  <a:srgbClr val="B24A2C"/>
                </a:solidFill>
                <a:latin typeface="Calibri" pitchFamily="34" charset="0"/>
                <a:ea typeface="Calibri" pitchFamily="34" charset="-122"/>
                <a:cs typeface="Calibri" pitchFamily="34" charset="-120"/>
              </a:rPr>
              <a:t>PROBLEM UNDERSTANDING  ·  OBJECTIVES</a:t>
            </a:r>
            <a:endParaRPr lang="en-US" sz="1050" dirty="0"/>
          </a:p>
        </p:txBody>
      </p:sp>
      <p:sp>
        <p:nvSpPr>
          <p:cNvPr id="4" name="Text 2"/>
          <p:cNvSpPr txBox="1"/>
          <p:nvPr/>
        </p:nvSpPr>
        <p:spPr>
          <a:xfrm>
            <a:off x="1115568" y="603504"/>
            <a:ext cx="10506456" cy="475488"/>
          </a:xfrm>
          <a:prstGeom prst="rect">
            <a:avLst/>
          </a:prstGeom>
          <a:noFill/>
          <a:ln/>
        </p:spPr>
        <p:txBody>
          <a:bodyPr wrap="square" lIns="0" tIns="0" rIns="0" bIns="0" rtlCol="0" anchor="ctr"/>
          <a:lstStyle/>
          <a:p>
            <a:pPr indent="0" marL="0">
              <a:buNone/>
            </a:pPr>
            <a:r>
              <a:rPr lang="en-US" sz="2700" dirty="0">
                <a:solidFill>
                  <a:srgbClr val="1F1F1E"/>
                </a:solidFill>
                <a:latin typeface="Cambria" pitchFamily="34" charset="0"/>
                <a:ea typeface="Cambria" pitchFamily="34" charset="-122"/>
                <a:cs typeface="Cambria" pitchFamily="34" charset="-120"/>
              </a:rPr>
              <a:t>Emissions are decided long before anyone can see them</a:t>
            </a:r>
            <a:endParaRPr lang="en-US" sz="2700" dirty="0"/>
          </a:p>
        </p:txBody>
      </p:sp>
      <p:sp>
        <p:nvSpPr>
          <p:cNvPr id="5" name="Text 3"/>
          <p:cNvSpPr txBox="1"/>
          <p:nvPr/>
        </p:nvSpPr>
        <p:spPr>
          <a:xfrm>
            <a:off x="566928" y="1335024"/>
            <a:ext cx="6766560" cy="1115568"/>
          </a:xfrm>
          <a:prstGeom prst="rect">
            <a:avLst/>
          </a:prstGeom>
          <a:noFill/>
          <a:ln/>
        </p:spPr>
        <p:txBody>
          <a:bodyPr wrap="square" lIns="0" tIns="0" rIns="0" bIns="0" rtlCol="0" anchor="ctr"/>
          <a:lstStyle/>
          <a:p>
            <a:pPr indent="0" marL="0">
              <a:lnSpc>
                <a:spcPts val="1800"/>
              </a:lnSpc>
              <a:buNone/>
            </a:pPr>
            <a:r>
              <a:rPr lang="en-US" sz="1250" dirty="0">
                <a:solidFill>
                  <a:srgbClr val="5F5C55"/>
                </a:solidFill>
                <a:latin typeface="Calibri" pitchFamily="34" charset="0"/>
                <a:ea typeface="Calibri" pitchFamily="34" charset="-122"/>
                <a:cs typeface="Calibri" pitchFamily="34" charset="-120"/>
              </a:rPr>
              <a:t>A stainless tonne's carbon is fixed by four choices — how much scrap is charged, which grid supplies the furnaces, how the material is hauled, and which technology each stage runs. Those choices are made by planners and buyers who have no number in front of them at the moment of deciding. The workbook that holds the coefficients is an audit artefact, not a decision tool.</a:t>
            </a:r>
            <a:endParaRPr lang="en-US" sz="1250" dirty="0"/>
          </a:p>
        </p:txBody>
      </p:sp>
      <p:sp>
        <p:nvSpPr>
          <p:cNvPr id="6" name="Text 4"/>
          <p:cNvSpPr txBox="1"/>
          <p:nvPr/>
        </p:nvSpPr>
        <p:spPr>
          <a:xfrm>
            <a:off x="566928" y="2578608"/>
            <a:ext cx="6766560"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WHY IT MATTERS</a:t>
            </a:r>
            <a:endParaRPr lang="en-US" sz="950" dirty="0"/>
          </a:p>
        </p:txBody>
      </p:sp>
      <p:sp>
        <p:nvSpPr>
          <p:cNvPr id="7" name="Text 5"/>
          <p:cNvSpPr txBox="1"/>
          <p:nvPr/>
        </p:nvSpPr>
        <p:spPr>
          <a:xfrm>
            <a:off x="566928" y="2816352"/>
            <a:ext cx="6766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50" dirty="0">
                <a:solidFill>
                  <a:srgbClr val="5F5C55"/>
                </a:solidFill>
                <a:latin typeface="Calibri" pitchFamily="34" charset="0"/>
                <a:ea typeface="Calibri" pitchFamily="34" charset="-122"/>
                <a:cs typeface="Calibri" pitchFamily="34" charset="-120"/>
              </a:rPr>
              <a:t>Scope 2 — purchased electricity — is 56% of the baseline tonne. The single biggest lever is a procurement decision, not a metallurgical one.</a:t>
            </a:r>
            <a:endParaRPr lang="en-US" sz="1250" dirty="0"/>
          </a:p>
          <a:p>
            <a:pPr marL="342900" indent="-342900">
              <a:lnSpc>
                <a:spcPts val="1700"/>
              </a:lnSpc>
              <a:spcAft>
                <a:spcPts val="700"/>
              </a:spcAft>
              <a:buSzPct val="100000"/>
              <a:buChar char="•"/>
            </a:pPr>
            <a:r>
              <a:rPr lang="en-US" sz="1250" dirty="0">
                <a:solidFill>
                  <a:srgbClr val="5F5C55"/>
                </a:solidFill>
                <a:latin typeface="Calibri" pitchFamily="34" charset="0"/>
                <a:ea typeface="Calibri" pitchFamily="34" charset="-122"/>
                <a:cs typeface="Calibri" pitchFamily="34" charset="-120"/>
              </a:rPr>
              <a:t>Scrap displaces virgin chromium and nickel, but grade requirements cap how far it can go. The trade-off is real and currently unquantified at the plant.</a:t>
            </a:r>
            <a:endParaRPr lang="en-US" sz="1250" dirty="0"/>
          </a:p>
          <a:p>
            <a:pPr marL="342900" indent="-342900">
              <a:lnSpc>
                <a:spcPts val="1700"/>
              </a:lnSpc>
              <a:spcAft>
                <a:spcPts val="700"/>
              </a:spcAft>
              <a:buSzPct val="100000"/>
              <a:buChar char="•"/>
            </a:pPr>
            <a:r>
              <a:rPr lang="en-US" sz="1250" dirty="0">
                <a:solidFill>
                  <a:srgbClr val="5F5C55"/>
                </a:solidFill>
                <a:latin typeface="Calibri" pitchFamily="34" charset="0"/>
                <a:ea typeface="Calibri" pitchFamily="34" charset="-122"/>
                <a:cs typeface="Calibri" pitchFamily="34" charset="-120"/>
              </a:rPr>
              <a:t>Net Zero by 2050 needs the marginal question answered in seconds: what does this change do to the tonne?</a:t>
            </a:r>
            <a:endParaRPr lang="en-US" sz="1250" dirty="0"/>
          </a:p>
        </p:txBody>
      </p:sp>
      <p:sp>
        <p:nvSpPr>
          <p:cNvPr id="8" name="Text 6"/>
          <p:cNvSpPr txBox="1"/>
          <p:nvPr/>
        </p:nvSpPr>
        <p:spPr>
          <a:xfrm>
            <a:off x="566928" y="4315968"/>
            <a:ext cx="6766560"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OBJECTIVES — MEASURABLE</a:t>
            </a:r>
            <a:endParaRPr lang="en-US" sz="950" dirty="0"/>
          </a:p>
        </p:txBody>
      </p:sp>
      <p:sp>
        <p:nvSpPr>
          <p:cNvPr id="9" name="Text 7"/>
          <p:cNvSpPr txBox="1"/>
          <p:nvPr/>
        </p:nvSpPr>
        <p:spPr>
          <a:xfrm>
            <a:off x="566928" y="4645152"/>
            <a:ext cx="6766560" cy="164592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150" dirty="0">
                <a:solidFill>
                  <a:srgbClr val="5F5C55"/>
                </a:solidFill>
                <a:latin typeface="Calibri" pitchFamily="34" charset="0"/>
                <a:ea typeface="Calibri" pitchFamily="34" charset="-122"/>
                <a:cs typeface="Calibri" pitchFamily="34" charset="-120"/>
              </a:rPr>
              <a:t>Price the brief's two levers: scrap versus virgin charge, and the energy mix behind every kWh.</a:t>
            </a:r>
            <a:endParaRPr lang="en-US" sz="1150" dirty="0"/>
          </a:p>
          <a:p>
            <a:pPr marL="342900" indent="-342900">
              <a:lnSpc>
                <a:spcPts val="1500"/>
              </a:lnSpc>
              <a:spcAft>
                <a:spcPts val="600"/>
              </a:spcAft>
              <a:buSzPct val="100000"/>
              <a:buChar char="•"/>
            </a:pPr>
            <a:r>
              <a:rPr lang="en-US" sz="1150" dirty="0">
                <a:solidFill>
                  <a:srgbClr val="5F5C55"/>
                </a:solidFill>
                <a:latin typeface="Calibri" pitchFamily="34" charset="0"/>
                <a:ea typeface="Calibri" pitchFamily="34" charset="-122"/>
                <a:cs typeface="Calibri" pitchFamily="34" charset="-120"/>
              </a:rPr>
              <a:t>Report Scope 1, 2 and 3 separately and reconcile to the accounting grid exactly.</a:t>
            </a:r>
            <a:endParaRPr lang="en-US" sz="1150" dirty="0"/>
          </a:p>
          <a:p>
            <a:pPr marL="342900" indent="-342900">
              <a:lnSpc>
                <a:spcPts val="1500"/>
              </a:lnSpc>
              <a:spcAft>
                <a:spcPts val="600"/>
              </a:spcAft>
              <a:buSzPct val="100000"/>
              <a:buChar char="•"/>
            </a:pPr>
            <a:r>
              <a:rPr lang="en-US" sz="1150" dirty="0">
                <a:solidFill>
                  <a:srgbClr val="5F5C55"/>
                </a:solidFill>
                <a:latin typeface="Calibri" pitchFamily="34" charset="0"/>
                <a:ea typeface="Calibri" pitchFamily="34" charset="-122"/>
                <a:cs typeface="Calibri" pitchFamily="34" charset="-120"/>
              </a:rPr>
              <a:t>Respond while the input is moving, not after it is released.</a:t>
            </a:r>
            <a:endParaRPr lang="en-US" sz="1150" dirty="0"/>
          </a:p>
          <a:p>
            <a:pPr marL="342900" indent="-342900">
              <a:lnSpc>
                <a:spcPts val="1500"/>
              </a:lnSpc>
              <a:spcAft>
                <a:spcPts val="600"/>
              </a:spcAft>
              <a:buSzPct val="100000"/>
              <a:buChar char="•"/>
            </a:pPr>
            <a:r>
              <a:rPr lang="en-US" sz="1150" dirty="0">
                <a:solidFill>
                  <a:srgbClr val="5F5C55"/>
                </a:solidFill>
                <a:latin typeface="Calibri" pitchFamily="34" charset="0"/>
                <a:ea typeface="Calibri" pitchFamily="34" charset="-122"/>
                <a:cs typeface="Calibri" pitchFamily="34" charset="-120"/>
              </a:rPr>
              <a:t>Return a lower-carbon combination that is actually procurable.</a:t>
            </a:r>
            <a:endParaRPr lang="en-US" sz="1150" dirty="0"/>
          </a:p>
          <a:p>
            <a:pPr marL="342900" indent="-342900">
              <a:lnSpc>
                <a:spcPts val="1500"/>
              </a:lnSpc>
              <a:spcAft>
                <a:spcPts val="600"/>
              </a:spcAft>
              <a:buSzPct val="100000"/>
              <a:buChar char="•"/>
            </a:pPr>
            <a:r>
              <a:rPr lang="en-US" sz="1150" dirty="0">
                <a:solidFill>
                  <a:srgbClr val="5F5C55"/>
                </a:solidFill>
                <a:latin typeface="Calibri" pitchFamily="34" charset="0"/>
                <a:ea typeface="Calibri" pitchFamily="34" charset="-122"/>
                <a:cs typeface="Calibri" pitchFamily="34" charset="-120"/>
              </a:rPr>
              <a:t>Beyond the brief: make the process route editable too, priced the same way.</a:t>
            </a:r>
            <a:endParaRPr lang="en-US" sz="1150" dirty="0"/>
          </a:p>
        </p:txBody>
      </p:sp>
      <p:sp>
        <p:nvSpPr>
          <p:cNvPr id="10" name="Shape 8"/>
          <p:cNvSpPr/>
          <p:nvPr/>
        </p:nvSpPr>
        <p:spPr>
          <a:xfrm>
            <a:off x="7635240" y="1335024"/>
            <a:ext cx="3986784" cy="4956048"/>
          </a:xfrm>
          <a:prstGeom prst="roundRect">
            <a:avLst>
              <a:gd name="adj" fmla="val 1376"/>
            </a:avLst>
          </a:prstGeom>
          <a:solidFill>
            <a:srgbClr val="F2F0EB"/>
          </a:solidFill>
          <a:ln w="12700">
            <a:solidFill>
              <a:srgbClr val="F2F0EB"/>
            </a:solidFill>
            <a:prstDash val="solid"/>
          </a:ln>
        </p:spPr>
      </p:sp>
      <p:sp>
        <p:nvSpPr>
          <p:cNvPr id="11" name="Text 9"/>
          <p:cNvSpPr txBox="1"/>
          <p:nvPr/>
        </p:nvSpPr>
        <p:spPr>
          <a:xfrm>
            <a:off x="7973568" y="1591056"/>
            <a:ext cx="3383280"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THE TONNE TODAY</a:t>
            </a:r>
            <a:endParaRPr lang="en-US" sz="950" dirty="0"/>
          </a:p>
        </p:txBody>
      </p:sp>
      <p:sp>
        <p:nvSpPr>
          <p:cNvPr id="12" name="Text 10"/>
          <p:cNvSpPr txBox="1"/>
          <p:nvPr/>
        </p:nvSpPr>
        <p:spPr>
          <a:xfrm>
            <a:off x="7973568" y="1883664"/>
            <a:ext cx="3383280" cy="475488"/>
          </a:xfrm>
          <a:prstGeom prst="rect">
            <a:avLst/>
          </a:prstGeom>
          <a:noFill/>
          <a:ln/>
        </p:spPr>
        <p:txBody>
          <a:bodyPr wrap="square" lIns="0" tIns="0" rIns="0" bIns="0" rtlCol="0" anchor="ctr"/>
          <a:lstStyle/>
          <a:p>
            <a:pPr indent="0" marL="0">
              <a:buNone/>
            </a:pPr>
            <a:r>
              <a:rPr lang="en-US" sz="2800" dirty="0">
                <a:solidFill>
                  <a:srgbClr val="B24A2C"/>
                </a:solidFill>
                <a:latin typeface="Cambria" pitchFamily="34" charset="0"/>
                <a:ea typeface="Cambria" pitchFamily="34" charset="-122"/>
                <a:cs typeface="Cambria" pitchFamily="34" charset="-120"/>
              </a:rPr>
              <a:t>6.167</a:t>
            </a:r>
            <a:endParaRPr lang="en-US" sz="2800" dirty="0"/>
          </a:p>
        </p:txBody>
      </p:sp>
      <p:sp>
        <p:nvSpPr>
          <p:cNvPr id="13" name="Text 11"/>
          <p:cNvSpPr txBox="1"/>
          <p:nvPr/>
        </p:nvSpPr>
        <p:spPr>
          <a:xfrm>
            <a:off x="7973568" y="2359152"/>
            <a:ext cx="3383280" cy="402336"/>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tCO₂e per tonne — workbook default route, 40% scrap, today's Indian grid</a:t>
            </a:r>
            <a:endParaRPr lang="en-US" sz="950" dirty="0"/>
          </a:p>
        </p:txBody>
      </p:sp>
      <p:sp>
        <p:nvSpPr>
          <p:cNvPr id="14" name="Text 12"/>
          <p:cNvSpPr txBox="1"/>
          <p:nvPr/>
        </p:nvSpPr>
        <p:spPr>
          <a:xfrm>
            <a:off x="7973568" y="2889504"/>
            <a:ext cx="3383280" cy="475488"/>
          </a:xfrm>
          <a:prstGeom prst="rect">
            <a:avLst/>
          </a:prstGeom>
          <a:noFill/>
          <a:ln/>
        </p:spPr>
        <p:txBody>
          <a:bodyPr wrap="square" lIns="0" tIns="0" rIns="0" bIns="0" rtlCol="0" anchor="ctr"/>
          <a:lstStyle/>
          <a:p>
            <a:pPr indent="0" marL="0">
              <a:buNone/>
            </a:pPr>
            <a:r>
              <a:rPr lang="en-US" sz="2800" dirty="0">
                <a:solidFill>
                  <a:srgbClr val="1F6E9E"/>
                </a:solidFill>
                <a:latin typeface="Cambria" pitchFamily="34" charset="0"/>
                <a:ea typeface="Cambria" pitchFamily="34" charset="-122"/>
                <a:cs typeface="Cambria" pitchFamily="34" charset="-120"/>
              </a:rPr>
              <a:t>56%</a:t>
            </a:r>
            <a:endParaRPr lang="en-US" sz="2800" dirty="0"/>
          </a:p>
        </p:txBody>
      </p:sp>
      <p:sp>
        <p:nvSpPr>
          <p:cNvPr id="15" name="Text 13"/>
          <p:cNvSpPr txBox="1"/>
          <p:nvPr/>
        </p:nvSpPr>
        <p:spPr>
          <a:xfrm>
            <a:off x="7973568" y="3364992"/>
            <a:ext cx="3383280" cy="402336"/>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of that total is Scope 2 alone (3.451 tCO₂e/t)</a:t>
            </a:r>
            <a:endParaRPr lang="en-US" sz="950" dirty="0"/>
          </a:p>
        </p:txBody>
      </p:sp>
      <p:sp>
        <p:nvSpPr>
          <p:cNvPr id="16" name="Text 14"/>
          <p:cNvSpPr txBox="1"/>
          <p:nvPr/>
        </p:nvSpPr>
        <p:spPr>
          <a:xfrm>
            <a:off x="7973568" y="3895344"/>
            <a:ext cx="3383280" cy="475488"/>
          </a:xfrm>
          <a:prstGeom prst="rect">
            <a:avLst/>
          </a:prstGeom>
          <a:noFill/>
          <a:ln/>
        </p:spPr>
        <p:txBody>
          <a:bodyPr wrap="square" lIns="0" tIns="0" rIns="0" bIns="0" rtlCol="0" anchor="ctr"/>
          <a:lstStyle/>
          <a:p>
            <a:pPr indent="0" marL="0">
              <a:buNone/>
            </a:pPr>
            <a:r>
              <a:rPr lang="en-US" sz="2800" dirty="0">
                <a:solidFill>
                  <a:srgbClr val="C9971F"/>
                </a:solidFill>
                <a:latin typeface="Cambria" pitchFamily="34" charset="0"/>
                <a:ea typeface="Cambria" pitchFamily="34" charset="-122"/>
                <a:cs typeface="Cambria" pitchFamily="34" charset="-120"/>
              </a:rPr>
              <a:t>47.4</a:t>
            </a:r>
            <a:endParaRPr lang="en-US" sz="2800" dirty="0"/>
          </a:p>
        </p:txBody>
      </p:sp>
      <p:sp>
        <p:nvSpPr>
          <p:cNvPr id="17" name="Text 15"/>
          <p:cNvSpPr txBox="1"/>
          <p:nvPr/>
        </p:nvSpPr>
        <p:spPr>
          <a:xfrm>
            <a:off x="7973568" y="4370832"/>
            <a:ext cx="3383280" cy="402336"/>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GJ/t specific energy at the same baseline</a:t>
            </a:r>
            <a:endParaRPr lang="en-US" sz="950" dirty="0"/>
          </a:p>
        </p:txBody>
      </p:sp>
      <p:sp>
        <p:nvSpPr>
          <p:cNvPr id="18" name="Text 16"/>
          <p:cNvSpPr txBox="1"/>
          <p:nvPr/>
        </p:nvSpPr>
        <p:spPr>
          <a:xfrm>
            <a:off x="7973568" y="4901184"/>
            <a:ext cx="3383280" cy="475488"/>
          </a:xfrm>
          <a:prstGeom prst="rect">
            <a:avLst/>
          </a:prstGeom>
          <a:noFill/>
          <a:ln/>
        </p:spPr>
        <p:txBody>
          <a:bodyPr wrap="square" lIns="0" tIns="0" rIns="0" bIns="0" rtlCol="0" anchor="ctr"/>
          <a:lstStyle/>
          <a:p>
            <a:pPr indent="0" marL="0">
              <a:buNone/>
            </a:pPr>
            <a:r>
              <a:rPr lang="en-US" sz="2800" dirty="0">
                <a:solidFill>
                  <a:srgbClr val="1F1F1E"/>
                </a:solidFill>
                <a:latin typeface="Cambria" pitchFamily="34" charset="0"/>
                <a:ea typeface="Cambria" pitchFamily="34" charset="-122"/>
                <a:cs typeface="Cambria" pitchFamily="34" charset="-120"/>
              </a:rPr>
              <a:t>67</a:t>
            </a:r>
            <a:endParaRPr lang="en-US" sz="2800" dirty="0"/>
          </a:p>
        </p:txBody>
      </p:sp>
      <p:sp>
        <p:nvSpPr>
          <p:cNvPr id="19" name="Text 17"/>
          <p:cNvSpPr txBox="1"/>
          <p:nvPr/>
        </p:nvSpPr>
        <p:spPr>
          <a:xfrm>
            <a:off x="7973568" y="5376672"/>
            <a:ext cx="3383280" cy="402336"/>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process routes carrying their own Scope 1/2/3 coefficients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384048" cy="384048"/>
          </a:xfrm>
          <a:prstGeom prst="ellipse">
            <a:avLst/>
          </a:prstGeom>
          <a:solidFill>
            <a:srgbClr val="B24A2C"/>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3" name="Text 1"/>
          <p:cNvSpPr txBox="1"/>
          <p:nvPr/>
        </p:nvSpPr>
        <p:spPr>
          <a:xfrm>
            <a:off x="1115568" y="365760"/>
            <a:ext cx="10506456" cy="219456"/>
          </a:xfrm>
          <a:prstGeom prst="rect">
            <a:avLst/>
          </a:prstGeom>
          <a:noFill/>
          <a:ln/>
        </p:spPr>
        <p:txBody>
          <a:bodyPr wrap="square" lIns="0" tIns="0" rIns="0" bIns="0" rtlCol="0" anchor="ctr"/>
          <a:lstStyle/>
          <a:p>
            <a:pPr indent="0" marL="0">
              <a:buNone/>
            </a:pPr>
            <a:r>
              <a:rPr lang="en-US" sz="1050" b="1" spc="160" kern="0" dirty="0">
                <a:solidFill>
                  <a:srgbClr val="B24A2C"/>
                </a:solidFill>
                <a:latin typeface="Calibri" pitchFamily="34" charset="0"/>
                <a:ea typeface="Calibri" pitchFamily="34" charset="-122"/>
                <a:cs typeface="Calibri" pitchFamily="34" charset="-120"/>
              </a:rPr>
              <a:t>PROPOSED SOLUTION</a:t>
            </a:r>
            <a:endParaRPr lang="en-US" sz="1050" dirty="0"/>
          </a:p>
        </p:txBody>
      </p:sp>
      <p:sp>
        <p:nvSpPr>
          <p:cNvPr id="4" name="Text 2"/>
          <p:cNvSpPr txBox="1"/>
          <p:nvPr/>
        </p:nvSpPr>
        <p:spPr>
          <a:xfrm>
            <a:off x="1115568" y="603504"/>
            <a:ext cx="10506456" cy="475488"/>
          </a:xfrm>
          <a:prstGeom prst="rect">
            <a:avLst/>
          </a:prstGeom>
          <a:noFill/>
          <a:ln/>
        </p:spPr>
        <p:txBody>
          <a:bodyPr wrap="square" lIns="0" tIns="0" rIns="0" bIns="0" rtlCol="0" anchor="ctr"/>
          <a:lstStyle/>
          <a:p>
            <a:pPr indent="0" marL="0">
              <a:buNone/>
            </a:pPr>
            <a:r>
              <a:rPr lang="en-US" sz="2700" dirty="0">
                <a:solidFill>
                  <a:srgbClr val="1F1F1E"/>
                </a:solidFill>
                <a:latin typeface="Cambria" pitchFamily="34" charset="0"/>
                <a:ea typeface="Cambria" pitchFamily="34" charset="-122"/>
                <a:cs typeface="Cambria" pitchFamily="34" charset="-120"/>
              </a:rPr>
              <a:t>CarbonSpark — every lever, live</a:t>
            </a:r>
            <a:endParaRPr lang="en-US" sz="2700" dirty="0"/>
          </a:p>
        </p:txBody>
      </p:sp>
      <p:sp>
        <p:nvSpPr>
          <p:cNvPr id="5" name="Text 3"/>
          <p:cNvSpPr txBox="1"/>
          <p:nvPr/>
        </p:nvSpPr>
        <p:spPr>
          <a:xfrm>
            <a:off x="566928" y="1298448"/>
            <a:ext cx="5623560" cy="731520"/>
          </a:xfrm>
          <a:prstGeom prst="rect">
            <a:avLst/>
          </a:prstGeom>
          <a:noFill/>
          <a:ln/>
        </p:spPr>
        <p:txBody>
          <a:bodyPr wrap="square" lIns="0" tIns="0" rIns="0" bIns="0" rtlCol="0" anchor="ctr"/>
          <a:lstStyle/>
          <a:p>
            <a:pPr indent="0" marL="0">
              <a:lnSpc>
                <a:spcPts val="1800"/>
              </a:lnSpc>
              <a:buNone/>
            </a:pPr>
            <a:r>
              <a:rPr lang="en-US" sz="1250" dirty="0">
                <a:solidFill>
                  <a:srgbClr val="5F5C55"/>
                </a:solidFill>
                <a:latin typeface="Calibri" pitchFamily="34" charset="0"/>
                <a:ea typeface="Calibri" pitchFamily="34" charset="-122"/>
                <a:cs typeface="Calibri" pitchFamily="34" charset="-120"/>
              </a:rPr>
              <a:t>A web application built directly on the accounting grid. Every coefficient is read from the workbook at load, so the tool cannot drift from its source.</a:t>
            </a:r>
            <a:endParaRPr lang="en-US" sz="1250" dirty="0"/>
          </a:p>
        </p:txBody>
      </p:sp>
      <p:sp>
        <p:nvSpPr>
          <p:cNvPr id="6" name="Shape 4"/>
          <p:cNvSpPr/>
          <p:nvPr/>
        </p:nvSpPr>
        <p:spPr>
          <a:xfrm>
            <a:off x="566928" y="2011680"/>
            <a:ext cx="5623560" cy="1115568"/>
          </a:xfrm>
          <a:prstGeom prst="roundRect">
            <a:avLst>
              <a:gd name="adj" fmla="val 4918"/>
            </a:avLst>
          </a:prstGeom>
          <a:solidFill>
            <a:srgbClr val="F2F0EB"/>
          </a:solidFill>
          <a:ln w="12700">
            <a:solidFill>
              <a:srgbClr val="F2F0EB"/>
            </a:solidFill>
            <a:prstDash val="solid"/>
          </a:ln>
        </p:spPr>
      </p:sp>
      <p:sp>
        <p:nvSpPr>
          <p:cNvPr id="7" name="Text 5"/>
          <p:cNvSpPr txBox="1"/>
          <p:nvPr/>
        </p:nvSpPr>
        <p:spPr>
          <a:xfrm>
            <a:off x="786384" y="2194560"/>
            <a:ext cx="5184648"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WE WENT FURTHER THAN THE BRIEF</a:t>
            </a:r>
            <a:endParaRPr lang="en-US" sz="950" dirty="0"/>
          </a:p>
        </p:txBody>
      </p:sp>
      <p:sp>
        <p:nvSpPr>
          <p:cNvPr id="8" name="Text 6"/>
          <p:cNvSpPr txBox="1"/>
          <p:nvPr/>
        </p:nvSpPr>
        <p:spPr>
          <a:xfrm>
            <a:off x="786384" y="2450592"/>
            <a:ext cx="5184648" cy="603504"/>
          </a:xfrm>
          <a:prstGeom prst="rect">
            <a:avLst/>
          </a:prstGeom>
          <a:noFill/>
          <a:ln/>
        </p:spPr>
        <p:txBody>
          <a:bodyPr wrap="square" lIns="0" tIns="0" rIns="0" bIns="0" rtlCol="0" anchor="ctr"/>
          <a:lstStyle/>
          <a:p>
            <a:pPr indent="0" marL="0">
              <a:lnSpc>
                <a:spcPts val="1500"/>
              </a:lnSpc>
              <a:buNone/>
            </a:pPr>
            <a:r>
              <a:rPr lang="en-US" sz="1100" dirty="0">
                <a:solidFill>
                  <a:srgbClr val="1F1F1E"/>
                </a:solidFill>
                <a:latin typeface="Calibri" pitchFamily="34" charset="0"/>
                <a:ea typeface="Calibri" pitchFamily="34" charset="-122"/>
                <a:cs typeface="Calibri" pitchFamily="34" charset="-120"/>
              </a:rPr>
              <a:t>The brief asks for input mix and energy source. We modelled the process route as well — the technology a stage runs changes the tonne as much as the charge does, and nothing else lets a user see that.</a:t>
            </a:r>
            <a:endParaRPr lang="en-US" sz="1100" dirty="0"/>
          </a:p>
        </p:txBody>
      </p:sp>
      <p:sp>
        <p:nvSpPr>
          <p:cNvPr id="9" name="Text 7"/>
          <p:cNvSpPr txBox="1"/>
          <p:nvPr/>
        </p:nvSpPr>
        <p:spPr>
          <a:xfrm>
            <a:off x="566928" y="3310128"/>
            <a:ext cx="274320" cy="274320"/>
          </a:xfrm>
          <a:prstGeom prst="ellipse">
            <a:avLst/>
          </a:prstGeom>
          <a:solidFill>
            <a:srgbClr val="1F6E9E"/>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 name="Text 8"/>
          <p:cNvSpPr txBox="1"/>
          <p:nvPr/>
        </p:nvSpPr>
        <p:spPr>
          <a:xfrm>
            <a:off x="969264" y="3282696"/>
            <a:ext cx="5221224" cy="219456"/>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48 stages, on or off</a:t>
            </a:r>
            <a:endParaRPr lang="en-US" sz="1200" dirty="0"/>
          </a:p>
        </p:txBody>
      </p:sp>
      <p:sp>
        <p:nvSpPr>
          <p:cNvPr id="11" name="Text 9"/>
          <p:cNvSpPr txBox="1"/>
          <p:nvPr/>
        </p:nvSpPr>
        <p:spPr>
          <a:xfrm>
            <a:off x="969264" y="3502152"/>
            <a:ext cx="5221224" cy="530352"/>
          </a:xfrm>
          <a:prstGeom prst="rect">
            <a:avLst/>
          </a:prstGeom>
          <a:noFill/>
          <a:ln/>
        </p:spPr>
        <p:txBody>
          <a:bodyPr wrap="square" lIns="0" tIns="0" rIns="0" bIns="0" rtlCol="0" anchor="ctr"/>
          <a:lstStyle/>
          <a:p>
            <a:pPr indent="0" marL="0">
              <a:lnSpc>
                <a:spcPts val="1400"/>
              </a:lnSpc>
              <a:buNone/>
            </a:pPr>
            <a:r>
              <a:rPr lang="en-US" sz="1050" dirty="0">
                <a:solidFill>
                  <a:srgbClr val="5F5C55"/>
                </a:solidFill>
                <a:latin typeface="Calibri" pitchFamily="34" charset="0"/>
                <a:ea typeface="Calibri" pitchFamily="34" charset="-122"/>
                <a:cs typeface="Calibri" pitchFamily="34" charset="-120"/>
              </a:rPr>
              <a:t>Any step can be taken out of the route; the tonne recomputes without it.</a:t>
            </a:r>
            <a:endParaRPr lang="en-US" sz="1050" dirty="0"/>
          </a:p>
        </p:txBody>
      </p:sp>
      <p:sp>
        <p:nvSpPr>
          <p:cNvPr id="12" name="Text 10"/>
          <p:cNvSpPr txBox="1"/>
          <p:nvPr/>
        </p:nvSpPr>
        <p:spPr>
          <a:xfrm>
            <a:off x="566928" y="4059936"/>
            <a:ext cx="274320" cy="274320"/>
          </a:xfrm>
          <a:prstGeom prst="ellipse">
            <a:avLst/>
          </a:prstGeom>
          <a:solidFill>
            <a:srgbClr val="1F6E9E"/>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1"/>
          <p:cNvSpPr txBox="1"/>
          <p:nvPr/>
        </p:nvSpPr>
        <p:spPr>
          <a:xfrm>
            <a:off x="969264" y="4032504"/>
            <a:ext cx="5221224" cy="219456"/>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24 interchangeable technologies</a:t>
            </a:r>
            <a:endParaRPr lang="en-US" sz="1200" dirty="0"/>
          </a:p>
        </p:txBody>
      </p:sp>
      <p:sp>
        <p:nvSpPr>
          <p:cNvPr id="14" name="Text 12"/>
          <p:cNvSpPr txBox="1"/>
          <p:nvPr/>
        </p:nvSpPr>
        <p:spPr>
          <a:xfrm>
            <a:off x="969264" y="4251960"/>
            <a:ext cx="5221224" cy="530352"/>
          </a:xfrm>
          <a:prstGeom prst="rect">
            <a:avLst/>
          </a:prstGeom>
          <a:noFill/>
          <a:ln/>
        </p:spPr>
        <p:txBody>
          <a:bodyPr wrap="square" lIns="0" tIns="0" rIns="0" bIns="0" rtlCol="0" anchor="ctr"/>
          <a:lstStyle/>
          <a:p>
            <a:pPr indent="0" marL="0">
              <a:lnSpc>
                <a:spcPts val="1400"/>
              </a:lnSpc>
              <a:buNone/>
            </a:pPr>
            <a:r>
              <a:rPr lang="en-US" sz="1050" dirty="0">
                <a:solidFill>
                  <a:srgbClr val="5F5C55"/>
                </a:solidFill>
                <a:latin typeface="Calibri" pitchFamily="34" charset="0"/>
                <a:ea typeface="Calibri" pitchFamily="34" charset="-122"/>
                <a:cs typeface="Calibri" pitchFamily="34" charset="-120"/>
              </a:rPr>
              <a:t>Five stages carry real alternatives — 6 melting routes, 4 decarburisation, 4 refining, 8 casting, 2 inspection.</a:t>
            </a:r>
            <a:endParaRPr lang="en-US" sz="1050" dirty="0"/>
          </a:p>
        </p:txBody>
      </p:sp>
      <p:sp>
        <p:nvSpPr>
          <p:cNvPr id="15" name="Text 13"/>
          <p:cNvSpPr txBox="1"/>
          <p:nvPr/>
        </p:nvSpPr>
        <p:spPr>
          <a:xfrm>
            <a:off x="566928" y="4809744"/>
            <a:ext cx="274320" cy="274320"/>
          </a:xfrm>
          <a:prstGeom prst="ellipse">
            <a:avLst/>
          </a:prstGeom>
          <a:solidFill>
            <a:srgbClr val="1F6E9E"/>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6" name="Text 14"/>
          <p:cNvSpPr txBox="1"/>
          <p:nvPr/>
        </p:nvSpPr>
        <p:spPr>
          <a:xfrm>
            <a:off x="969264" y="4782312"/>
            <a:ext cx="5221224" cy="219456"/>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Split a stage between two</a:t>
            </a:r>
            <a:endParaRPr lang="en-US" sz="1200" dirty="0"/>
          </a:p>
        </p:txBody>
      </p:sp>
      <p:sp>
        <p:nvSpPr>
          <p:cNvPr id="17" name="Text 15"/>
          <p:cNvSpPr txBox="1"/>
          <p:nvPr/>
        </p:nvSpPr>
        <p:spPr>
          <a:xfrm>
            <a:off x="969264" y="5001768"/>
            <a:ext cx="5221224" cy="530352"/>
          </a:xfrm>
          <a:prstGeom prst="rect">
            <a:avLst/>
          </a:prstGeom>
          <a:noFill/>
          <a:ln/>
        </p:spPr>
        <p:txBody>
          <a:bodyPr wrap="square" lIns="0" tIns="0" rIns="0" bIns="0" rtlCol="0" anchor="ctr"/>
          <a:lstStyle/>
          <a:p>
            <a:pPr indent="0" marL="0">
              <a:lnSpc>
                <a:spcPts val="1400"/>
              </a:lnSpc>
              <a:buNone/>
            </a:pPr>
            <a:r>
              <a:rPr lang="en-US" sz="1050" dirty="0">
                <a:solidFill>
                  <a:srgbClr val="5F5C55"/>
                </a:solidFill>
                <a:latin typeface="Calibri" pitchFamily="34" charset="0"/>
                <a:ea typeface="Calibri" pitchFamily="34" charset="-122"/>
                <a:cs typeface="Calibri" pitchFamily="34" charset="-120"/>
              </a:rPr>
              <a:t>Pick more than one and the tonne divides between them, the way a plant running two casters actually does.</a:t>
            </a:r>
            <a:endParaRPr lang="en-US" sz="1050" dirty="0"/>
          </a:p>
        </p:txBody>
      </p:sp>
      <p:sp>
        <p:nvSpPr>
          <p:cNvPr id="18" name="Text 16"/>
          <p:cNvSpPr txBox="1"/>
          <p:nvPr/>
        </p:nvSpPr>
        <p:spPr>
          <a:xfrm>
            <a:off x="566928" y="5559552"/>
            <a:ext cx="274320" cy="274320"/>
          </a:xfrm>
          <a:prstGeom prst="ellipse">
            <a:avLst/>
          </a:prstGeom>
          <a:solidFill>
            <a:srgbClr val="1F6E9E"/>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9" name="Text 17"/>
          <p:cNvSpPr txBox="1"/>
          <p:nvPr/>
        </p:nvSpPr>
        <p:spPr>
          <a:xfrm>
            <a:off x="969264" y="5532120"/>
            <a:ext cx="5221224" cy="219456"/>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Live, mid-drag</a:t>
            </a:r>
            <a:endParaRPr lang="en-US" sz="1200" dirty="0"/>
          </a:p>
        </p:txBody>
      </p:sp>
      <p:sp>
        <p:nvSpPr>
          <p:cNvPr id="20" name="Text 18"/>
          <p:cNvSpPr txBox="1"/>
          <p:nvPr/>
        </p:nvSpPr>
        <p:spPr>
          <a:xfrm>
            <a:off x="969264" y="5751576"/>
            <a:ext cx="5221224" cy="530352"/>
          </a:xfrm>
          <a:prstGeom prst="rect">
            <a:avLst/>
          </a:prstGeom>
          <a:noFill/>
          <a:ln/>
        </p:spPr>
        <p:txBody>
          <a:bodyPr wrap="square" lIns="0" tIns="0" rIns="0" bIns="0" rtlCol="0" anchor="ctr"/>
          <a:lstStyle/>
          <a:p>
            <a:pPr indent="0" marL="0">
              <a:lnSpc>
                <a:spcPts val="1400"/>
              </a:lnSpc>
              <a:buNone/>
            </a:pPr>
            <a:r>
              <a:rPr lang="en-US" sz="1050" dirty="0">
                <a:solidFill>
                  <a:srgbClr val="5F5C55"/>
                </a:solidFill>
                <a:latin typeface="Calibri" pitchFamily="34" charset="0"/>
                <a:ea typeface="Calibri" pitchFamily="34" charset="-122"/>
                <a:cs typeface="Calibri" pitchFamily="34" charset="-120"/>
              </a:rPr>
              <a:t>The route is re-arranged into coefficients and evaluated in the browser, so figures and charts move with the slider — exact to 1×10⁻⁹.</a:t>
            </a:r>
            <a:endParaRPr lang="en-US" sz="1050" dirty="0"/>
          </a:p>
        </p:txBody>
      </p:sp>
      <p:pic>
        <p:nvPicPr>
          <p:cNvPr id="21" name="Image 0" descr="shots/s3_readout.png">    </p:cNvPr>
          <p:cNvPicPr>
            <a:picLocks noChangeAspect="1"/>
          </p:cNvPicPr>
          <p:nvPr/>
        </p:nvPicPr>
        <p:blipFill>
          <a:blip r:embed="rId1"/>
          <a:stretch>
            <a:fillRect/>
          </a:stretch>
        </p:blipFill>
        <p:spPr>
          <a:xfrm>
            <a:off x="6473952" y="1316736"/>
            <a:ext cx="5148072" cy="539496"/>
          </a:xfrm>
          <a:prstGeom prst="rect">
            <a:avLst/>
          </a:prstGeom>
        </p:spPr>
      </p:pic>
      <p:pic>
        <p:nvPicPr>
          <p:cNvPr id="22" name="Image 1" descr="shots/s3_grid.png">    </p:cNvPr>
          <p:cNvPicPr>
            <a:picLocks noChangeAspect="1"/>
          </p:cNvPicPr>
          <p:nvPr/>
        </p:nvPicPr>
        <p:blipFill>
          <a:blip r:embed="rId2"/>
          <a:stretch>
            <a:fillRect/>
          </a:stretch>
        </p:blipFill>
        <p:spPr>
          <a:xfrm>
            <a:off x="6473952" y="2066544"/>
            <a:ext cx="5148072" cy="1755648"/>
          </a:xfrm>
          <a:prstGeom prst="rect">
            <a:avLst/>
          </a:prstGeom>
        </p:spPr>
      </p:pic>
      <p:sp>
        <p:nvSpPr>
          <p:cNvPr id="23" name="Text 19"/>
          <p:cNvSpPr txBox="1"/>
          <p:nvPr/>
        </p:nvSpPr>
        <p:spPr>
          <a:xfrm>
            <a:off x="6473952" y="3895344"/>
            <a:ext cx="5148072" cy="219456"/>
          </a:xfrm>
          <a:prstGeom prst="rect">
            <a:avLst/>
          </a:prstGeom>
          <a:noFill/>
          <a:ln/>
        </p:spPr>
        <p:txBody>
          <a:bodyPr wrap="square" lIns="0" tIns="0" rIns="0" bIns="0" rtlCol="0" anchor="ctr"/>
          <a:lstStyle/>
          <a:p>
            <a:pPr indent="0" marL="0">
              <a:buNone/>
            </a:pPr>
            <a:r>
              <a:rPr lang="en-US" sz="1000" i="1" dirty="0">
                <a:solidFill>
                  <a:srgbClr val="5F5C55"/>
                </a:solidFill>
                <a:latin typeface="Calibri" pitchFamily="34" charset="0"/>
                <a:ea typeface="Calibri" pitchFamily="34" charset="-122"/>
                <a:cs typeface="Calibri" pitchFamily="34" charset="-120"/>
              </a:rPr>
              <a:t>Every row of the result carries its variation and its share of the stage.</a:t>
            </a:r>
            <a:endParaRPr lang="en-US" sz="1000" dirty="0"/>
          </a:p>
        </p:txBody>
      </p:sp>
      <p:sp>
        <p:nvSpPr>
          <p:cNvPr id="24" name="Shape 20"/>
          <p:cNvSpPr/>
          <p:nvPr/>
        </p:nvSpPr>
        <p:spPr>
          <a:xfrm>
            <a:off x="6473952" y="4279392"/>
            <a:ext cx="5148072" cy="1719072"/>
          </a:xfrm>
          <a:prstGeom prst="roundRect">
            <a:avLst>
              <a:gd name="adj" fmla="val 3191"/>
            </a:avLst>
          </a:prstGeom>
          <a:solidFill>
            <a:srgbClr val="F2F0EB"/>
          </a:solidFill>
          <a:ln w="12700">
            <a:solidFill>
              <a:srgbClr val="F2F0EB"/>
            </a:solidFill>
            <a:prstDash val="solid"/>
          </a:ln>
        </p:spPr>
      </p:sp>
      <p:sp>
        <p:nvSpPr>
          <p:cNvPr id="25" name="Text 21"/>
          <p:cNvSpPr txBox="1"/>
          <p:nvPr/>
        </p:nvSpPr>
        <p:spPr>
          <a:xfrm>
            <a:off x="6729984" y="4572000"/>
            <a:ext cx="1517904" cy="475488"/>
          </a:xfrm>
          <a:prstGeom prst="rect">
            <a:avLst/>
          </a:prstGeom>
          <a:noFill/>
          <a:ln/>
        </p:spPr>
        <p:txBody>
          <a:bodyPr wrap="square" lIns="0" tIns="0" rIns="0" bIns="0" rtlCol="0" anchor="ctr"/>
          <a:lstStyle/>
          <a:p>
            <a:pPr indent="0" marL="0">
              <a:buNone/>
            </a:pPr>
            <a:r>
              <a:rPr lang="en-US" sz="2800" dirty="0">
                <a:solidFill>
                  <a:srgbClr val="B24A2C"/>
                </a:solidFill>
                <a:latin typeface="Cambria" pitchFamily="34" charset="0"/>
                <a:ea typeface="Cambria" pitchFamily="34" charset="-122"/>
                <a:cs typeface="Cambria" pitchFamily="34" charset="-120"/>
              </a:rPr>
              <a:t>8</a:t>
            </a:r>
            <a:endParaRPr lang="en-US" sz="2800" dirty="0"/>
          </a:p>
        </p:txBody>
      </p:sp>
      <p:sp>
        <p:nvSpPr>
          <p:cNvPr id="26" name="Text 22"/>
          <p:cNvSpPr txBox="1"/>
          <p:nvPr/>
        </p:nvSpPr>
        <p:spPr>
          <a:xfrm>
            <a:off x="6729984" y="5084064"/>
            <a:ext cx="1517904" cy="877824"/>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departments, raw material to despatch</a:t>
            </a:r>
            <a:endParaRPr lang="en-US" sz="950" dirty="0"/>
          </a:p>
        </p:txBody>
      </p:sp>
      <p:sp>
        <p:nvSpPr>
          <p:cNvPr id="27" name="Text 23"/>
          <p:cNvSpPr txBox="1"/>
          <p:nvPr/>
        </p:nvSpPr>
        <p:spPr>
          <a:xfrm>
            <a:off x="8375904" y="4572000"/>
            <a:ext cx="1517904" cy="475488"/>
          </a:xfrm>
          <a:prstGeom prst="rect">
            <a:avLst/>
          </a:prstGeom>
          <a:noFill/>
          <a:ln/>
        </p:spPr>
        <p:txBody>
          <a:bodyPr wrap="square" lIns="0" tIns="0" rIns="0" bIns="0" rtlCol="0" anchor="ctr"/>
          <a:lstStyle/>
          <a:p>
            <a:pPr indent="0" marL="0">
              <a:buNone/>
            </a:pPr>
            <a:r>
              <a:rPr lang="en-US" sz="2800" dirty="0">
                <a:solidFill>
                  <a:srgbClr val="B24A2C"/>
                </a:solidFill>
                <a:latin typeface="Cambria" pitchFamily="34" charset="0"/>
                <a:ea typeface="Cambria" pitchFamily="34" charset="-122"/>
                <a:cs typeface="Cambria" pitchFamily="34" charset="-120"/>
              </a:rPr>
              <a:t>48</a:t>
            </a:r>
            <a:endParaRPr lang="en-US" sz="2800" dirty="0"/>
          </a:p>
        </p:txBody>
      </p:sp>
      <p:sp>
        <p:nvSpPr>
          <p:cNvPr id="28" name="Text 24"/>
          <p:cNvSpPr txBox="1"/>
          <p:nvPr/>
        </p:nvSpPr>
        <p:spPr>
          <a:xfrm>
            <a:off x="8375904" y="5084064"/>
            <a:ext cx="1517904" cy="877824"/>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process stages, each switchable</a:t>
            </a:r>
            <a:endParaRPr lang="en-US" sz="950" dirty="0"/>
          </a:p>
        </p:txBody>
      </p:sp>
      <p:sp>
        <p:nvSpPr>
          <p:cNvPr id="29" name="Text 25"/>
          <p:cNvSpPr txBox="1"/>
          <p:nvPr/>
        </p:nvSpPr>
        <p:spPr>
          <a:xfrm>
            <a:off x="10021824" y="4572000"/>
            <a:ext cx="1517904" cy="475488"/>
          </a:xfrm>
          <a:prstGeom prst="rect">
            <a:avLst/>
          </a:prstGeom>
          <a:noFill/>
          <a:ln/>
        </p:spPr>
        <p:txBody>
          <a:bodyPr wrap="square" lIns="0" tIns="0" rIns="0" bIns="0" rtlCol="0" anchor="ctr"/>
          <a:lstStyle/>
          <a:p>
            <a:pPr indent="0" marL="0">
              <a:buNone/>
            </a:pPr>
            <a:r>
              <a:rPr lang="en-US" sz="2800" dirty="0">
                <a:solidFill>
                  <a:srgbClr val="B24A2C"/>
                </a:solidFill>
                <a:latin typeface="Cambria" pitchFamily="34" charset="0"/>
                <a:ea typeface="Cambria" pitchFamily="34" charset="-122"/>
                <a:cs typeface="Cambria" pitchFamily="34" charset="-120"/>
              </a:rPr>
              <a:t>24</a:t>
            </a:r>
            <a:endParaRPr lang="en-US" sz="2800" dirty="0"/>
          </a:p>
        </p:txBody>
      </p:sp>
      <p:sp>
        <p:nvSpPr>
          <p:cNvPr id="30" name="Text 26"/>
          <p:cNvSpPr txBox="1"/>
          <p:nvPr/>
        </p:nvSpPr>
        <p:spPr>
          <a:xfrm>
            <a:off x="10021824" y="5084064"/>
            <a:ext cx="1517904" cy="877824"/>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technologies across 5 decision points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384048" cy="384048"/>
          </a:xfrm>
          <a:prstGeom prst="ellipse">
            <a:avLst/>
          </a:prstGeom>
          <a:solidFill>
            <a:srgbClr val="B24A2C"/>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 name="Text 1"/>
          <p:cNvSpPr txBox="1"/>
          <p:nvPr/>
        </p:nvSpPr>
        <p:spPr>
          <a:xfrm>
            <a:off x="1115568" y="365760"/>
            <a:ext cx="10506456" cy="219456"/>
          </a:xfrm>
          <a:prstGeom prst="rect">
            <a:avLst/>
          </a:prstGeom>
          <a:noFill/>
          <a:ln/>
        </p:spPr>
        <p:txBody>
          <a:bodyPr wrap="square" lIns="0" tIns="0" rIns="0" bIns="0" rtlCol="0" anchor="ctr"/>
          <a:lstStyle/>
          <a:p>
            <a:pPr indent="0" marL="0">
              <a:buNone/>
            </a:pPr>
            <a:r>
              <a:rPr lang="en-US" sz="1050" b="1" spc="160" kern="0" dirty="0">
                <a:solidFill>
                  <a:srgbClr val="B24A2C"/>
                </a:solidFill>
                <a:latin typeface="Calibri" pitchFamily="34" charset="0"/>
                <a:ea typeface="Calibri" pitchFamily="34" charset="-122"/>
                <a:cs typeface="Calibri" pitchFamily="34" charset="-120"/>
              </a:rPr>
              <a:t>VALIDATION  ·  FEASIBILITY  ·  ASSUMPTIONS</a:t>
            </a:r>
            <a:endParaRPr lang="en-US" sz="1050" dirty="0"/>
          </a:p>
        </p:txBody>
      </p:sp>
      <p:sp>
        <p:nvSpPr>
          <p:cNvPr id="4" name="Text 2"/>
          <p:cNvSpPr txBox="1"/>
          <p:nvPr/>
        </p:nvSpPr>
        <p:spPr>
          <a:xfrm>
            <a:off x="1115568" y="603504"/>
            <a:ext cx="10506456" cy="475488"/>
          </a:xfrm>
          <a:prstGeom prst="rect">
            <a:avLst/>
          </a:prstGeom>
          <a:noFill/>
          <a:ln/>
        </p:spPr>
        <p:txBody>
          <a:bodyPr wrap="square" lIns="0" tIns="0" rIns="0" bIns="0" rtlCol="0" anchor="ctr"/>
          <a:lstStyle/>
          <a:p>
            <a:pPr indent="0" marL="0">
              <a:buNone/>
            </a:pPr>
            <a:r>
              <a:rPr lang="en-US" sz="2700" dirty="0">
                <a:solidFill>
                  <a:srgbClr val="1F1F1E"/>
                </a:solidFill>
                <a:latin typeface="Cambria" pitchFamily="34" charset="0"/>
                <a:ea typeface="Cambria" pitchFamily="34" charset="-122"/>
                <a:cs typeface="Cambria" pitchFamily="34" charset="-120"/>
              </a:rPr>
              <a:t>What is buildable, not what is imaginable</a:t>
            </a:r>
            <a:endParaRPr lang="en-US" sz="2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316736"/>
          <a:ext cx="6784848" cy="914400"/>
        </p:xfrm>
        <a:graphic>
          <a:graphicData uri="http://schemas.openxmlformats.org/drawingml/2006/table">
            <a:tbl>
              <a:tblPr/>
              <a:tblGrid>
                <a:gridCol w="2066544"/>
                <a:gridCol w="841248"/>
                <a:gridCol w="1042416"/>
                <a:gridCol w="2834640"/>
              </a:tblGrid>
              <a:tr h="310896">
                <a:tc>
                  <a:txBody>
                    <a:bodyPr/>
                    <a:lstStyle/>
                    <a:p>
                      <a:pPr indent="0" marL="0">
                        <a:buNone/>
                      </a:pPr>
                      <a:r>
                        <a:rPr lang="en-US" sz="1050" b="1" dirty="0">
                          <a:solidFill>
                            <a:srgbClr val="1F1F1E"/>
                          </a:solidFill>
                          <a:latin typeface="Calibri" pitchFamily="34" charset="0"/>
                          <a:ea typeface="Calibri" pitchFamily="34" charset="-122"/>
                          <a:cs typeface="Calibri" pitchFamily="34" charset="-120"/>
                        </a:rPr>
                        <a:t>SCENARIO</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F1F1E"/>
                          </a:solidFill>
                          <a:latin typeface="Calibri" pitchFamily="34" charset="0"/>
                          <a:ea typeface="Calibri" pitchFamily="34" charset="-122"/>
                          <a:cs typeface="Calibri" pitchFamily="34" charset="-120"/>
                        </a:rPr>
                        <a:t>tCO₂e/t</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F1F1E"/>
                          </a:solidFill>
                          <a:latin typeface="Calibri" pitchFamily="34" charset="0"/>
                          <a:ea typeface="Calibri" pitchFamily="34" charset="-122"/>
                          <a:cs typeface="Calibri" pitchFamily="34" charset="-120"/>
                        </a:rPr>
                        <a:t>vs DEFAULT</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indent="0" marL="0">
                        <a:buNone/>
                      </a:pPr>
                      <a:r>
                        <a:rPr lang="en-US" sz="1050" b="1" dirty="0">
                          <a:solidFill>
                            <a:srgbClr val="1F1F1E"/>
                          </a:solidFill>
                          <a:latin typeface="Calibri" pitchFamily="34" charset="0"/>
                          <a:ea typeface="Calibri" pitchFamily="34" charset="-122"/>
                          <a:cs typeface="Calibri" pitchFamily="34" charset="-120"/>
                        </a:rPr>
                        <a:t>WHAT IT ASSUMES</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F1F1E"/>
                          </a:solidFill>
                          <a:latin typeface="Calibri" pitchFamily="34" charset="0"/>
                          <a:ea typeface="Calibri" pitchFamily="34" charset="-122"/>
                          <a:cs typeface="Calibri" pitchFamily="34" charset="-120"/>
                        </a:rPr>
                        <a:t>Default route — reference</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1F1E"/>
                          </a:solidFill>
                          <a:latin typeface="Calibri" pitchFamily="34" charset="0"/>
                          <a:ea typeface="Calibri" pitchFamily="34" charset="-122"/>
                          <a:cs typeface="Calibri" pitchFamily="34" charset="-120"/>
                        </a:rPr>
                        <a:t>6.167</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F5C5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indent="0" marL="0">
                        <a:buNone/>
                      </a:pPr>
                      <a:r>
                        <a:rPr lang="en-US" sz="950" dirty="0">
                          <a:solidFill>
                            <a:srgbClr val="5F5C55"/>
                          </a:solidFill>
                          <a:latin typeface="Calibri" pitchFamily="34" charset="0"/>
                          <a:ea typeface="Calibri" pitchFamily="34" charset="-122"/>
                          <a:cs typeface="Calibri" pitchFamily="34" charset="-120"/>
                        </a:rPr>
                        <a:t>40% scrap · grid 0.712 · first-listed technology</a:t>
                      </a:r>
                      <a:endParaRPr lang="en-US" sz="9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F1F1E"/>
                          </a:solidFill>
                          <a:latin typeface="Calibri" pitchFamily="34" charset="0"/>
                          <a:ea typeface="Calibri" pitchFamily="34" charset="-122"/>
                          <a:cs typeface="Calibri" pitchFamily="34" charset="-120"/>
                        </a:rPr>
                        <a:t>Scrap alone, to 76%</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1F1E"/>
                          </a:solidFill>
                          <a:latin typeface="Calibri" pitchFamily="34" charset="0"/>
                          <a:ea typeface="Calibri" pitchFamily="34" charset="-122"/>
                          <a:cs typeface="Calibri" pitchFamily="34" charset="-120"/>
                        </a:rPr>
                        <a:t>4.912</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F5C55"/>
                          </a:solidFill>
                          <a:latin typeface="Calibri" pitchFamily="34" charset="0"/>
                          <a:ea typeface="Calibri" pitchFamily="34" charset="-122"/>
                          <a:cs typeface="Calibri" pitchFamily="34" charset="-120"/>
                        </a:rPr>
                        <a:t>−20.4%</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indent="0" marL="0">
                        <a:buNone/>
                      </a:pPr>
                      <a:r>
                        <a:rPr lang="en-US" sz="950" dirty="0">
                          <a:solidFill>
                            <a:srgbClr val="5F5C55"/>
                          </a:solidFill>
                          <a:latin typeface="Calibri" pitchFamily="34" charset="0"/>
                          <a:ea typeface="Calibri" pitchFamily="34" charset="-122"/>
                          <a:cs typeface="Calibri" pitchFamily="34" charset="-120"/>
                        </a:rPr>
                        <a:t>same grid, same route — the charge lever on its own</a:t>
                      </a:r>
                      <a:endParaRPr lang="en-US" sz="9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F1F1E"/>
                          </a:solidFill>
                          <a:latin typeface="Calibri" pitchFamily="34" charset="0"/>
                          <a:ea typeface="Calibri" pitchFamily="34" charset="-122"/>
                          <a:cs typeface="Calibri" pitchFamily="34" charset="-120"/>
                        </a:rPr>
                        <a:t>Buildable today</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B24A2C"/>
                          </a:solidFill>
                          <a:latin typeface="Calibri" pitchFamily="34" charset="0"/>
                          <a:ea typeface="Calibri" pitchFamily="34" charset="-122"/>
                          <a:cs typeface="Calibri" pitchFamily="34" charset="-120"/>
                        </a:rPr>
                        <a:t>3.498</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B24A2C"/>
                          </a:solidFill>
                          <a:latin typeface="Calibri" pitchFamily="34" charset="0"/>
                          <a:ea typeface="Calibri" pitchFamily="34" charset="-122"/>
                          <a:cs typeface="Calibri" pitchFamily="34" charset="-120"/>
                        </a:rPr>
                        <a:t>−43.3%</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indent="0" marL="0">
                        <a:buNone/>
                      </a:pPr>
                      <a:r>
                        <a:rPr lang="en-US" sz="950" dirty="0">
                          <a:solidFill>
                            <a:srgbClr val="5F5C55"/>
                          </a:solidFill>
                          <a:latin typeface="Calibri" pitchFamily="34" charset="0"/>
                          <a:ea typeface="Calibri" pitchFamily="34" charset="-122"/>
                          <a:cs typeface="Calibri" pitchFamily="34" charset="-120"/>
                        </a:rPr>
                        <a:t>60% scrap · grid 0.439 · coal held ≥45%</a:t>
                      </a:r>
                      <a:endParaRPr lang="en-US" sz="9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F1F1E"/>
                          </a:solidFill>
                          <a:latin typeface="Calibri" pitchFamily="34" charset="0"/>
                          <a:ea typeface="Calibri" pitchFamily="34" charset="-122"/>
                          <a:cs typeface="Calibri" pitchFamily="34" charset="-120"/>
                        </a:rPr>
                        <a:t>Stretch, but reachable</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B24A2C"/>
                          </a:solidFill>
                          <a:latin typeface="Calibri" pitchFamily="34" charset="0"/>
                          <a:ea typeface="Calibri" pitchFamily="34" charset="-122"/>
                          <a:cs typeface="Calibri" pitchFamily="34" charset="-120"/>
                        </a:rPr>
                        <a:t>2.057</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B24A2C"/>
                          </a:solidFill>
                          <a:latin typeface="Calibri" pitchFamily="34" charset="0"/>
                          <a:ea typeface="Calibri" pitchFamily="34" charset="-122"/>
                          <a:cs typeface="Calibri" pitchFamily="34" charset="-120"/>
                        </a:rPr>
                        <a:t>−66.7%</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indent="0" marL="0">
                        <a:buNone/>
                      </a:pPr>
                      <a:r>
                        <a:rPr lang="en-US" sz="950" dirty="0">
                          <a:solidFill>
                            <a:srgbClr val="5F5C55"/>
                          </a:solidFill>
                          <a:latin typeface="Calibri" pitchFamily="34" charset="0"/>
                          <a:ea typeface="Calibri" pitchFamily="34" charset="-122"/>
                          <a:cs typeface="Calibri" pitchFamily="34" charset="-120"/>
                        </a:rPr>
                        <a:t>80% scrap · grid 0.111 · firmed renewables</a:t>
                      </a:r>
                      <a:endParaRPr lang="en-US" sz="9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F1F1E"/>
                          </a:solidFill>
                          <a:latin typeface="Calibri" pitchFamily="34" charset="0"/>
                          <a:ea typeface="Calibri" pitchFamily="34" charset="-122"/>
                          <a:cs typeface="Calibri" pitchFamily="34" charset="-120"/>
                        </a:rPr>
                        <a:t>Theoretical floor</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B24A2C"/>
                          </a:solidFill>
                          <a:latin typeface="Calibri" pitchFamily="34" charset="0"/>
                          <a:ea typeface="Calibri" pitchFamily="34" charset="-122"/>
                          <a:cs typeface="Calibri" pitchFamily="34" charset="-120"/>
                        </a:rPr>
                        <a:t>1.498</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B24A2C"/>
                          </a:solidFill>
                          <a:latin typeface="Calibri" pitchFamily="34" charset="0"/>
                          <a:ea typeface="Calibri" pitchFamily="34" charset="-122"/>
                          <a:cs typeface="Calibri" pitchFamily="34" charset="-120"/>
                        </a:rPr>
                        <a:t>−75.7%</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indent="0" marL="0">
                        <a:buNone/>
                      </a:pPr>
                      <a:r>
                        <a:rPr lang="en-US" sz="950" dirty="0">
                          <a:solidFill>
                            <a:srgbClr val="5F5C55"/>
                          </a:solidFill>
                          <a:latin typeface="Calibri" pitchFamily="34" charset="0"/>
                          <a:ea typeface="Calibri" pitchFamily="34" charset="-122"/>
                          <a:cs typeface="Calibri" pitchFamily="34" charset="-120"/>
                        </a:rPr>
                        <a:t>100% scrap · non-fossil grid · any technology</a:t>
                      </a:r>
                      <a:endParaRPr lang="en-US" sz="9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66928" y="3621024"/>
            <a:ext cx="3246120"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HOW WE KNOW IT IS RIGHT</a:t>
            </a:r>
            <a:endParaRPr lang="en-US" sz="950" dirty="0"/>
          </a:p>
        </p:txBody>
      </p:sp>
      <p:sp>
        <p:nvSpPr>
          <p:cNvPr id="7" name="Text 4"/>
          <p:cNvSpPr txBox="1"/>
          <p:nvPr/>
        </p:nvSpPr>
        <p:spPr>
          <a:xfrm>
            <a:off x="566928" y="3858768"/>
            <a:ext cx="3246120" cy="2286000"/>
          </a:xfrm>
          <a:prstGeom prst="rect">
            <a:avLst/>
          </a:prstGeom>
          <a:noFill/>
          <a:ln/>
        </p:spPr>
        <p:txBody>
          <a:bodyPr wrap="square" lIns="0" tIns="0" rIns="0" bIns="0" rtlCol="0" anchor="ctr"/>
          <a:lstStyle/>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37 automated tests, including a full re-derivation of the workbook totals.</a:t>
            </a:r>
            <a:endParaRPr lang="en-US" sz="1000" dirty="0"/>
          </a:p>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The browser's live model matches the server to 1×10⁻⁹ across four scenarios and every department.</a:t>
            </a:r>
            <a:endParaRPr lang="en-US" sz="1000" dirty="0"/>
          </a:p>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All 65 Scope-2 rows reconcile to their stated kWh and grid factor.</a:t>
            </a:r>
            <a:endParaRPr lang="en-US" sz="1000" dirty="0"/>
          </a:p>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Global warming potentials are IPCC AR5; grid factors are AR5 lifecycle medians.</a:t>
            </a:r>
            <a:endParaRPr lang="en-US" sz="1000" dirty="0"/>
          </a:p>
        </p:txBody>
      </p:sp>
      <p:sp>
        <p:nvSpPr>
          <p:cNvPr id="8" name="Text 5"/>
          <p:cNvSpPr txBox="1"/>
          <p:nvPr/>
        </p:nvSpPr>
        <p:spPr>
          <a:xfrm>
            <a:off x="4105656" y="3621024"/>
            <a:ext cx="3246120"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ASSUMPTIONS &amp; LIMITATIONS</a:t>
            </a:r>
            <a:endParaRPr lang="en-US" sz="950" dirty="0"/>
          </a:p>
        </p:txBody>
      </p:sp>
      <p:sp>
        <p:nvSpPr>
          <p:cNvPr id="9" name="Text 6"/>
          <p:cNvSpPr txBox="1"/>
          <p:nvPr/>
        </p:nvSpPr>
        <p:spPr>
          <a:xfrm>
            <a:off x="4105656" y="3858768"/>
            <a:ext cx="3246120" cy="2286000"/>
          </a:xfrm>
          <a:prstGeom prst="rect">
            <a:avLst/>
          </a:prstGeom>
          <a:noFill/>
          <a:ln/>
        </p:spPr>
        <p:txBody>
          <a:bodyPr wrap="square" lIns="0" tIns="0" rIns="0" bIns="0" rtlCol="0" anchor="ctr"/>
          <a:lstStyle/>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The workbook's gas columns carry Scope 1 only (~10% of the scope total) — we report them as such rather than as a full gas split.</a:t>
            </a:r>
            <a:endParaRPr lang="en-US" sz="1000" dirty="0"/>
          </a:p>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Its electricity intensities are high against public figures (EAF 1,668 kWh/t vs a typical 450–700). Absolute values are therefore indicative; differences between scenarios are robust.</a:t>
            </a:r>
            <a:endParaRPr lang="en-US" sz="1000" dirty="0"/>
          </a:p>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Site profiles in the tool are built from public disclosures, not equipment inventories, and their source-wise grid splits are estimates.</a:t>
            </a:r>
            <a:endParaRPr lang="en-US" sz="1000" dirty="0"/>
          </a:p>
        </p:txBody>
      </p:sp>
      <p:pic>
        <p:nvPicPr>
          <p:cNvPr id="10" name="Image 0" descr="shots/s4_opt.png">    </p:cNvPr>
          <p:cNvPicPr>
            <a:picLocks noChangeAspect="1"/>
          </p:cNvPicPr>
          <p:nvPr/>
        </p:nvPicPr>
        <p:blipFill>
          <a:blip r:embed="rId1"/>
          <a:stretch>
            <a:fillRect/>
          </a:stretch>
        </p:blipFill>
        <p:spPr>
          <a:xfrm>
            <a:off x="7552944" y="1316736"/>
            <a:ext cx="4069080" cy="1051560"/>
          </a:xfrm>
          <a:prstGeom prst="rect">
            <a:avLst/>
          </a:prstGeom>
        </p:spPr>
      </p:pic>
      <p:sp>
        <p:nvSpPr>
          <p:cNvPr id="11" name="Shape 7"/>
          <p:cNvSpPr/>
          <p:nvPr/>
        </p:nvSpPr>
        <p:spPr>
          <a:xfrm>
            <a:off x="7552944" y="2560320"/>
            <a:ext cx="4069080" cy="3218688"/>
          </a:xfrm>
          <a:prstGeom prst="roundRect">
            <a:avLst>
              <a:gd name="adj" fmla="val 1705"/>
            </a:avLst>
          </a:prstGeom>
          <a:solidFill>
            <a:srgbClr val="F2F0EB"/>
          </a:solidFill>
          <a:ln w="12700">
            <a:solidFill>
              <a:srgbClr val="F2F0EB"/>
            </a:solidFill>
            <a:prstDash val="solid"/>
          </a:ln>
        </p:spPr>
      </p:sp>
      <p:sp>
        <p:nvSpPr>
          <p:cNvPr id="12" name="Text 8"/>
          <p:cNvSpPr txBox="1"/>
          <p:nvPr/>
        </p:nvSpPr>
        <p:spPr>
          <a:xfrm>
            <a:off x="7790688" y="2761488"/>
            <a:ext cx="3593592"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WHY THREE LEVELS</a:t>
            </a:r>
            <a:endParaRPr lang="en-US" sz="950" dirty="0"/>
          </a:p>
        </p:txBody>
      </p:sp>
      <p:sp>
        <p:nvSpPr>
          <p:cNvPr id="13" name="Text 9"/>
          <p:cNvSpPr txBox="1"/>
          <p:nvPr/>
        </p:nvSpPr>
        <p:spPr>
          <a:xfrm>
            <a:off x="7790688" y="3017520"/>
            <a:ext cx="3593592" cy="2286000"/>
          </a:xfrm>
          <a:prstGeom prst="rect">
            <a:avLst/>
          </a:prstGeom>
          <a:noFill/>
          <a:ln/>
        </p:spPr>
        <p:txBody>
          <a:bodyPr wrap="square" lIns="0" tIns="0" rIns="0" bIns="0" rtlCol="0" anchor="ctr"/>
          <a:lstStyle/>
          <a:p>
            <a:pPr indent="0" marL="0">
              <a:lnSpc>
                <a:spcPts val="1500"/>
              </a:lnSpc>
              <a:buNone/>
            </a:pPr>
            <a:r>
              <a:rPr lang="en-US" sz="1050" dirty="0">
                <a:solidFill>
                  <a:srgbClr val="5F5C55"/>
                </a:solidFill>
                <a:latin typeface="Calibri" pitchFamily="34" charset="0"/>
                <a:ea typeface="Calibri" pitchFamily="34" charset="-122"/>
                <a:cs typeface="Calibri" pitchFamily="34" charset="-120"/>
              </a:rPr>
              <a:t>An unbounded search lands on 100% scrap and a 100% wind grid and tells the plant nothing. Each level carries its own explicit limits — a coal floor because the grid a plant is connected to is coal-fired, a scrap cap because stainless needs virgin chromium and nickel, and no vacuum or remelting routes, which carry a negligible share of world tonnage. The tool states the reasoning for every limit on screen.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F1E"/>
        </a:solidFill>
      </p:bgPr>
    </p:bg>
    <p:spTree>
      <p:nvGrpSpPr>
        <p:cNvPr id="1" name=""/>
        <p:cNvGrpSpPr/>
        <p:nvPr/>
      </p:nvGrpSpPr>
      <p:grpSpPr>
        <a:xfrm>
          <a:off x="0" y="0"/>
          <a:ext cx="0" cy="0"/>
          <a:chOff x="0" y="0"/>
          <a:chExt cx="0" cy="0"/>
        </a:xfrm>
      </p:grpSpPr>
      <p:sp>
        <p:nvSpPr>
          <p:cNvPr id="2" name="Text 0"/>
          <p:cNvSpPr txBox="1"/>
          <p:nvPr/>
        </p:nvSpPr>
        <p:spPr>
          <a:xfrm>
            <a:off x="566928" y="384048"/>
            <a:ext cx="384048" cy="384048"/>
          </a:xfrm>
          <a:prstGeom prst="ellipse">
            <a:avLst/>
          </a:prstGeom>
          <a:solidFill>
            <a:srgbClr val="B24A2C"/>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 name="Text 1"/>
          <p:cNvSpPr txBox="1"/>
          <p:nvPr/>
        </p:nvSpPr>
        <p:spPr>
          <a:xfrm>
            <a:off x="1115568" y="365760"/>
            <a:ext cx="10506456" cy="219456"/>
          </a:xfrm>
          <a:prstGeom prst="rect">
            <a:avLst/>
          </a:prstGeom>
          <a:noFill/>
          <a:ln/>
        </p:spPr>
        <p:txBody>
          <a:bodyPr wrap="square" lIns="0" tIns="0" rIns="0" bIns="0" rtlCol="0" anchor="ctr"/>
          <a:lstStyle/>
          <a:p>
            <a:pPr indent="0" marL="0">
              <a:buNone/>
            </a:pPr>
            <a:r>
              <a:rPr lang="en-US" sz="1050" b="1" spc="160" kern="0" dirty="0">
                <a:solidFill>
                  <a:srgbClr val="E0A48C"/>
                </a:solidFill>
                <a:latin typeface="Calibri" pitchFamily="34" charset="0"/>
                <a:ea typeface="Calibri" pitchFamily="34" charset="-122"/>
                <a:cs typeface="Calibri" pitchFamily="34" charset="-120"/>
              </a:rPr>
              <a:t>INNOVATION  ·  DIFFERENTIATION  ·  EXPECTED IMPACT</a:t>
            </a:r>
            <a:endParaRPr lang="en-US" sz="1050" dirty="0"/>
          </a:p>
        </p:txBody>
      </p:sp>
      <p:sp>
        <p:nvSpPr>
          <p:cNvPr id="4" name="Text 2"/>
          <p:cNvSpPr txBox="1"/>
          <p:nvPr/>
        </p:nvSpPr>
        <p:spPr>
          <a:xfrm>
            <a:off x="1115568" y="603504"/>
            <a:ext cx="10506456" cy="475488"/>
          </a:xfrm>
          <a:prstGeom prst="rect">
            <a:avLst/>
          </a:prstGeom>
          <a:noFill/>
          <a:ln/>
        </p:spPr>
        <p:txBody>
          <a:bodyPr wrap="square" lIns="0" tIns="0" rIns="0" bIns="0" rtlCol="0" anchor="ctr"/>
          <a:lstStyle/>
          <a:p>
            <a:pPr indent="0" marL="0">
              <a:buNone/>
            </a:pPr>
            <a:r>
              <a:rPr lang="en-US" sz="2700" dirty="0">
                <a:solidFill>
                  <a:srgbClr val="FFFFFF"/>
                </a:solidFill>
                <a:latin typeface="Cambria" pitchFamily="34" charset="0"/>
                <a:ea typeface="Cambria" pitchFamily="34" charset="-122"/>
                <a:cs typeface="Cambria" pitchFamily="34" charset="-120"/>
              </a:rPr>
              <a:t>What this does that a spreadsheet cannot</a:t>
            </a:r>
            <a:endParaRPr lang="en-US" sz="2700" dirty="0"/>
          </a:p>
        </p:txBody>
      </p:sp>
      <p:sp>
        <p:nvSpPr>
          <p:cNvPr id="5" name="Text 3"/>
          <p:cNvSpPr txBox="1"/>
          <p:nvPr/>
        </p:nvSpPr>
        <p:spPr>
          <a:xfrm>
            <a:off x="566928" y="1389888"/>
            <a:ext cx="5486400" cy="237744"/>
          </a:xfrm>
          <a:prstGeom prst="rect">
            <a:avLst/>
          </a:prstGeom>
          <a:noFill/>
          <a:ln/>
        </p:spPr>
        <p:txBody>
          <a:bodyPr wrap="square" lIns="0" tIns="0" rIns="0" bIns="0" rtlCol="0" anchor="ctr"/>
          <a:lstStyle/>
          <a:p>
            <a:pPr indent="0" marL="0">
              <a:buNone/>
            </a:pPr>
            <a:r>
              <a:rPr lang="en-US" sz="1250" b="1" dirty="0">
                <a:solidFill>
                  <a:srgbClr val="F0C9A8"/>
                </a:solidFill>
                <a:latin typeface="Calibri" pitchFamily="34" charset="0"/>
                <a:ea typeface="Calibri" pitchFamily="34" charset="-122"/>
                <a:cs typeface="Calibri" pitchFamily="34" charset="-120"/>
              </a:rPr>
              <a:t>Live, not lagged</a:t>
            </a:r>
            <a:endParaRPr lang="en-US" sz="1250" dirty="0"/>
          </a:p>
        </p:txBody>
      </p:sp>
      <p:sp>
        <p:nvSpPr>
          <p:cNvPr id="6" name="Text 4"/>
          <p:cNvSpPr txBox="1"/>
          <p:nvPr/>
        </p:nvSpPr>
        <p:spPr>
          <a:xfrm>
            <a:off x="566928" y="1627632"/>
            <a:ext cx="5486400" cy="658368"/>
          </a:xfrm>
          <a:prstGeom prst="rect">
            <a:avLst/>
          </a:prstGeom>
          <a:noFill/>
          <a:ln/>
        </p:spPr>
        <p:txBody>
          <a:bodyPr wrap="square" lIns="0" tIns="0" rIns="0" bIns="0" rtlCol="0" anchor="ctr"/>
          <a:lstStyle/>
          <a:p>
            <a:pPr indent="0" marL="0">
              <a:lnSpc>
                <a:spcPts val="1400"/>
              </a:lnSpc>
              <a:buNone/>
            </a:pPr>
            <a:r>
              <a:rPr lang="en-US" sz="1050" dirty="0">
                <a:solidFill>
                  <a:srgbClr val="A8A49B"/>
                </a:solidFill>
                <a:latin typeface="Calibri" pitchFamily="34" charset="0"/>
                <a:ea typeface="Calibri" pitchFamily="34" charset="-122"/>
                <a:cs typeface="Calibri" pitchFamily="34" charset="-120"/>
              </a:rPr>
              <a:t>The route is re-arranged into coefficients and evaluated in the browser, so figures and charts track the slider mid-drag — exact to 1×10⁻⁹, not an approximation.</a:t>
            </a:r>
            <a:endParaRPr lang="en-US" sz="1050" dirty="0"/>
          </a:p>
        </p:txBody>
      </p:sp>
      <p:sp>
        <p:nvSpPr>
          <p:cNvPr id="7" name="Text 5"/>
          <p:cNvSpPr txBox="1"/>
          <p:nvPr/>
        </p:nvSpPr>
        <p:spPr>
          <a:xfrm>
            <a:off x="566928" y="2450592"/>
            <a:ext cx="5486400" cy="237744"/>
          </a:xfrm>
          <a:prstGeom prst="rect">
            <a:avLst/>
          </a:prstGeom>
          <a:noFill/>
          <a:ln/>
        </p:spPr>
        <p:txBody>
          <a:bodyPr wrap="square" lIns="0" tIns="0" rIns="0" bIns="0" rtlCol="0" anchor="ctr"/>
          <a:lstStyle/>
          <a:p>
            <a:pPr indent="0" marL="0">
              <a:buNone/>
            </a:pPr>
            <a:r>
              <a:rPr lang="en-US" sz="1250" b="1" dirty="0">
                <a:solidFill>
                  <a:srgbClr val="F0C9A8"/>
                </a:solidFill>
                <a:latin typeface="Calibri" pitchFamily="34" charset="0"/>
                <a:ea typeface="Calibri" pitchFamily="34" charset="-122"/>
                <a:cs typeface="Calibri" pitchFamily="34" charset="-120"/>
              </a:rPr>
              <a:t>Feasible, not fantastical</a:t>
            </a:r>
            <a:endParaRPr lang="en-US" sz="1250" dirty="0"/>
          </a:p>
        </p:txBody>
      </p:sp>
      <p:sp>
        <p:nvSpPr>
          <p:cNvPr id="8" name="Text 6"/>
          <p:cNvSpPr txBox="1"/>
          <p:nvPr/>
        </p:nvSpPr>
        <p:spPr>
          <a:xfrm>
            <a:off x="566928" y="2688336"/>
            <a:ext cx="5486400" cy="658368"/>
          </a:xfrm>
          <a:prstGeom prst="rect">
            <a:avLst/>
          </a:prstGeom>
          <a:noFill/>
          <a:ln/>
        </p:spPr>
        <p:txBody>
          <a:bodyPr wrap="square" lIns="0" tIns="0" rIns="0" bIns="0" rtlCol="0" anchor="ctr"/>
          <a:lstStyle/>
          <a:p>
            <a:pPr indent="0" marL="0">
              <a:lnSpc>
                <a:spcPts val="1400"/>
              </a:lnSpc>
              <a:buNone/>
            </a:pPr>
            <a:r>
              <a:rPr lang="en-US" sz="1050" dirty="0">
                <a:solidFill>
                  <a:srgbClr val="A8A49B"/>
                </a:solidFill>
                <a:latin typeface="Calibri" pitchFamily="34" charset="0"/>
                <a:ea typeface="Calibri" pitchFamily="34" charset="-122"/>
                <a:cs typeface="Calibri" pitchFamily="34" charset="-120"/>
              </a:rPr>
              <a:t>Three ambition levels with stated economic and grid limits, so the answer is something a plant can put in a procurement plan.</a:t>
            </a:r>
            <a:endParaRPr lang="en-US" sz="1050" dirty="0"/>
          </a:p>
        </p:txBody>
      </p:sp>
      <p:sp>
        <p:nvSpPr>
          <p:cNvPr id="9" name="Text 7"/>
          <p:cNvSpPr txBox="1"/>
          <p:nvPr/>
        </p:nvSpPr>
        <p:spPr>
          <a:xfrm>
            <a:off x="566928" y="3511296"/>
            <a:ext cx="5486400" cy="237744"/>
          </a:xfrm>
          <a:prstGeom prst="rect">
            <a:avLst/>
          </a:prstGeom>
          <a:noFill/>
          <a:ln/>
        </p:spPr>
        <p:txBody>
          <a:bodyPr wrap="square" lIns="0" tIns="0" rIns="0" bIns="0" rtlCol="0" anchor="ctr"/>
          <a:lstStyle/>
          <a:p>
            <a:pPr indent="0" marL="0">
              <a:buNone/>
            </a:pPr>
            <a:r>
              <a:rPr lang="en-US" sz="1250" b="1" dirty="0">
                <a:solidFill>
                  <a:srgbClr val="F0C9A8"/>
                </a:solidFill>
                <a:latin typeface="Calibri" pitchFamily="34" charset="0"/>
                <a:ea typeface="Calibri" pitchFamily="34" charset="-122"/>
                <a:cs typeface="Calibri" pitchFamily="34" charset="-120"/>
              </a:rPr>
              <a:t>Scenario against scenario</a:t>
            </a:r>
            <a:endParaRPr lang="en-US" sz="1250" dirty="0"/>
          </a:p>
        </p:txBody>
      </p:sp>
      <p:sp>
        <p:nvSpPr>
          <p:cNvPr id="10" name="Text 8"/>
          <p:cNvSpPr txBox="1"/>
          <p:nvPr/>
        </p:nvSpPr>
        <p:spPr>
          <a:xfrm>
            <a:off x="566928" y="3749040"/>
            <a:ext cx="5486400" cy="658368"/>
          </a:xfrm>
          <a:prstGeom prst="rect">
            <a:avLst/>
          </a:prstGeom>
          <a:noFill/>
          <a:ln/>
        </p:spPr>
        <p:txBody>
          <a:bodyPr wrap="square" lIns="0" tIns="0" rIns="0" bIns="0" rtlCol="0" anchor="ctr"/>
          <a:lstStyle/>
          <a:p>
            <a:pPr indent="0" marL="0">
              <a:lnSpc>
                <a:spcPts val="1400"/>
              </a:lnSpc>
              <a:buNone/>
            </a:pPr>
            <a:r>
              <a:rPr lang="en-US" sz="1050" dirty="0">
                <a:solidFill>
                  <a:srgbClr val="A8A49B"/>
                </a:solidFill>
                <a:latin typeface="Calibri" pitchFamily="34" charset="0"/>
                <a:ea typeface="Calibri" pitchFamily="34" charset="-122"/>
                <a:cs typeface="Calibri" pitchFamily="34" charset="-120"/>
              </a:rPr>
              <a:t>Any two configurations compared side by side — baseline, the live plant, or two of the user's own — with per-scope deltas.</a:t>
            </a:r>
            <a:endParaRPr lang="en-US" sz="1050" dirty="0"/>
          </a:p>
        </p:txBody>
      </p:sp>
      <p:sp>
        <p:nvSpPr>
          <p:cNvPr id="11" name="Text 9"/>
          <p:cNvSpPr txBox="1"/>
          <p:nvPr/>
        </p:nvSpPr>
        <p:spPr>
          <a:xfrm>
            <a:off x="566928" y="4572000"/>
            <a:ext cx="5486400" cy="237744"/>
          </a:xfrm>
          <a:prstGeom prst="rect">
            <a:avLst/>
          </a:prstGeom>
          <a:noFill/>
          <a:ln/>
        </p:spPr>
        <p:txBody>
          <a:bodyPr wrap="square" lIns="0" tIns="0" rIns="0" bIns="0" rtlCol="0" anchor="ctr"/>
          <a:lstStyle/>
          <a:p>
            <a:pPr indent="0" marL="0">
              <a:buNone/>
            </a:pPr>
            <a:r>
              <a:rPr lang="en-US" sz="1250" b="1" dirty="0">
                <a:solidFill>
                  <a:srgbClr val="F0C9A8"/>
                </a:solidFill>
                <a:latin typeface="Calibri" pitchFamily="34" charset="0"/>
                <a:ea typeface="Calibri" pitchFamily="34" charset="-122"/>
                <a:cs typeface="Calibri" pitchFamily="34" charset="-120"/>
              </a:rPr>
              <a:t>Auditable to the row</a:t>
            </a:r>
            <a:endParaRPr lang="en-US" sz="1250" dirty="0"/>
          </a:p>
        </p:txBody>
      </p:sp>
      <p:sp>
        <p:nvSpPr>
          <p:cNvPr id="12" name="Text 10"/>
          <p:cNvSpPr txBox="1"/>
          <p:nvPr/>
        </p:nvSpPr>
        <p:spPr>
          <a:xfrm>
            <a:off x="566928" y="4809744"/>
            <a:ext cx="5486400" cy="658368"/>
          </a:xfrm>
          <a:prstGeom prst="rect">
            <a:avLst/>
          </a:prstGeom>
          <a:noFill/>
          <a:ln/>
        </p:spPr>
        <p:txBody>
          <a:bodyPr wrap="square" lIns="0" tIns="0" rIns="0" bIns="0" rtlCol="0" anchor="ctr"/>
          <a:lstStyle/>
          <a:p>
            <a:pPr indent="0" marL="0">
              <a:lnSpc>
                <a:spcPts val="1400"/>
              </a:lnSpc>
              <a:buNone/>
            </a:pPr>
            <a:r>
              <a:rPr lang="en-US" sz="1050" dirty="0">
                <a:solidFill>
                  <a:srgbClr val="A8A49B"/>
                </a:solidFill>
                <a:latin typeface="Calibri" pitchFamily="34" charset="0"/>
                <a:ea typeface="Calibri" pitchFamily="34" charset="-122"/>
                <a:cs typeface="Calibri" pitchFamily="34" charset="-120"/>
              </a:rPr>
              <a:t>Every headline opens into the per-process table and the workbook's own coefficient notes.</a:t>
            </a:r>
            <a:endParaRPr lang="en-US" sz="1050" dirty="0"/>
          </a:p>
        </p:txBody>
      </p:sp>
      <p:pic>
        <p:nvPicPr>
          <p:cNvPr id="13" name="Image 0" descr="shots/s5_cmp.png">    </p:cNvPr>
          <p:cNvPicPr>
            <a:picLocks noChangeAspect="1"/>
          </p:cNvPicPr>
          <p:nvPr/>
        </p:nvPicPr>
        <p:blipFill>
          <a:blip r:embed="rId1"/>
          <a:stretch>
            <a:fillRect/>
          </a:stretch>
        </p:blipFill>
        <p:spPr>
          <a:xfrm>
            <a:off x="6455664" y="1389888"/>
            <a:ext cx="5166360" cy="2066544"/>
          </a:xfrm>
          <a:prstGeom prst="rect">
            <a:avLst/>
          </a:prstGeom>
        </p:spPr>
      </p:pic>
      <p:sp>
        <p:nvSpPr>
          <p:cNvPr id="14" name="Shape 11"/>
          <p:cNvSpPr/>
          <p:nvPr/>
        </p:nvSpPr>
        <p:spPr>
          <a:xfrm>
            <a:off x="6455664" y="3785616"/>
            <a:ext cx="5166360" cy="2029968"/>
          </a:xfrm>
          <a:prstGeom prst="roundRect">
            <a:avLst>
              <a:gd name="adj" fmla="val 2703"/>
            </a:avLst>
          </a:prstGeom>
          <a:solidFill>
            <a:srgbClr val="2B2A27"/>
          </a:solidFill>
          <a:ln w="12700">
            <a:solidFill>
              <a:srgbClr val="2B2A27"/>
            </a:solidFill>
            <a:prstDash val="solid"/>
          </a:ln>
        </p:spPr>
      </p:sp>
      <p:sp>
        <p:nvSpPr>
          <p:cNvPr id="15" name="Text 12"/>
          <p:cNvSpPr txBox="1"/>
          <p:nvPr/>
        </p:nvSpPr>
        <p:spPr>
          <a:xfrm>
            <a:off x="6693408" y="4023360"/>
            <a:ext cx="4690872" cy="201168"/>
          </a:xfrm>
          <a:prstGeom prst="rect">
            <a:avLst/>
          </a:prstGeom>
          <a:noFill/>
          <a:ln/>
        </p:spPr>
        <p:txBody>
          <a:bodyPr wrap="square" lIns="0" tIns="0" rIns="0" bIns="0" rtlCol="0" anchor="ctr"/>
          <a:lstStyle/>
          <a:p>
            <a:pPr indent="0" marL="0">
              <a:buNone/>
            </a:pPr>
            <a:r>
              <a:rPr lang="en-US" sz="950" b="1" spc="140" kern="0" dirty="0">
                <a:solidFill>
                  <a:srgbClr val="E0A48C"/>
                </a:solidFill>
                <a:latin typeface="Calibri" pitchFamily="34" charset="0"/>
                <a:ea typeface="Calibri" pitchFamily="34" charset="-122"/>
                <a:cs typeface="Calibri" pitchFamily="34" charset="-120"/>
              </a:rPr>
              <a:t>EXPECTED IMPACT  —  AT 1 Mt OF OUTPUT</a:t>
            </a:r>
            <a:endParaRPr lang="en-US" sz="950" dirty="0"/>
          </a:p>
        </p:txBody>
      </p:sp>
      <p:sp>
        <p:nvSpPr>
          <p:cNvPr id="16" name="Text 13"/>
          <p:cNvSpPr txBox="1"/>
          <p:nvPr/>
        </p:nvSpPr>
        <p:spPr>
          <a:xfrm>
            <a:off x="6693408" y="4370832"/>
            <a:ext cx="1481328" cy="402336"/>
          </a:xfrm>
          <a:prstGeom prst="rect">
            <a:avLst/>
          </a:prstGeom>
          <a:noFill/>
          <a:ln/>
        </p:spPr>
        <p:txBody>
          <a:bodyPr wrap="square" lIns="0" tIns="0" rIns="0" bIns="0" rtlCol="0" anchor="ctr"/>
          <a:lstStyle/>
          <a:p>
            <a:pPr indent="0" marL="0">
              <a:buNone/>
            </a:pPr>
            <a:r>
              <a:rPr lang="en-US" sz="2200" dirty="0">
                <a:solidFill>
                  <a:srgbClr val="F0C9A8"/>
                </a:solidFill>
                <a:latin typeface="Cambria" pitchFamily="34" charset="0"/>
                <a:ea typeface="Cambria" pitchFamily="34" charset="-122"/>
                <a:cs typeface="Cambria" pitchFamily="34" charset="-120"/>
              </a:rPr>
              <a:t>2,669</a:t>
            </a:r>
            <a:endParaRPr lang="en-US" sz="2200" dirty="0"/>
          </a:p>
        </p:txBody>
      </p:sp>
      <p:sp>
        <p:nvSpPr>
          <p:cNvPr id="17" name="Text 14"/>
          <p:cNvSpPr txBox="1"/>
          <p:nvPr/>
        </p:nvSpPr>
        <p:spPr>
          <a:xfrm>
            <a:off x="6693408" y="4809744"/>
            <a:ext cx="1481328" cy="896112"/>
          </a:xfrm>
          <a:prstGeom prst="rect">
            <a:avLst/>
          </a:prstGeom>
          <a:noFill/>
          <a:ln/>
        </p:spPr>
        <p:txBody>
          <a:bodyPr wrap="square" lIns="0" tIns="0" rIns="0" bIns="0" rtlCol="0" anchor="ctr"/>
          <a:lstStyle/>
          <a:p>
            <a:pPr indent="0" marL="0">
              <a:lnSpc>
                <a:spcPts val="1100"/>
              </a:lnSpc>
              <a:buNone/>
            </a:pPr>
            <a:r>
              <a:rPr lang="en-US" sz="850" dirty="0">
                <a:solidFill>
                  <a:srgbClr val="A8A49B"/>
                </a:solidFill>
                <a:latin typeface="Calibri" pitchFamily="34" charset="0"/>
                <a:ea typeface="Calibri" pitchFamily="34" charset="-122"/>
                <a:cs typeface="Calibri" pitchFamily="34" charset="-120"/>
              </a:rPr>
              <a:t>kt CO₂e avoided per year on the buildable path</a:t>
            </a:r>
            <a:endParaRPr lang="en-US" sz="850" dirty="0"/>
          </a:p>
        </p:txBody>
      </p:sp>
      <p:sp>
        <p:nvSpPr>
          <p:cNvPr id="18" name="Text 15"/>
          <p:cNvSpPr txBox="1"/>
          <p:nvPr/>
        </p:nvSpPr>
        <p:spPr>
          <a:xfrm>
            <a:off x="8266176" y="4370832"/>
            <a:ext cx="1481328" cy="402336"/>
          </a:xfrm>
          <a:prstGeom prst="rect">
            <a:avLst/>
          </a:prstGeom>
          <a:noFill/>
          <a:ln/>
        </p:spPr>
        <p:txBody>
          <a:bodyPr wrap="square" lIns="0" tIns="0" rIns="0" bIns="0" rtlCol="0" anchor="ctr"/>
          <a:lstStyle/>
          <a:p>
            <a:pPr indent="0" marL="0">
              <a:buNone/>
            </a:pPr>
            <a:r>
              <a:rPr lang="en-US" sz="2200" dirty="0">
                <a:solidFill>
                  <a:srgbClr val="E8C56A"/>
                </a:solidFill>
                <a:latin typeface="Cambria" pitchFamily="34" charset="0"/>
                <a:ea typeface="Cambria" pitchFamily="34" charset="-122"/>
                <a:cs typeface="Cambria" pitchFamily="34" charset="-120"/>
              </a:rPr>
              <a:t>−18.8%</a:t>
            </a:r>
            <a:endParaRPr lang="en-US" sz="2200" dirty="0"/>
          </a:p>
        </p:txBody>
      </p:sp>
      <p:sp>
        <p:nvSpPr>
          <p:cNvPr id="19" name="Text 16"/>
          <p:cNvSpPr txBox="1"/>
          <p:nvPr/>
        </p:nvSpPr>
        <p:spPr>
          <a:xfrm>
            <a:off x="8266176" y="4809744"/>
            <a:ext cx="1481328" cy="896112"/>
          </a:xfrm>
          <a:prstGeom prst="rect">
            <a:avLst/>
          </a:prstGeom>
          <a:noFill/>
          <a:ln/>
        </p:spPr>
        <p:txBody>
          <a:bodyPr wrap="square" lIns="0" tIns="0" rIns="0" bIns="0" rtlCol="0" anchor="ctr"/>
          <a:lstStyle/>
          <a:p>
            <a:pPr indent="0" marL="0">
              <a:lnSpc>
                <a:spcPts val="1100"/>
              </a:lnSpc>
              <a:buNone/>
            </a:pPr>
            <a:r>
              <a:rPr lang="en-US" sz="850" dirty="0">
                <a:solidFill>
                  <a:srgbClr val="A8A49B"/>
                </a:solidFill>
                <a:latin typeface="Calibri" pitchFamily="34" charset="0"/>
                <a:ea typeface="Calibri" pitchFamily="34" charset="-122"/>
                <a:cs typeface="Calibri" pitchFamily="34" charset="-120"/>
              </a:rPr>
              <a:t>specific energy, 47.4 → 38.5 GJ/t</a:t>
            </a:r>
            <a:endParaRPr lang="en-US" sz="850" dirty="0"/>
          </a:p>
        </p:txBody>
      </p:sp>
      <p:sp>
        <p:nvSpPr>
          <p:cNvPr id="20" name="Text 17"/>
          <p:cNvSpPr txBox="1"/>
          <p:nvPr/>
        </p:nvSpPr>
        <p:spPr>
          <a:xfrm>
            <a:off x="9838944" y="4370832"/>
            <a:ext cx="1481328" cy="402336"/>
          </a:xfrm>
          <a:prstGeom prst="rect">
            <a:avLst/>
          </a:prstGeom>
          <a:noFill/>
          <a:ln/>
        </p:spPr>
        <p:txBody>
          <a:bodyPr wrap="square" lIns="0" tIns="0" rIns="0" bIns="0" rtlCol="0" anchor="ctr"/>
          <a:lstStyle/>
          <a:p>
            <a:pPr indent="0" marL="0">
              <a:buNone/>
            </a:pPr>
            <a:r>
              <a:rPr lang="en-US" sz="2200" dirty="0">
                <a:solidFill>
                  <a:srgbClr val="7FB8DC"/>
                </a:solidFill>
                <a:latin typeface="Cambria" pitchFamily="34" charset="0"/>
                <a:ea typeface="Cambria" pitchFamily="34" charset="-122"/>
                <a:cs typeface="Cambria" pitchFamily="34" charset="-120"/>
              </a:rPr>
              <a:t>−53.7%</a:t>
            </a:r>
            <a:endParaRPr lang="en-US" sz="2200" dirty="0"/>
          </a:p>
        </p:txBody>
      </p:sp>
      <p:sp>
        <p:nvSpPr>
          <p:cNvPr id="21" name="Text 18"/>
          <p:cNvSpPr txBox="1"/>
          <p:nvPr/>
        </p:nvSpPr>
        <p:spPr>
          <a:xfrm>
            <a:off x="9838944" y="4809744"/>
            <a:ext cx="1481328" cy="896112"/>
          </a:xfrm>
          <a:prstGeom prst="rect">
            <a:avLst/>
          </a:prstGeom>
          <a:noFill/>
          <a:ln/>
        </p:spPr>
        <p:txBody>
          <a:bodyPr wrap="square" lIns="0" tIns="0" rIns="0" bIns="0" rtlCol="0" anchor="ctr"/>
          <a:lstStyle/>
          <a:p>
            <a:pPr indent="0" marL="0">
              <a:lnSpc>
                <a:spcPts val="1100"/>
              </a:lnSpc>
              <a:buNone/>
            </a:pPr>
            <a:r>
              <a:rPr lang="en-US" sz="850" dirty="0">
                <a:solidFill>
                  <a:srgbClr val="A8A49B"/>
                </a:solidFill>
                <a:latin typeface="Calibri" pitchFamily="34" charset="0"/>
                <a:ea typeface="Calibri" pitchFamily="34" charset="-122"/>
                <a:cs typeface="Calibri" pitchFamily="34" charset="-120"/>
              </a:rPr>
              <a:t>Scope 2, the largest single component</a:t>
            </a:r>
            <a:endParaRPr lang="en-US" sz="850" dirty="0"/>
          </a:p>
        </p:txBody>
      </p:sp>
      <p:sp>
        <p:nvSpPr>
          <p:cNvPr id="22" name="Text 19"/>
          <p:cNvSpPr txBox="1"/>
          <p:nvPr/>
        </p:nvSpPr>
        <p:spPr>
          <a:xfrm>
            <a:off x="566928" y="6053328"/>
            <a:ext cx="5486400" cy="219456"/>
          </a:xfrm>
          <a:prstGeom prst="rect">
            <a:avLst/>
          </a:prstGeom>
          <a:noFill/>
          <a:ln/>
        </p:spPr>
        <p:txBody>
          <a:bodyPr wrap="square" lIns="0" tIns="0" rIns="0" bIns="0" rtlCol="0" anchor="ctr"/>
          <a:lstStyle/>
          <a:p>
            <a:pPr indent="0" marL="0">
              <a:buNone/>
            </a:pPr>
            <a:r>
              <a:rPr lang="en-US" sz="900" i="1" dirty="0">
                <a:solidFill>
                  <a:srgbClr val="6E6A62"/>
                </a:solidFill>
                <a:latin typeface="Calibri" pitchFamily="34" charset="0"/>
                <a:ea typeface="Calibri" pitchFamily="34" charset="-122"/>
                <a:cs typeface="Calibri" pitchFamily="34" charset="-120"/>
              </a:rPr>
              <a:t>Built on the supplied workbook · Streamlit · open to any plant configuration</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CarbonSpark — Problem Statement 3</dc:title>
  <dc:subject>PptxGenJS Presentation</dc:subject>
  <dc:creator>CarbonSpark</dc:creator>
  <cp:lastModifiedBy>CarbonSpark</cp:lastModifiedBy>
  <cp:revision>1</cp:revision>
  <dcterms:created xsi:type="dcterms:W3CDTF">2026-09-11T17:53:34Z</dcterms:created>
  <dcterms:modified xsi:type="dcterms:W3CDTF">2026-09-11T17:53:34Z</dcterms:modified>
</cp:coreProperties>
</file>