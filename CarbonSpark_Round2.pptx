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1F1E"/>
                </a:solidFill>
                <a:latin typeface="Calibri"/>
              </a:defRPr>
            </a:pPr>
            <a:r>
              <a:rPr sz="1100" b="0" i="0" u="none" strike="noStrike">
                <a:solidFill>
                  <a:srgbClr val="1F1F1E"/>
                </a:solidFill>
                <a:latin typeface="Calibri"/>
              </a:rPr>
              <a:t>tCO₂e per tonne, by department</a:t>
            </a:r>
          </a:p>
        </c:rich>
      </c:tx>
      <c:layout/>
      <c:overlay val="0"/>
    </c:title>
    <c:autoTitleDeleted val="0"/>
    <c:plotArea>
      <c:layout/>
      <c:barChart>
        <c:barDir val="bar"/>
        <c:grouping val="clustered"/>
        <c:varyColors val="0"/>
        <c:ser>
          <c:idx val="0"/>
          <c:order val="0"/>
          <c:tx>
            <c:strRef>
              <c:f>Sheet1!$B$1</c:f>
              <c:strCache>
                <c:ptCount val="1"/>
                <c:pt idx="0">
                  <c:v>tCO₂e/t</c:v>
                </c:pt>
              </c:strCache>
            </c:strRef>
          </c:tx>
          <c:spPr>
            <a:solidFill>
              <a:srgbClr val="B24A2C"/>
            </a:solidFill>
            <a:effectLst/>
          </c:spPr>
          <c:invertIfNegative val="0"/>
          <c:dLbls>
            <c:numFmt formatCode="0.000" sourceLinked="0"/>
            <c:txPr>
              <a:bodyPr/>
              <a:lstStyle/>
              <a:p>
                <a:pPr>
                  <a:defRPr b="0" i="0" strike="noStrike" sz="900" u="none">
                    <a:solidFill>
                      <a:srgbClr val="1F1F1E"/>
                    </a:solidFill>
                    <a:latin typeface="Arial"/>
                  </a:defRPr>
                </a:pPr>
              </a:p>
            </c:txPr>
            <c:showLegendKey val="0"/>
            <c:showVal val="1"/>
            <c:showCatName val="0"/>
            <c:showSerName val="0"/>
            <c:showPercent val="0"/>
            <c:showBubbleSize val="0"/>
            <c:showLeaderLines val="0"/>
          </c:dLbls>
          <c:cat>
            <c:multiLvlStrRef>
              <c:f>Sheet1!$A$2:$A$9</c:f>
              <c:multiLvlStrCache>
                <c:ptCount val="8"/>
                <c:lvl>
                  <c:pt idx="0">
                    <c:v>Melt Shop</c:v>
                  </c:pt>
                  <c:pt idx="1">
                    <c:v>Cold Rolling</c:v>
                  </c:pt>
                  <c:pt idx="2">
                    <c:v>Hot Rolling</c:v>
                  </c:pt>
                  <c:pt idx="3">
                    <c:v>Inbound</c:v>
                  </c:pt>
                  <c:pt idx="4">
                    <c:v>Outbound</c:v>
                  </c:pt>
                  <c:pt idx="5">
                    <c:v>Annealing</c:v>
                  </c:pt>
                  <c:pt idx="6">
                    <c:v>Pickling</c:v>
                  </c:pt>
                  <c:pt idx="7">
                    <c:v>Descaling</c:v>
                  </c:pt>
                </c:lvl>
              </c:multiLvlStrCache>
            </c:multiLvlStrRef>
          </c:cat>
          <c:val>
            <c:numRef>
              <c:f>Sheet1!$B$2:$B$9</c:f>
              <c:numCache>
                <c:formatCode>General</c:formatCode>
                <c:ptCount val="8"/>
                <c:pt idx="0">
                  <c:v>2.037</c:v>
                </c:pt>
                <c:pt idx="1">
                  <c:v>0.254</c:v>
                </c:pt>
                <c:pt idx="2">
                  <c:v>0.2</c:v>
                </c:pt>
                <c:pt idx="3">
                  <c:v>0.112</c:v>
                </c:pt>
                <c:pt idx="4">
                  <c:v>0.085</c:v>
                </c:pt>
                <c:pt idx="5">
                  <c:v>0.084</c:v>
                </c:pt>
                <c:pt idx="6">
                  <c:v>0.072</c:v>
                </c:pt>
                <c:pt idx="7">
                  <c:v>0.043</c:v>
                </c:pt>
              </c:numCache>
            </c:numRef>
          </c:val>
        </c:ser>
        <c:dLbls>
          <c:numFmt formatCode="0.000" sourceLinked="0"/>
          <c:txPr>
            <a:bodyPr/>
            <a:lstStyle/>
            <a:p>
              <a:pPr>
                <a:defRPr b="0" i="0" strike="noStrike" sz="900" u="none">
                  <a:solidFill>
                    <a:srgbClr val="1F1F1E"/>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F5C55"/>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F1F1E"/>
                </a:solidFill>
                <a:latin typeface="Calibri"/>
              </a:defRPr>
            </a:pPr>
            <a:r>
              <a:rPr sz="1050" b="0" i="0" u="none" strike="noStrike">
                <a:solidFill>
                  <a:srgbClr val="1F1F1E"/>
                </a:solidFill>
                <a:latin typeface="Calibri"/>
              </a:rPr>
              <a:t>Scrap share → tCO₂e/t (Jajpur route, grid held)</a:t>
            </a:r>
          </a:p>
        </c:rich>
      </c:tx>
      <c:layout/>
      <c:overlay val="0"/>
    </c:title>
    <c:autoTitleDeleted val="0"/>
    <c:plotArea>
      <c:layout/>
      <c:lineChart>
        <c:varyColors val="0"/>
        <c:ser>
          <c:idx val="0"/>
          <c:order val="0"/>
          <c:tx>
            <c:strRef>
              <c:f>Sheet1!$B$1</c:f>
              <c:strCache>
                <c:ptCount val="1"/>
                <c:pt idx="0">
                  <c:v>Jajpur</c:v>
                </c:pt>
              </c:strCache>
            </c:strRef>
          </c:tx>
          <c:spPr>
            <a:solidFill>
              <a:srgbClr val="B24A2C"/>
            </a:solidFill>
            <a:ln w="31750" cap="flat">
              <a:solidFill>
                <a:srgbClr val="B24A2C"/>
              </a:solidFill>
              <a:prstDash val="solid"/>
              <a:round/>
            </a:ln>
            <a:effectLst/>
          </c:spPr>
          <c:invertIfNegative val="0"/>
          <c:dLbls>
            <c:numFmt formatCode="0.00" sourceLinked="0"/>
            <c:txPr>
              <a:bodyPr/>
              <a:lstStyle/>
              <a:p>
                <a:pPr>
                  <a:defRPr b="0" i="0" strike="noStrike" sz="800" u="none">
                    <a:solidFill>
                      <a:srgbClr val="1F1F1E"/>
                    </a:solidFill>
                    <a:latin typeface="Arial"/>
                  </a:defRPr>
                </a:pPr>
              </a:p>
            </c:txPr>
            <c:dLblPos val="t"/>
            <c:showLegendKey val="0"/>
            <c:showVal val="1"/>
            <c:showCatName val="0"/>
            <c:showSerName val="0"/>
            <c:showPercent val="0"/>
            <c:showBubbleSize val="0"/>
            <c:showLeaderLines val="0"/>
          </c:dLbls>
          <c:marker>
            <c:symbol val="circle"/>
            <c:size val="7"/>
            <c:spPr>
              <a:solidFill>
                <a:srgbClr val="B24A2C"/>
              </a:solidFill>
              <a:ln w="9525" cap="flat">
                <a:solidFill>
                  <a:srgbClr val="B24A2C"/>
                </a:solidFill>
                <a:prstDash val="solid"/>
                <a:round/>
              </a:ln>
              <a:effectLst/>
            </c:spPr>
          </c:marker>
          <c:cat>
            <c:multiLvlStrRef>
              <c:f>Sheet1!$A$2:$A$8</c:f>
              <c:multiLvlStrCache>
                <c:ptCount val="7"/>
                <c:lvl>
                  <c:pt idx="0">
                    <c:v>40%</c:v>
                  </c:pt>
                  <c:pt idx="1">
                    <c:v>50%</c:v>
                  </c:pt>
                  <c:pt idx="2">
                    <c:v>60%</c:v>
                  </c:pt>
                  <c:pt idx="3">
                    <c:v>68%</c:v>
                  </c:pt>
                  <c:pt idx="4">
                    <c:v>75%</c:v>
                  </c:pt>
                  <c:pt idx="5">
                    <c:v>85%</c:v>
                  </c:pt>
                  <c:pt idx="6">
                    <c:v>100%</c:v>
                  </c:pt>
                </c:lvl>
              </c:multiLvlStrCache>
            </c:multiLvlStrRef>
          </c:cat>
          <c:val>
            <c:numRef>
              <c:f>Sheet1!$B$2:$B$8</c:f>
              <c:numCache>
                <c:formatCode>General</c:formatCode>
                <c:ptCount val="7"/>
                <c:pt idx="0">
                  <c:v>3.862</c:v>
                </c:pt>
                <c:pt idx="1">
                  <c:v>3.513</c:v>
                </c:pt>
                <c:pt idx="2">
                  <c:v>3.165</c:v>
                </c:pt>
                <c:pt idx="3">
                  <c:v>2.887</c:v>
                </c:pt>
                <c:pt idx="4">
                  <c:v>2.643</c:v>
                </c:pt>
                <c:pt idx="5">
                  <c:v>2.295</c:v>
                </c:pt>
                <c:pt idx="6">
                  <c:v>1.772</c:v>
                </c:pt>
              </c:numCache>
            </c:numRef>
          </c:val>
          <c:smooth val="0"/>
        </c:ser>
        <c:dLbls>
          <c:numFmt formatCode="0.00" sourceLinked="0"/>
          <c:txPr>
            <a:bodyPr/>
            <a:lstStyle/>
            <a:p>
              <a:pPr>
                <a:defRPr b="0" i="0" strike="noStrike" sz="800" u="none">
                  <a:solidFill>
                    <a:srgbClr val="1F1F1E"/>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5C55"/>
                </a:solidFill>
                <a:latin typeface="Arial"/>
              </a:defRPr>
            </a:pPr>
            <a:endParaRPr lang="en-US"/>
          </a:p>
        </c:txPr>
        <c:crossAx val="2094734552"/>
        <c:crosses val="autoZero"/>
        <c:auto val="1"/>
        <c:lblAlgn val="ctr"/>
        <c:noMultiLvlLbl val="1"/>
      </c:catAx>
      <c:valAx>
        <c:axId val="2094734552"/>
        <c:scaling>
          <c:orientation val="minMax"/>
          <c:max val="4"/>
          <c:min val="1.5"/>
        </c:scaling>
        <c:delete val="0"/>
        <c:axPos val="l"/>
        <c:majorGridlines>
          <c:spPr>
            <a:ln w="6350" cap="flat">
              <a:solidFill>
                <a:srgbClr val="E2DE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5C5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F1F1E"/>
                </a:solidFill>
                <a:latin typeface="Calibri"/>
              </a:defRPr>
            </a:pPr>
            <a:r>
              <a:rPr sz="1050" b="0" i="0" u="none" strike="noStrike">
                <a:solidFill>
                  <a:srgbClr val="1F1F1E"/>
                </a:solidFill>
                <a:latin typeface="Calibri"/>
              </a:rPr>
              <a:t>Each lever alone, within buildable limits (t/t)</a:t>
            </a:r>
          </a:p>
        </c:rich>
      </c:tx>
      <c:layout/>
      <c:overlay val="0"/>
    </c:title>
    <c:autoTitleDeleted val="0"/>
    <c:plotArea>
      <c:layout/>
      <c:barChart>
        <c:barDir val="bar"/>
        <c:grouping val="clustered"/>
        <c:varyColors val="0"/>
        <c:ser>
          <c:idx val="0"/>
          <c:order val="0"/>
          <c:tx>
            <c:strRef>
              <c:f>Sheet1!$B$1</c:f>
              <c:strCache>
                <c:ptCount val="1"/>
                <c:pt idx="0">
                  <c:v>saving</c:v>
                </c:pt>
              </c:strCache>
            </c:strRef>
          </c:tx>
          <c:spPr>
            <a:solidFill>
              <a:srgbClr val="1F6E9E"/>
            </a:solidFill>
            <a:effectLst/>
          </c:spPr>
          <c:invertIfNegative val="0"/>
          <c:dLbls>
            <c:numFmt formatCode="0.000" sourceLinked="0"/>
            <c:txPr>
              <a:bodyPr/>
              <a:lstStyle/>
              <a:p>
                <a:pPr>
                  <a:defRPr b="0" i="0" strike="noStrike" sz="900" u="none">
                    <a:solidFill>
                      <a:srgbClr val="1F1F1E"/>
                    </a:solidFill>
                    <a:latin typeface="Arial"/>
                  </a:defRPr>
                </a:pPr>
              </a:p>
            </c:txPr>
            <c:showLegendKey val="0"/>
            <c:showVal val="1"/>
            <c:showCatName val="0"/>
            <c:showSerName val="0"/>
            <c:showPercent val="0"/>
            <c:showBubbleSize val="0"/>
            <c:showLeaderLines val="0"/>
          </c:dLbls>
          <c:cat>
            <c:multiLvlStrRef>
              <c:f>Sheet1!$A$2:$A$5</c:f>
              <c:multiLvlStrCache>
                <c:ptCount val="4"/>
                <c:lvl>
                  <c:pt idx="0">
                    <c:v>Grid electricity</c:v>
                  </c:pt>
                  <c:pt idx="1">
                    <c:v>Scrap in charge</c:v>
                  </c:pt>
                  <c:pt idx="2">
                    <c:v>Process technology</c:v>
                  </c:pt>
                  <c:pt idx="3">
                    <c:v>Rail vs road</c:v>
                  </c:pt>
                </c:lvl>
              </c:multiLvlStrCache>
            </c:multiLvlStrRef>
          </c:cat>
          <c:val>
            <c:numRef>
              <c:f>Sheet1!$B$2:$B$5</c:f>
              <c:numCache>
                <c:formatCode>General</c:formatCode>
                <c:ptCount val="4"/>
                <c:pt idx="0">
                  <c:v>0.352</c:v>
                </c:pt>
                <c:pt idx="1">
                  <c:v>0.244</c:v>
                </c:pt>
                <c:pt idx="2">
                  <c:v>0.04</c:v>
                </c:pt>
                <c:pt idx="3">
                  <c:v>0.008</c:v>
                </c:pt>
              </c:numCache>
            </c:numRef>
          </c:val>
        </c:ser>
        <c:dLbls>
          <c:numFmt formatCode="0.000" sourceLinked="0"/>
          <c:txPr>
            <a:bodyPr/>
            <a:lstStyle/>
            <a:p>
              <a:pPr>
                <a:defRPr b="0" i="0" strike="noStrike" sz="900" u="none">
                  <a:solidFill>
                    <a:srgbClr val="1F1F1E"/>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5F5C55"/>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EDEAE3"/>
                </a:solidFill>
                <a:latin typeface="Calibri"/>
              </a:defRPr>
            </a:pPr>
            <a:r>
              <a:rPr sz="1100" b="0" i="0" u="none" strike="noStrike">
                <a:solidFill>
                  <a:srgbClr val="EDEAE3"/>
                </a:solidFill>
                <a:latin typeface="Calibri"/>
              </a:rPr>
              <a:t>JSL Jajpur, tCO₂e/t by scope</a:t>
            </a:r>
          </a:p>
        </c:rich>
      </c:tx>
      <c:layout/>
      <c:overlay val="0"/>
    </c:title>
    <c:autoTitleDeleted val="0"/>
    <c:plotArea>
      <c:layout/>
      <c:barChart>
        <c:barDir val="col"/>
        <c:grouping val="stacked"/>
        <c:varyColors val="0"/>
        <c:ser>
          <c:idx val="0"/>
          <c:order val="0"/>
          <c:tx>
            <c:strRef>
              <c:f>Sheet1!$B$1</c:f>
              <c:strCache>
                <c:ptCount val="1"/>
                <c:pt idx="0">
                  <c:v>Scope 1 — direct</c:v>
                </c:pt>
              </c:strCache>
            </c:strRef>
          </c:tx>
          <c:spPr>
            <a:solidFill>
              <a:srgbClr val="B24A2C"/>
            </a:solidFill>
            <a:effectLst/>
          </c:spPr>
          <c:invertIfNegative val="0"/>
          <c:dLbls>
            <c:numFmt formatCode="0.0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Round 1 (Grid 4)</c:v>
                  </c:pt>
                  <c:pt idx="1">
                    <c:v>Round 2 (Grid 5)</c:v>
                  </c:pt>
                </c:lvl>
              </c:multiLvlStrCache>
            </c:multiLvlStrRef>
          </c:cat>
          <c:val>
            <c:numRef>
              <c:f>Sheet1!$B$2:$B$3</c:f>
              <c:numCache>
                <c:formatCode>General</c:formatCode>
                <c:ptCount val="2"/>
                <c:pt idx="0">
                  <c:v>0.69</c:v>
                </c:pt>
                <c:pt idx="1">
                  <c:v>0.443</c:v>
                </c:pt>
              </c:numCache>
            </c:numRef>
          </c:val>
        </c:ser>
        <c:ser>
          <c:idx val="1"/>
          <c:order val="1"/>
          <c:tx>
            <c:strRef>
              <c:f>Sheet1!$C$1</c:f>
              <c:strCache>
                <c:ptCount val="1"/>
                <c:pt idx="0">
                  <c:v>Scope 2 — electricity</c:v>
                </c:pt>
              </c:strCache>
            </c:strRef>
          </c:tx>
          <c:spPr>
            <a:solidFill>
              <a:srgbClr val="C9971F"/>
            </a:solidFill>
            <a:effectLst/>
          </c:spPr>
          <c:invertIfNegative val="0"/>
          <c:dLbls>
            <c:numFmt formatCode="0.0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Round 1 (Grid 4)</c:v>
                  </c:pt>
                  <c:pt idx="1">
                    <c:v>Round 2 (Grid 5)</c:v>
                  </c:pt>
                </c:lvl>
              </c:multiLvlStrCache>
            </c:multiLvlStrRef>
          </c:cat>
          <c:val>
            <c:numRef>
              <c:f>Sheet1!$C$2:$C$3</c:f>
              <c:numCache>
                <c:formatCode>General</c:formatCode>
                <c:ptCount val="2"/>
                <c:pt idx="0">
                  <c:v>2.503</c:v>
                </c:pt>
                <c:pt idx="1">
                  <c:v>0.832</c:v>
                </c:pt>
              </c:numCache>
            </c:numRef>
          </c:val>
        </c:ser>
        <c:ser>
          <c:idx val="2"/>
          <c:order val="2"/>
          <c:tx>
            <c:strRef>
              <c:f>Sheet1!$D$1</c:f>
              <c:strCache>
                <c:ptCount val="1"/>
                <c:pt idx="0">
                  <c:v>Scope 3 — upstream</c:v>
                </c:pt>
              </c:strCache>
            </c:strRef>
          </c:tx>
          <c:spPr>
            <a:solidFill>
              <a:srgbClr val="5AA2D0"/>
            </a:solidFill>
            <a:effectLst/>
          </c:spPr>
          <c:invertIfNegative val="0"/>
          <c:dLbls>
            <c:numFmt formatCode="0.0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Round 1 (Grid 4)</c:v>
                  </c:pt>
                  <c:pt idx="1">
                    <c:v>Round 2 (Grid 5)</c:v>
                  </c:pt>
                </c:lvl>
              </c:multiLvlStrCache>
            </c:multiLvlStrRef>
          </c:cat>
          <c:val>
            <c:numRef>
              <c:f>Sheet1!$D$2:$D$3</c:f>
              <c:numCache>
                <c:formatCode>General</c:formatCode>
                <c:ptCount val="2"/>
                <c:pt idx="0">
                  <c:v>1.404</c:v>
                </c:pt>
                <c:pt idx="1">
                  <c:v>1.612</c:v>
                </c:pt>
              </c:numCache>
            </c:numRef>
          </c:val>
        </c:ser>
        <c:dLbls>
          <c:numFmt formatCode="0.0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A8A49B"/>
                </a:solidFill>
                <a:latin typeface="Arial"/>
              </a:defRPr>
            </a:pPr>
            <a:endParaRPr lang="en-US"/>
          </a:p>
        </c:txPr>
        <c:crossAx val="2094734552"/>
        <c:crosses val="autoZero"/>
        <c:auto val="1"/>
        <c:lblAlgn val="ctr"/>
        <c:noMultiLvlLbl val="1"/>
      </c:catAx>
      <c:valAx>
        <c:axId val="2094734552"/>
        <c:scaling>
          <c:orientation val="minMax"/>
          <c:max val="5"/>
        </c:scaling>
        <c:delete val="0"/>
        <c:axPos val="l"/>
        <c:majorGridlines>
          <c:spPr>
            <a:ln w="6350" cap="flat">
              <a:solidFill>
                <a:srgbClr val="3A383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A8A49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A8A49B"/>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EDEAE3"/>
                </a:solidFill>
                <a:latin typeface="Calibri"/>
              </a:defRPr>
            </a:pPr>
            <a:r>
              <a:rPr sz="1100" b="0" i="0" u="none" strike="noStrike">
                <a:solidFill>
                  <a:srgbClr val="EDEAE3"/>
                </a:solidFill>
                <a:latin typeface="Calibri"/>
              </a:rPr>
              <a:t>JSL Jajpur: tCO₂e/t by ambition level</a:t>
            </a:r>
          </a:p>
        </c:rich>
      </c:tx>
      <c:layout/>
      <c:overlay val="0"/>
    </c:title>
    <c:autoTitleDeleted val="0"/>
    <c:plotArea>
      <c:layout/>
      <c:barChart>
        <c:barDir val="col"/>
        <c:grouping val="stacked"/>
        <c:varyColors val="0"/>
        <c:ser>
          <c:idx val="0"/>
          <c:order val="0"/>
          <c:tx>
            <c:strRef>
              <c:f>Sheet1!$B$1</c:f>
              <c:strCache>
                <c:ptCount val="1"/>
                <c:pt idx="0">
                  <c:v>Scope 1</c:v>
                </c:pt>
              </c:strCache>
            </c:strRef>
          </c:tx>
          <c:spPr>
            <a:solidFill>
              <a:srgbClr val="B24A2C"/>
            </a:solidFill>
            <a:effectLst/>
          </c:spPr>
          <c:invertIfNegative val="0"/>
          <c:dLbls>
            <c:numFmt formatCode="0.00" sourceLinked="0"/>
            <c:txPr>
              <a:bodyPr/>
              <a:lstStyle/>
              <a:p>
                <a:pPr>
                  <a:defRPr b="0" i="0" strike="noStrike" sz="85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Today</c:v>
                  </c:pt>
                  <c:pt idx="1">
                    <c:v>Buildable</c:v>
                  </c:pt>
                  <c:pt idx="2">
                    <c:v>Stretch</c:v>
                  </c:pt>
                  <c:pt idx="3">
                    <c:v>Floor</c:v>
                  </c:pt>
                </c:lvl>
              </c:multiLvlStrCache>
            </c:multiLvlStrRef>
          </c:cat>
          <c:val>
            <c:numRef>
              <c:f>Sheet1!$B$2:$B$5</c:f>
              <c:numCache>
                <c:formatCode>General</c:formatCode>
                <c:ptCount val="4"/>
                <c:pt idx="0">
                  <c:v>0.443</c:v>
                </c:pt>
                <c:pt idx="1">
                  <c:v>0.338</c:v>
                </c:pt>
                <c:pt idx="2">
                  <c:v>0.313</c:v>
                </c:pt>
                <c:pt idx="3">
                  <c:v>0.309</c:v>
                </c:pt>
              </c:numCache>
            </c:numRef>
          </c:val>
        </c:ser>
        <c:ser>
          <c:idx val="1"/>
          <c:order val="1"/>
          <c:tx>
            <c:strRef>
              <c:f>Sheet1!$C$1</c:f>
              <c:strCache>
                <c:ptCount val="1"/>
                <c:pt idx="0">
                  <c:v>Scope 2</c:v>
                </c:pt>
              </c:strCache>
            </c:strRef>
          </c:tx>
          <c:spPr>
            <a:solidFill>
              <a:srgbClr val="C9971F"/>
            </a:solidFill>
            <a:effectLst/>
          </c:spPr>
          <c:invertIfNegative val="0"/>
          <c:dLbls>
            <c:numFmt formatCode="0.00" sourceLinked="0"/>
            <c:txPr>
              <a:bodyPr/>
              <a:lstStyle/>
              <a:p>
                <a:pPr>
                  <a:defRPr b="0" i="0" strike="noStrike" sz="85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Today</c:v>
                  </c:pt>
                  <c:pt idx="1">
                    <c:v>Buildable</c:v>
                  </c:pt>
                  <c:pt idx="2">
                    <c:v>Stretch</c:v>
                  </c:pt>
                  <c:pt idx="3">
                    <c:v>Floor</c:v>
                  </c:pt>
                </c:lvl>
              </c:multiLvlStrCache>
            </c:multiLvlStrRef>
          </c:cat>
          <c:val>
            <c:numRef>
              <c:f>Sheet1!$C$2:$C$5</c:f>
              <c:numCache>
                <c:formatCode>General</c:formatCode>
                <c:ptCount val="4"/>
                <c:pt idx="0">
                  <c:v>0.832</c:v>
                </c:pt>
                <c:pt idx="1">
                  <c:v>0.529</c:v>
                </c:pt>
                <c:pt idx="2">
                  <c:v>0.135</c:v>
                </c:pt>
                <c:pt idx="3">
                  <c:v>0.013</c:v>
                </c:pt>
              </c:numCache>
            </c:numRef>
          </c:val>
        </c:ser>
        <c:ser>
          <c:idx val="2"/>
          <c:order val="2"/>
          <c:tx>
            <c:strRef>
              <c:f>Sheet1!$D$1</c:f>
              <c:strCache>
                <c:ptCount val="1"/>
                <c:pt idx="0">
                  <c:v>Scope 3</c:v>
                </c:pt>
              </c:strCache>
            </c:strRef>
          </c:tx>
          <c:spPr>
            <a:solidFill>
              <a:srgbClr val="5AA2D0"/>
            </a:solidFill>
            <a:effectLst/>
          </c:spPr>
          <c:invertIfNegative val="0"/>
          <c:dLbls>
            <c:numFmt formatCode="0.00" sourceLinked="0"/>
            <c:txPr>
              <a:bodyPr/>
              <a:lstStyle/>
              <a:p>
                <a:pPr>
                  <a:defRPr b="0" i="0" strike="noStrike" sz="85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Today</c:v>
                  </c:pt>
                  <c:pt idx="1">
                    <c:v>Buildable</c:v>
                  </c:pt>
                  <c:pt idx="2">
                    <c:v>Stretch</c:v>
                  </c:pt>
                  <c:pt idx="3">
                    <c:v>Floor</c:v>
                  </c:pt>
                </c:lvl>
              </c:multiLvlStrCache>
            </c:multiLvlStrRef>
          </c:cat>
          <c:val>
            <c:numRef>
              <c:f>Sheet1!$D$2:$D$5</c:f>
              <c:numCache>
                <c:formatCode>General</c:formatCode>
                <c:ptCount val="4"/>
                <c:pt idx="0">
                  <c:v>1.612</c:v>
                </c:pt>
                <c:pt idx="1">
                  <c:v>1.38</c:v>
                </c:pt>
                <c:pt idx="2">
                  <c:v>1.065</c:v>
                </c:pt>
                <c:pt idx="3">
                  <c:v>0.578</c:v>
                </c:pt>
              </c:numCache>
            </c:numRef>
          </c:val>
        </c:ser>
        <c:dLbls>
          <c:numFmt formatCode="0.00" sourceLinked="0"/>
          <c:txPr>
            <a:bodyPr/>
            <a:lstStyle/>
            <a:p>
              <a:pPr>
                <a:defRPr b="0" i="0" strike="noStrike" sz="85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A8A49B"/>
                </a:solidFill>
                <a:latin typeface="Arial"/>
              </a:defRPr>
            </a:pPr>
            <a:endParaRPr lang="en-US"/>
          </a:p>
        </c:txPr>
        <c:crossAx val="2094734552"/>
        <c:crosses val="autoZero"/>
        <c:auto val="1"/>
        <c:lblAlgn val="ctr"/>
        <c:noMultiLvlLbl val="1"/>
      </c:catAx>
      <c:valAx>
        <c:axId val="2094734552"/>
        <c:scaling>
          <c:orientation val="minMax"/>
          <c:max val="3"/>
        </c:scaling>
        <c:delete val="0"/>
        <c:axPos val="l"/>
        <c:majorGridlines>
          <c:spPr>
            <a:ln w="6350" cap="flat">
              <a:solidFill>
                <a:srgbClr val="3A383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A8A49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A8A49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Fill in the team name, members and institute in the TEAM line. One sentence to open with: in Round 1 we built a calculator; in Round 2 we made its numbers match what Jindal Stainless actually discloses, and we made it tell a plant what to do next. The three figures on this slide all come from the model running the JSL Jajpur and Hisar profiles.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decision gap. Four choices set the tonne's carbon, and the people who make them can't see the result. All figures are from our model running the JSL Jajpur profile on the recalibrated grid: 2.887 tCO2e/t, 56% of it Scope 3 (the upstream carbon of ferrochrome, nickel and iron units in the charge), 71% of it in the melt shop, about 1,091 kWh per tonne. Then be honest about Round 1: our numbers were too high, and the next two slides show how we found and fixed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Insights come from sweeping the model, not from opinion. Left: holding Jajpur's grid and route fixed, scrap from 40% to 100% takes the tonne from 3.86 to 1.77, a straight line at about 35 kg per percentage point, because Scope 3 of the charge is linear in scrap. Middle: each lever moved on its own to its buildable limit. The grid is the biggest buildable gap (0.352 t/t), then scrap (0.244); technology and rail are small. Third insight is the subtle one: an induction furnace uses more electricity but burns less on site, so it only wins once the grid is clean. Pricing levers independently misses this, which is why the optimiser searches them jointly.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depth-of-analysis slide. In Round 1 we flagged that the workbook's electricity intensities were high; in Round 2 we fixed them. Every coefficient was checked against process literature and JSL's own disclosures, and every row's notes in the workbook record the Grid 4 to Grid 5 change and the reason. Result: Jajpur's electricity drops from 3,283 to 1,091 kWh/t, in line with real melt-to-coil routes, and Scope 1+2 lands at 1.28 against JSL's disclosed 1.76, which also covers captive ferrochrome and captive power that our route does not. Scope 3 went up, not down, because virgin ferroalloys carry more upstream carbon than the old workbook assumed. So scrap now matters more, not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Show the drawer: every input the brief asks for (scrap vs virgin, energy source) plus the ones it doesn't: the rail/road split per leg and the full process route. Round 2 changes for usability: inputs are grouped into three photo-led panels, grid mix and route edits are staged and applied in one step, there's a light and dark theme, and the app opens on a sourced JSL Jajpur profile instead of a blank form. Five views sit behind one navigation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tool becomes a decision aid. The optimiser finds the lowest-carbon plan for the plant on screen, within an ambition level that says what can actually be bought or built. Buildable today keeps coal at 45% or more because the connection is coal-fired, caps scrap at 75% because stainless still needs virgin chromium and nickel, and never proposes vacuum remelting or a blast furnace. The waterfall splits the 0.639 t/t gap into scrap, grid, rail and technology, and the parts add up exactly. Then a written review ranks the actions, names the limits that bind, and says what relaxing each limit is worth. Compare lets a planner test their own alternative against today. The search is exact, not sampled, which is why we can defend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The pipeline is simple on purpose: the workbook is the single source of truth, formulas are kept as text and evaluated through a whitelisted parser, so a plant engineer can change a coefficient in Excel and the tool follows without a code change. 47 automated tests re-derive the workbook totals. Rollout needs no new hardware: Phase 1 swaps our estimates for metered shop-level electricity, the plant's actual PPA and DISCOM factors, and charge-mix records the melt shop already keeps. Phase 2 uses it to decide: size renewable contracts and scrap sourcing, and feed BRSR Core and CBAM reporting. Phase 3 produces per-grade footprints customers can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impact. On the buildable path, only contracts and settings a plant could change within a year, Jajpur falls from 2.887 to 2.248 tCO2e per tonne, 22%. Scaled by modelled capacity (Jajpur about 2.2 Mt, Hisar about 0.8 Mt, together matching JSL's 3 MTPA melt capacity) that's roughly 1.8 Mt CO2e a year. The stretch path, a decade of procurement and scrap-supply work, roughly halves the footprint and gives Net Zero 2050 a concrete intermediate target. The carbon price is illustrative only, to show how the tool turns carbon into money. Invite the judges to open the tool and change any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C1B"/>
        </a:solidFill>
      </p:bgPr>
    </p:bg>
    <p:spTree>
      <p:nvGrpSpPr>
        <p:cNvPr id="1" name=""/>
        <p:cNvGrpSpPr/>
        <p:nvPr/>
      </p:nvGrpSpPr>
      <p:grpSpPr>
        <a:xfrm>
          <a:off x="0" y="0"/>
          <a:ext cx="0" cy="0"/>
          <a:chOff x="0" y="0"/>
          <a:chExt cx="0" cy="0"/>
        </a:xfrm>
      </p:grpSpPr>
      <p:sp>
        <p:nvSpPr>
          <p:cNvPr id="2" name="Text 0"/>
          <p:cNvSpPr txBox="1"/>
          <p:nvPr/>
        </p:nvSpPr>
        <p:spPr>
          <a:xfrm>
            <a:off x="548640" y="502920"/>
            <a:ext cx="10972800" cy="274320"/>
          </a:xfrm>
          <a:prstGeom prst="rect">
            <a:avLst/>
          </a:prstGeom>
          <a:noFill/>
          <a:ln/>
        </p:spPr>
        <p:txBody>
          <a:bodyPr wrap="square" lIns="0" tIns="0" rIns="0" bIns="0" rtlCol="0" anchor="ctr"/>
          <a:lstStyle/>
          <a:p>
            <a:pPr indent="0" marL="0">
              <a:buNone/>
            </a:pPr>
            <a:r>
              <a:rPr lang="en-US" sz="1100" b="1" spc="150" kern="0" dirty="0">
                <a:solidFill>
                  <a:srgbClr val="E08A63"/>
                </a:solidFill>
                <a:latin typeface="Calibri" pitchFamily="34" charset="0"/>
                <a:ea typeface="Calibri" pitchFamily="34" charset="-122"/>
                <a:cs typeface="Calibri" pitchFamily="34" charset="-120"/>
              </a:rPr>
              <a:t>JINDAL STAINLESS · ENGINEERING CASE STUDY COMPETITION 2026 · ROUND 2</a:t>
            </a:r>
            <a:endParaRPr lang="en-US" sz="1100" dirty="0"/>
          </a:p>
        </p:txBody>
      </p:sp>
      <p:sp>
        <p:nvSpPr>
          <p:cNvPr id="3" name="Text 1"/>
          <p:cNvSpPr txBox="1"/>
          <p:nvPr/>
        </p:nvSpPr>
        <p:spPr>
          <a:xfrm>
            <a:off x="548640" y="960120"/>
            <a:ext cx="5486400" cy="1005840"/>
          </a:xfrm>
          <a:prstGeom prst="rect">
            <a:avLst/>
          </a:prstGeom>
          <a:noFill/>
          <a:ln/>
        </p:spPr>
        <p:txBody>
          <a:bodyPr wrap="square" lIns="0" tIns="0" rIns="0" bIns="0" rtlCol="0" anchor="ctr"/>
          <a:lstStyle/>
          <a:p>
            <a:pPr indent="0" marL="0">
              <a:buNone/>
            </a:pPr>
            <a:r>
              <a:rPr lang="en-US" sz="6400" dirty="0">
                <a:solidFill>
                  <a:srgbClr val="EDEAE3"/>
                </a:solidFill>
                <a:latin typeface="Cambria" pitchFamily="34" charset="0"/>
                <a:ea typeface="Cambria" pitchFamily="34" charset="-122"/>
                <a:cs typeface="Cambria" pitchFamily="34" charset="-120"/>
              </a:rPr>
              <a:t>Carbon</a:t>
            </a:r>
            <a:pPr indent="0" marL="0">
              <a:buNone/>
            </a:pPr>
            <a:r>
              <a:rPr lang="en-US" sz="6400" i="1" dirty="0">
                <a:solidFill>
                  <a:srgbClr val="E08A63"/>
                </a:solidFill>
                <a:latin typeface="Cambria" pitchFamily="34" charset="0"/>
                <a:ea typeface="Cambria" pitchFamily="34" charset="-122"/>
                <a:cs typeface="Cambria" pitchFamily="34" charset="-120"/>
              </a:rPr>
              <a:t>Spark</a:t>
            </a:r>
            <a:endParaRPr lang="en-US" sz="6400" dirty="0"/>
          </a:p>
        </p:txBody>
      </p:sp>
      <p:sp>
        <p:nvSpPr>
          <p:cNvPr id="4" name="Text 2"/>
          <p:cNvSpPr txBox="1"/>
          <p:nvPr/>
        </p:nvSpPr>
        <p:spPr>
          <a:xfrm>
            <a:off x="548640" y="2011680"/>
            <a:ext cx="5486400" cy="365760"/>
          </a:xfrm>
          <a:prstGeom prst="rect">
            <a:avLst/>
          </a:prstGeom>
          <a:noFill/>
          <a:ln/>
        </p:spPr>
        <p:txBody>
          <a:bodyPr wrap="square" lIns="0" tIns="0" rIns="0" bIns="0" rtlCol="0" anchor="ctr"/>
          <a:lstStyle/>
          <a:p>
            <a:pPr indent="0" marL="0">
              <a:buNone/>
            </a:pPr>
            <a:r>
              <a:rPr lang="en-US" sz="1700" dirty="0">
                <a:solidFill>
                  <a:srgbClr val="EDEAE3"/>
                </a:solidFill>
                <a:latin typeface="Cambria" pitchFamily="34" charset="0"/>
                <a:ea typeface="Cambria" pitchFamily="34" charset="-122"/>
                <a:cs typeface="Cambria" pitchFamily="34" charset="-120"/>
              </a:rPr>
              <a:t>Carbon &amp; Energy Calculator for Stainless Steelmaking</a:t>
            </a:r>
            <a:endParaRPr lang="en-US" sz="1700" dirty="0"/>
          </a:p>
        </p:txBody>
      </p:sp>
      <p:sp>
        <p:nvSpPr>
          <p:cNvPr id="5" name="Text 3"/>
          <p:cNvSpPr txBox="1"/>
          <p:nvPr/>
        </p:nvSpPr>
        <p:spPr>
          <a:xfrm>
            <a:off x="548640" y="2560320"/>
            <a:ext cx="5303520" cy="1005840"/>
          </a:xfrm>
          <a:prstGeom prst="rect">
            <a:avLst/>
          </a:prstGeom>
          <a:noFill/>
          <a:ln/>
        </p:spPr>
        <p:txBody>
          <a:bodyPr wrap="square" lIns="0" tIns="0" rIns="0" bIns="0" rtlCol="0" anchor="t"/>
          <a:lstStyle/>
          <a:p>
            <a:pPr indent="0" marL="0">
              <a:buNone/>
            </a:pPr>
            <a:r>
              <a:rPr lang="en-US" sz="1350" dirty="0">
                <a:solidFill>
                  <a:srgbClr val="A8A49B"/>
                </a:solidFill>
                <a:latin typeface="Calibri" pitchFamily="34" charset="0"/>
                <a:ea typeface="Calibri" pitchFamily="34" charset="-122"/>
                <a:cs typeface="Calibri" pitchFamily="34" charset="-120"/>
              </a:rPr>
              <a:t>Problem Statement 3 — Round 1 built the calculator. Round 2 makes it accurate, and makes it decide: a recalibrated model, an exact optimiser, and a side-by-side comparison, all live.</a:t>
            </a:r>
            <a:endParaRPr lang="en-US" sz="1350" dirty="0"/>
          </a:p>
        </p:txBody>
      </p:sp>
      <p:sp>
        <p:nvSpPr>
          <p:cNvPr id="6" name="Shape 4"/>
          <p:cNvSpPr/>
          <p:nvPr/>
        </p:nvSpPr>
        <p:spPr>
          <a:xfrm>
            <a:off x="548640" y="3794760"/>
            <a:ext cx="1691640" cy="1143000"/>
          </a:xfrm>
          <a:prstGeom prst="rect">
            <a:avLst/>
          </a:prstGeom>
          <a:solidFill>
            <a:srgbClr val="2A2927"/>
          </a:solidFill>
          <a:ln w="12700">
            <a:solidFill>
              <a:srgbClr val="3A3835"/>
            </a:solidFill>
            <a:prstDash val="solid"/>
          </a:ln>
        </p:spPr>
      </p:sp>
      <p:sp>
        <p:nvSpPr>
          <p:cNvPr id="7" name="Text 5"/>
          <p:cNvSpPr txBox="1"/>
          <p:nvPr/>
        </p:nvSpPr>
        <p:spPr>
          <a:xfrm>
            <a:off x="676656" y="3886200"/>
            <a:ext cx="1463040" cy="411480"/>
          </a:xfrm>
          <a:prstGeom prst="rect">
            <a:avLst/>
          </a:prstGeom>
          <a:noFill/>
          <a:ln/>
        </p:spPr>
        <p:txBody>
          <a:bodyPr wrap="square" lIns="0" tIns="0" rIns="0" bIns="0" rtlCol="0" anchor="ctr"/>
          <a:lstStyle/>
          <a:p>
            <a:pPr indent="0" marL="0">
              <a:buNone/>
            </a:pPr>
            <a:r>
              <a:rPr lang="en-US" sz="1500" dirty="0">
                <a:solidFill>
                  <a:srgbClr val="E08A63"/>
                </a:solidFill>
                <a:latin typeface="Cambria" pitchFamily="34" charset="0"/>
                <a:ea typeface="Cambria" pitchFamily="34" charset="-122"/>
                <a:cs typeface="Cambria" pitchFamily="34" charset="-120"/>
              </a:rPr>
              <a:t>2.887 → 2.248</a:t>
            </a:r>
            <a:endParaRPr lang="en-US" sz="1500" dirty="0"/>
          </a:p>
        </p:txBody>
      </p:sp>
      <p:sp>
        <p:nvSpPr>
          <p:cNvPr id="8" name="Text 6"/>
          <p:cNvSpPr txBox="1"/>
          <p:nvPr/>
        </p:nvSpPr>
        <p:spPr>
          <a:xfrm>
            <a:off x="676656" y="4315968"/>
            <a:ext cx="1417320" cy="548640"/>
          </a:xfrm>
          <a:prstGeom prst="rect">
            <a:avLst/>
          </a:prstGeom>
          <a:noFill/>
          <a:ln/>
        </p:spPr>
        <p:txBody>
          <a:bodyPr wrap="square" lIns="0" tIns="0" rIns="0" bIns="0" rtlCol="0" anchor="t"/>
          <a:lstStyle/>
          <a:p>
            <a:pPr indent="0" marL="0">
              <a:buNone/>
            </a:pPr>
            <a:r>
              <a:rPr lang="en-US" sz="1000" dirty="0">
                <a:solidFill>
                  <a:srgbClr val="A8A49B"/>
                </a:solidFill>
                <a:latin typeface="Calibri" pitchFamily="34" charset="0"/>
                <a:ea typeface="Calibri" pitchFamily="34" charset="-122"/>
                <a:cs typeface="Calibri" pitchFamily="34" charset="-120"/>
              </a:rPr>
              <a:t>tCO₂e/t, JSL Jajpur today vs buildable today</a:t>
            </a:r>
            <a:endParaRPr lang="en-US" sz="1000" dirty="0"/>
          </a:p>
        </p:txBody>
      </p:sp>
      <p:sp>
        <p:nvSpPr>
          <p:cNvPr id="9" name="Shape 7"/>
          <p:cNvSpPr/>
          <p:nvPr/>
        </p:nvSpPr>
        <p:spPr>
          <a:xfrm>
            <a:off x="2350008" y="3794760"/>
            <a:ext cx="1691640" cy="1143000"/>
          </a:xfrm>
          <a:prstGeom prst="rect">
            <a:avLst/>
          </a:prstGeom>
          <a:solidFill>
            <a:srgbClr val="2A2927"/>
          </a:solidFill>
          <a:ln w="12700">
            <a:solidFill>
              <a:srgbClr val="3A3835"/>
            </a:solidFill>
            <a:prstDash val="solid"/>
          </a:ln>
        </p:spPr>
      </p:sp>
      <p:sp>
        <p:nvSpPr>
          <p:cNvPr id="10" name="Text 8"/>
          <p:cNvSpPr txBox="1"/>
          <p:nvPr/>
        </p:nvSpPr>
        <p:spPr>
          <a:xfrm>
            <a:off x="2478024" y="3886200"/>
            <a:ext cx="1463040" cy="411480"/>
          </a:xfrm>
          <a:prstGeom prst="rect">
            <a:avLst/>
          </a:prstGeom>
          <a:noFill/>
          <a:ln/>
        </p:spPr>
        <p:txBody>
          <a:bodyPr wrap="square" lIns="0" tIns="0" rIns="0" bIns="0" rtlCol="0" anchor="ctr"/>
          <a:lstStyle/>
          <a:p>
            <a:pPr indent="0" marL="0">
              <a:buNone/>
            </a:pPr>
            <a:r>
              <a:rPr lang="en-US" sz="2200" dirty="0">
                <a:solidFill>
                  <a:srgbClr val="C9971F"/>
                </a:solidFill>
                <a:latin typeface="Cambria" pitchFamily="34" charset="0"/>
                <a:ea typeface="Cambria" pitchFamily="34" charset="-122"/>
                <a:cs typeface="Cambria" pitchFamily="34" charset="-120"/>
              </a:rPr>
              <a:t>−22%</a:t>
            </a:r>
            <a:endParaRPr lang="en-US" sz="2200" dirty="0"/>
          </a:p>
        </p:txBody>
      </p:sp>
      <p:sp>
        <p:nvSpPr>
          <p:cNvPr id="11" name="Text 9"/>
          <p:cNvSpPr txBox="1"/>
          <p:nvPr/>
        </p:nvSpPr>
        <p:spPr>
          <a:xfrm>
            <a:off x="2478024" y="4315968"/>
            <a:ext cx="1417320" cy="548640"/>
          </a:xfrm>
          <a:prstGeom prst="rect">
            <a:avLst/>
          </a:prstGeom>
          <a:noFill/>
          <a:ln/>
        </p:spPr>
        <p:txBody>
          <a:bodyPr wrap="square" lIns="0" tIns="0" rIns="0" bIns="0" rtlCol="0" anchor="t"/>
          <a:lstStyle/>
          <a:p>
            <a:pPr indent="0" marL="0">
              <a:buNone/>
            </a:pPr>
            <a:r>
              <a:rPr lang="en-US" sz="1000" dirty="0">
                <a:solidFill>
                  <a:srgbClr val="A8A49B"/>
                </a:solidFill>
                <a:latin typeface="Calibri" pitchFamily="34" charset="0"/>
                <a:ea typeface="Calibri" pitchFamily="34" charset="-122"/>
                <a:cs typeface="Calibri" pitchFamily="34" charset="-120"/>
              </a:rPr>
              <a:t>carbon per tonne, no new plant</a:t>
            </a:r>
            <a:endParaRPr lang="en-US" sz="1000" dirty="0"/>
          </a:p>
        </p:txBody>
      </p:sp>
      <p:sp>
        <p:nvSpPr>
          <p:cNvPr id="12" name="Shape 10"/>
          <p:cNvSpPr/>
          <p:nvPr/>
        </p:nvSpPr>
        <p:spPr>
          <a:xfrm>
            <a:off x="4151376" y="3794760"/>
            <a:ext cx="1691640" cy="1143000"/>
          </a:xfrm>
          <a:prstGeom prst="rect">
            <a:avLst/>
          </a:prstGeom>
          <a:solidFill>
            <a:srgbClr val="2A2927"/>
          </a:solidFill>
          <a:ln w="12700">
            <a:solidFill>
              <a:srgbClr val="3A3835"/>
            </a:solidFill>
            <a:prstDash val="solid"/>
          </a:ln>
        </p:spPr>
      </p:sp>
      <p:sp>
        <p:nvSpPr>
          <p:cNvPr id="13" name="Text 11"/>
          <p:cNvSpPr txBox="1"/>
          <p:nvPr/>
        </p:nvSpPr>
        <p:spPr>
          <a:xfrm>
            <a:off x="4279392" y="3886200"/>
            <a:ext cx="1463040" cy="411480"/>
          </a:xfrm>
          <a:prstGeom prst="rect">
            <a:avLst/>
          </a:prstGeom>
          <a:noFill/>
          <a:ln/>
        </p:spPr>
        <p:txBody>
          <a:bodyPr wrap="square" lIns="0" tIns="0" rIns="0" bIns="0" rtlCol="0" anchor="ctr"/>
          <a:lstStyle/>
          <a:p>
            <a:pPr indent="0" marL="0">
              <a:buNone/>
            </a:pPr>
            <a:r>
              <a:rPr lang="en-US" sz="2200" dirty="0">
                <a:solidFill>
                  <a:srgbClr val="5AA2D0"/>
                </a:solidFill>
                <a:latin typeface="Cambria" pitchFamily="34" charset="0"/>
                <a:ea typeface="Cambria" pitchFamily="34" charset="-122"/>
                <a:cs typeface="Cambria" pitchFamily="34" charset="-120"/>
              </a:rPr>
              <a:t>~1.8 Mt</a:t>
            </a:r>
            <a:endParaRPr lang="en-US" sz="2200" dirty="0"/>
          </a:p>
        </p:txBody>
      </p:sp>
      <p:sp>
        <p:nvSpPr>
          <p:cNvPr id="14" name="Text 12"/>
          <p:cNvSpPr txBox="1"/>
          <p:nvPr/>
        </p:nvSpPr>
        <p:spPr>
          <a:xfrm>
            <a:off x="4279392" y="4315968"/>
            <a:ext cx="1417320" cy="548640"/>
          </a:xfrm>
          <a:prstGeom prst="rect">
            <a:avLst/>
          </a:prstGeom>
          <a:noFill/>
          <a:ln/>
        </p:spPr>
        <p:txBody>
          <a:bodyPr wrap="square" lIns="0" tIns="0" rIns="0" bIns="0" rtlCol="0" anchor="t"/>
          <a:lstStyle/>
          <a:p>
            <a:pPr indent="0" marL="0">
              <a:buNone/>
            </a:pPr>
            <a:r>
              <a:rPr lang="en-US" sz="1000" dirty="0">
                <a:solidFill>
                  <a:srgbClr val="A8A49B"/>
                </a:solidFill>
                <a:latin typeface="Calibri" pitchFamily="34" charset="0"/>
                <a:ea typeface="Calibri" pitchFamily="34" charset="-122"/>
                <a:cs typeface="Calibri" pitchFamily="34" charset="-120"/>
              </a:rPr>
              <a:t>CO₂e a year avoidable across ~3 MTPA</a:t>
            </a:r>
            <a:endParaRPr lang="en-US" sz="1000" dirty="0"/>
          </a:p>
        </p:txBody>
      </p:sp>
      <p:sp>
        <p:nvSpPr>
          <p:cNvPr id="15" name="Text 13"/>
          <p:cNvSpPr txBox="1"/>
          <p:nvPr/>
        </p:nvSpPr>
        <p:spPr>
          <a:xfrm>
            <a:off x="548640" y="5440680"/>
            <a:ext cx="2743200" cy="228600"/>
          </a:xfrm>
          <a:prstGeom prst="rect">
            <a:avLst/>
          </a:prstGeom>
          <a:noFill/>
          <a:ln/>
        </p:spPr>
        <p:txBody>
          <a:bodyPr wrap="square" lIns="0" tIns="0" rIns="0" bIns="0" rtlCol="0" anchor="ctr"/>
          <a:lstStyle/>
          <a:p>
            <a:pPr indent="0" marL="0">
              <a:buNone/>
            </a:pPr>
            <a:r>
              <a:rPr lang="en-US" sz="1050" b="1" spc="150" kern="0" dirty="0">
                <a:solidFill>
                  <a:srgbClr val="E08A63"/>
                </a:solidFill>
                <a:latin typeface="Calibri" pitchFamily="34" charset="0"/>
                <a:ea typeface="Calibri" pitchFamily="34" charset="-122"/>
                <a:cs typeface="Calibri" pitchFamily="34" charset="-120"/>
              </a:rPr>
              <a:t>TEAM</a:t>
            </a:r>
            <a:endParaRPr lang="en-US" sz="1050" dirty="0"/>
          </a:p>
        </p:txBody>
      </p:sp>
      <p:sp>
        <p:nvSpPr>
          <p:cNvPr id="16" name="Text 14"/>
          <p:cNvSpPr txBox="1"/>
          <p:nvPr/>
        </p:nvSpPr>
        <p:spPr>
          <a:xfrm>
            <a:off x="548640" y="5687568"/>
            <a:ext cx="5303520" cy="320040"/>
          </a:xfrm>
          <a:prstGeom prst="rect">
            <a:avLst/>
          </a:prstGeom>
          <a:noFill/>
          <a:ln/>
        </p:spPr>
        <p:txBody>
          <a:bodyPr wrap="square" lIns="0" tIns="0" rIns="0" bIns="0" rtlCol="0" anchor="ctr"/>
          <a:lstStyle/>
          <a:p>
            <a:pPr indent="0" marL="0">
              <a:buNone/>
            </a:pPr>
            <a:r>
              <a:rPr lang="en-US" sz="1400" dirty="0">
                <a:solidFill>
                  <a:srgbClr val="EDEAE3"/>
                </a:solidFill>
                <a:latin typeface="Calibri" pitchFamily="34" charset="0"/>
                <a:ea typeface="Calibri" pitchFamily="34" charset="-122"/>
                <a:cs typeface="Calibri" pitchFamily="34" charset="-120"/>
              </a:rPr>
              <a:t>Team name  ·  Members  ·  Institute</a:t>
            </a:r>
            <a:endParaRPr lang="en-US" sz="1400" dirty="0"/>
          </a:p>
        </p:txBody>
      </p:sp>
      <p:sp>
        <p:nvSpPr>
          <p:cNvPr id="17" name="Shape 15"/>
          <p:cNvSpPr/>
          <p:nvPr/>
        </p:nvSpPr>
        <p:spPr>
          <a:xfrm>
            <a:off x="6135624" y="923544"/>
            <a:ext cx="5559552" cy="1801152"/>
          </a:xfrm>
          <a:prstGeom prst="rect">
            <a:avLst/>
          </a:prstGeom>
          <a:solidFill>
            <a:srgbClr val="3A3835"/>
          </a:solidFill>
          <a:ln w="12700">
            <a:solidFill>
              <a:srgbClr val="3A3835"/>
            </a:solidFill>
            <a:prstDash val="solid"/>
          </a:ln>
          <a:effectLst>
            <a:outerShdw sx="100000" sy="100000" kx="0" ky="0" algn="bl" rotWithShape="0" blurRad="101600" dist="38100" dir="5400000">
              <a:srgbClr val="000000">
                <a:alpha val="45000"/>
              </a:srgbClr>
            </a:outerShdw>
          </a:effectLst>
        </p:spPr>
      </p:sp>
      <p:pic>
        <p:nvPicPr>
          <p:cNvPr id="18" name="Image 0" descr="/tmp/lo/crops/hero.png">    </p:cNvPr>
          <p:cNvPicPr>
            <a:picLocks noChangeAspect="1"/>
          </p:cNvPicPr>
          <p:nvPr/>
        </p:nvPicPr>
        <p:blipFill>
          <a:blip r:embed="rId1"/>
          <a:stretch>
            <a:fillRect/>
          </a:stretch>
        </p:blipFill>
        <p:spPr>
          <a:xfrm>
            <a:off x="6172200" y="960120"/>
            <a:ext cx="5486400" cy="1728000"/>
          </a:xfrm>
          <a:prstGeom prst="rect">
            <a:avLst/>
          </a:prstGeom>
        </p:spPr>
      </p:pic>
      <p:sp>
        <p:nvSpPr>
          <p:cNvPr id="19" name="Shape 16"/>
          <p:cNvSpPr/>
          <p:nvPr/>
        </p:nvSpPr>
        <p:spPr>
          <a:xfrm>
            <a:off x="6135624" y="2980944"/>
            <a:ext cx="5559552" cy="1211409"/>
          </a:xfrm>
          <a:prstGeom prst="rect">
            <a:avLst/>
          </a:prstGeom>
          <a:solidFill>
            <a:srgbClr val="3A3835"/>
          </a:solidFill>
          <a:ln w="12700">
            <a:solidFill>
              <a:srgbClr val="3A3835"/>
            </a:solidFill>
            <a:prstDash val="solid"/>
          </a:ln>
          <a:effectLst>
            <a:outerShdw sx="100000" sy="100000" kx="0" ky="0" algn="bl" rotWithShape="0" blurRad="101600" dist="38100" dir="5400000">
              <a:srgbClr val="000000">
                <a:alpha val="45000"/>
              </a:srgbClr>
            </a:outerShdw>
          </a:effectLst>
        </p:spPr>
      </p:sp>
      <p:pic>
        <p:nvPicPr>
          <p:cNvPr id="20" name="Image 1" descr="/tmp/lo/crops/dash_top.png">    </p:cNvPr>
          <p:cNvPicPr>
            <a:picLocks noChangeAspect="1"/>
          </p:cNvPicPr>
          <p:nvPr/>
        </p:nvPicPr>
        <p:blipFill>
          <a:blip r:embed="rId2"/>
          <a:stretch>
            <a:fillRect/>
          </a:stretch>
        </p:blipFill>
        <p:spPr>
          <a:xfrm>
            <a:off x="6172200" y="3017520"/>
            <a:ext cx="5486400" cy="1138257"/>
          </a:xfrm>
          <a:prstGeom prst="rect">
            <a:avLst/>
          </a:prstGeom>
        </p:spPr>
      </p:pic>
      <p:sp>
        <p:nvSpPr>
          <p:cNvPr id="21" name="Text 17"/>
          <p:cNvSpPr txBox="1"/>
          <p:nvPr/>
        </p:nvSpPr>
        <p:spPr>
          <a:xfrm>
            <a:off x="6172200" y="4251960"/>
            <a:ext cx="5486400" cy="274320"/>
          </a:xfrm>
          <a:prstGeom prst="rect">
            <a:avLst/>
          </a:prstGeom>
          <a:noFill/>
          <a:ln/>
        </p:spPr>
        <p:txBody>
          <a:bodyPr wrap="square" lIns="0" tIns="0" rIns="0" bIns="0" rtlCol="0" anchor="ctr"/>
          <a:lstStyle/>
          <a:p>
            <a:pPr indent="0" marL="0">
              <a:buNone/>
            </a:pPr>
            <a:r>
              <a:rPr lang="en-US" sz="1000" i="1" dirty="0">
                <a:solidFill>
                  <a:srgbClr val="A8A49B"/>
                </a:solidFill>
                <a:latin typeface="Calibri" pitchFamily="34" charset="0"/>
                <a:ea typeface="Calibri" pitchFamily="34" charset="-122"/>
                <a:cs typeface="Calibri" pitchFamily="34" charset="-120"/>
              </a:rPr>
              <a:t>The live site: landing page (dark mode) and the calculator's readout, JSL Jajpur profile.</a:t>
            </a:r>
            <a:endParaRPr lang="en-US" sz="1000" dirty="0"/>
          </a:p>
        </p:txBody>
      </p:sp>
      <p:sp>
        <p:nvSpPr>
          <p:cNvPr id="22" name="Shape 18"/>
          <p:cNvSpPr/>
          <p:nvPr/>
        </p:nvSpPr>
        <p:spPr>
          <a:xfrm>
            <a:off x="6135624" y="4626864"/>
            <a:ext cx="3639312" cy="1194939"/>
          </a:xfrm>
          <a:prstGeom prst="rect">
            <a:avLst/>
          </a:prstGeom>
          <a:solidFill>
            <a:srgbClr val="3A3835"/>
          </a:solidFill>
          <a:ln w="12700">
            <a:solidFill>
              <a:srgbClr val="3A3835"/>
            </a:solidFill>
            <a:prstDash val="solid"/>
          </a:ln>
          <a:effectLst>
            <a:outerShdw sx="100000" sy="100000" kx="0" ky="0" algn="bl" rotWithShape="0" blurRad="101600" dist="38100" dir="5400000">
              <a:srgbClr val="000000">
                <a:alpha val="45000"/>
              </a:srgbClr>
            </a:outerShdw>
          </a:effectLst>
        </p:spPr>
      </p:sp>
      <p:pic>
        <p:nvPicPr>
          <p:cNvPr id="23" name="Image 2" descr="/tmp/lo/crops/opt_head.png">    </p:cNvPr>
          <p:cNvPicPr>
            <a:picLocks noChangeAspect="1"/>
          </p:cNvPicPr>
          <p:nvPr/>
        </p:nvPicPr>
        <p:blipFill>
          <a:blip r:embed="rId3"/>
          <a:stretch>
            <a:fillRect/>
          </a:stretch>
        </p:blipFill>
        <p:spPr>
          <a:xfrm>
            <a:off x="6172200" y="4663440"/>
            <a:ext cx="3566160" cy="1121787"/>
          </a:xfrm>
          <a:prstGeom prst="rect">
            <a:avLst/>
          </a:prstGeom>
        </p:spPr>
      </p:pic>
      <p:sp>
        <p:nvSpPr>
          <p:cNvPr id="24" name="Text 19"/>
          <p:cNvSpPr txBox="1"/>
          <p:nvPr/>
        </p:nvSpPr>
        <p:spPr>
          <a:xfrm>
            <a:off x="9921240" y="4663440"/>
            <a:ext cx="1737360" cy="1143000"/>
          </a:xfrm>
          <a:prstGeom prst="rect">
            <a:avLst/>
          </a:prstGeom>
          <a:noFill/>
          <a:ln/>
        </p:spPr>
        <p:txBody>
          <a:bodyPr wrap="square" lIns="0" tIns="0" rIns="0" bIns="0" rtlCol="0" anchor="t"/>
          <a:lstStyle/>
          <a:p>
            <a:pPr indent="0" marL="0">
              <a:buNone/>
            </a:pPr>
            <a:r>
              <a:rPr lang="en-US" sz="1050" dirty="0">
                <a:solidFill>
                  <a:srgbClr val="EDEAE3"/>
                </a:solidFill>
                <a:latin typeface="Calibri" pitchFamily="34" charset="0"/>
                <a:ea typeface="Calibri" pitchFamily="34" charset="-122"/>
                <a:cs typeface="Calibri" pitchFamily="34" charset="-120"/>
              </a:rPr>
              <a:t>Round 2 adds an exact optimiser: Jajpur 2.887 → 2.248 tCO₂e/t with only buildable changes.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24A2C"/>
          </a:solidFill>
          <a:ln w="12700">
            <a:solidFill>
              <a:srgbClr val="B24A2C"/>
            </a:solidFill>
            <a:prstDash val="solid"/>
          </a:ln>
        </p:spPr>
      </p:sp>
      <p:sp>
        <p:nvSpPr>
          <p:cNvPr id="3" name="Text 1"/>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 name="Text 2"/>
          <p:cNvSpPr txBox="1"/>
          <p:nvPr/>
        </p:nvSpPr>
        <p:spPr>
          <a:xfrm>
            <a:off x="1051560" y="329184"/>
            <a:ext cx="10058400" cy="256032"/>
          </a:xfrm>
          <a:prstGeom prst="rect">
            <a:avLst/>
          </a:prstGeom>
          <a:noFill/>
          <a:ln/>
        </p:spPr>
        <p:txBody>
          <a:bodyPr wrap="square" lIns="0" tIns="0" rIns="0" bIns="0" rtlCol="0" anchor="ctr"/>
          <a:lstStyle/>
          <a:p>
            <a:pPr indent="0" marL="0">
              <a:buNone/>
            </a:pPr>
            <a:r>
              <a:rPr lang="en-US" sz="1100" b="1" spc="100" kern="0" dirty="0">
                <a:solidFill>
                  <a:srgbClr val="B24A2C"/>
                </a:solidFill>
                <a:latin typeface="Calibri" pitchFamily="34" charset="0"/>
                <a:ea typeface="Calibri" pitchFamily="34" charset="-122"/>
                <a:cs typeface="Calibri" pitchFamily="34" charset="-120"/>
              </a:rPr>
              <a:t>PROBLEM  ·  WHY IT MATTERS</a:t>
            </a:r>
            <a:endParaRPr lang="en-US" sz="1100" dirty="0"/>
          </a:p>
        </p:txBody>
      </p:sp>
      <p:sp>
        <p:nvSpPr>
          <p:cNvPr id="5" name="Text 3"/>
          <p:cNvSpPr txBox="1"/>
          <p:nvPr/>
        </p:nvSpPr>
        <p:spPr>
          <a:xfrm>
            <a:off x="1051560" y="585216"/>
            <a:ext cx="10698480" cy="566928"/>
          </a:xfrm>
          <a:prstGeom prst="rect">
            <a:avLst/>
          </a:prstGeom>
          <a:noFill/>
          <a:ln/>
        </p:spPr>
        <p:txBody>
          <a:bodyPr wrap="square" lIns="0" tIns="0" rIns="0" bIns="0" rtlCol="0" anchor="t"/>
          <a:lstStyle/>
          <a:p>
            <a:pPr indent="0" marL="0">
              <a:buNone/>
            </a:pPr>
            <a:r>
              <a:rPr lang="en-US" sz="3000" dirty="0">
                <a:solidFill>
                  <a:srgbClr val="1F1F1E"/>
                </a:solidFill>
                <a:latin typeface="Cambria" pitchFamily="34" charset="0"/>
                <a:ea typeface="Cambria" pitchFamily="34" charset="-122"/>
                <a:cs typeface="Cambria" pitchFamily="34" charset="-120"/>
              </a:rPr>
              <a:t>A tonne's carbon is set by choices nobody can price</a:t>
            </a:r>
            <a:endParaRPr lang="en-US" sz="3000" dirty="0"/>
          </a:p>
        </p:txBody>
      </p:sp>
      <p:sp>
        <p:nvSpPr>
          <p:cNvPr id="6" name="Text 4"/>
          <p:cNvSpPr txBox="1"/>
          <p:nvPr/>
        </p:nvSpPr>
        <p:spPr>
          <a:xfrm>
            <a:off x="548640" y="1371600"/>
            <a:ext cx="5669280" cy="1097280"/>
          </a:xfrm>
          <a:prstGeom prst="rect">
            <a:avLst/>
          </a:prstGeom>
          <a:noFill/>
          <a:ln/>
        </p:spPr>
        <p:txBody>
          <a:bodyPr wrap="square" lIns="0" tIns="0" rIns="0" bIns="0" rtlCol="0" anchor="t"/>
          <a:lstStyle/>
          <a:p>
            <a:pPr indent="0" marL="0">
              <a:buNone/>
            </a:pPr>
            <a:r>
              <a:rPr lang="en-US" sz="1300" dirty="0">
                <a:solidFill>
                  <a:srgbClr val="5F5C55"/>
                </a:solidFill>
                <a:latin typeface="Calibri" pitchFamily="34" charset="0"/>
                <a:ea typeface="Calibri" pitchFamily="34" charset="-122"/>
                <a:cs typeface="Calibri" pitchFamily="34" charset="-120"/>
              </a:rPr>
              <a:t>Stainless carbon per tonne is fixed by a few decisions: how much scrap goes in the charge, which electricity feeds the furnaces, how material is hauled, and which technology each stage runs. The people who make those decisions (procurement, melt shop, logistics) have no number in front of them when they make them.</a:t>
            </a:r>
            <a:endParaRPr lang="en-US" sz="1300" dirty="0"/>
          </a:p>
        </p:txBody>
      </p:sp>
      <p:sp>
        <p:nvSpPr>
          <p:cNvPr id="7" name="Text 5"/>
          <p:cNvSpPr txBox="1"/>
          <p:nvPr/>
        </p:nvSpPr>
        <p:spPr>
          <a:xfrm>
            <a:off x="548640" y="2606040"/>
            <a:ext cx="4572000" cy="228600"/>
          </a:xfrm>
          <a:prstGeom prst="rect">
            <a:avLst/>
          </a:prstGeom>
          <a:noFill/>
          <a:ln/>
        </p:spPr>
        <p:txBody>
          <a:bodyPr wrap="square" lIns="0" tIns="0" rIns="0" bIns="0" rtlCol="0" anchor="ctr"/>
          <a:lstStyle/>
          <a:p>
            <a:pPr indent="0" marL="0">
              <a:buNone/>
            </a:pPr>
            <a:r>
              <a:rPr lang="en-US" sz="1050" b="1" spc="100" kern="0" dirty="0">
                <a:solidFill>
                  <a:srgbClr val="B24A2C"/>
                </a:solidFill>
                <a:latin typeface="Calibri" pitchFamily="34" charset="0"/>
                <a:ea typeface="Calibri" pitchFamily="34" charset="-122"/>
                <a:cs typeface="Calibri" pitchFamily="34" charset="-120"/>
              </a:rPr>
              <a:t>THE GAP</a:t>
            </a:r>
            <a:endParaRPr lang="en-US" sz="1050" dirty="0"/>
          </a:p>
        </p:txBody>
      </p:sp>
      <p:sp>
        <p:nvSpPr>
          <p:cNvPr id="8" name="Text 6"/>
          <p:cNvSpPr txBox="1"/>
          <p:nvPr/>
        </p:nvSpPr>
        <p:spPr>
          <a:xfrm>
            <a:off x="548640" y="2880360"/>
            <a:ext cx="5669280" cy="18288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1F1E"/>
                </a:solidFill>
                <a:latin typeface="Calibri" pitchFamily="34" charset="0"/>
                <a:ea typeface="Calibri" pitchFamily="34" charset="-122"/>
                <a:cs typeface="Calibri" pitchFamily="34" charset="-120"/>
              </a:rPr>
              <a:t>The coefficients sit in an accounting workbook: 67 process steps × 11 metrics. It's built for audit, not for deciding anything.</a:t>
            </a:r>
            <a:endParaRPr lang="en-US" sz="1250" dirty="0"/>
          </a:p>
          <a:p>
            <a:pPr marL="342900" indent="-342900">
              <a:spcAft>
                <a:spcPts val="600"/>
              </a:spcAft>
              <a:buSzPct val="100000"/>
              <a:buChar char="•"/>
            </a:pPr>
            <a:r>
              <a:rPr lang="en-US" sz="1250" dirty="0">
                <a:solidFill>
                  <a:srgbClr val="1F1F1E"/>
                </a:solidFill>
                <a:latin typeface="Calibri" pitchFamily="34" charset="0"/>
                <a:ea typeface="Calibri" pitchFamily="34" charset="-122"/>
                <a:cs typeface="Calibri" pitchFamily="34" charset="-120"/>
              </a:rPr>
              <a:t>BRSR Core, EU CBAM and India's Carbon Credit Trading Scheme all ask for per-tonne intensity, and Net Zero 2050 needs every marginal choice priced.</a:t>
            </a:r>
            <a:endParaRPr lang="en-US" sz="1250" dirty="0"/>
          </a:p>
          <a:p>
            <a:pPr marL="342900" indent="-342900">
              <a:spcAft>
                <a:spcPts val="600"/>
              </a:spcAft>
              <a:buSzPct val="100000"/>
              <a:buChar char="•"/>
            </a:pPr>
            <a:r>
              <a:rPr lang="en-US" sz="1250" dirty="0">
                <a:solidFill>
                  <a:srgbClr val="1F1F1E"/>
                </a:solidFill>
                <a:latin typeface="Calibri" pitchFamily="34" charset="0"/>
                <a:ea typeface="Calibri" pitchFamily="34" charset="-122"/>
                <a:cs typeface="Calibri" pitchFamily="34" charset="-120"/>
              </a:rPr>
              <a:t>Levers interact. A cleaner grid changes which furnace is best, so ranking them one at a time can give the wrong answer.</a:t>
            </a:r>
            <a:endParaRPr lang="en-US" sz="1250" dirty="0"/>
          </a:p>
        </p:txBody>
      </p:sp>
      <p:sp>
        <p:nvSpPr>
          <p:cNvPr id="9" name="Text 7"/>
          <p:cNvSpPr txBox="1"/>
          <p:nvPr/>
        </p:nvSpPr>
        <p:spPr>
          <a:xfrm>
            <a:off x="548640" y="4846320"/>
            <a:ext cx="4572000" cy="228600"/>
          </a:xfrm>
          <a:prstGeom prst="rect">
            <a:avLst/>
          </a:prstGeom>
          <a:noFill/>
          <a:ln/>
        </p:spPr>
        <p:txBody>
          <a:bodyPr wrap="square" lIns="0" tIns="0" rIns="0" bIns="0" rtlCol="0" anchor="ctr"/>
          <a:lstStyle/>
          <a:p>
            <a:pPr indent="0" marL="0">
              <a:buNone/>
            </a:pPr>
            <a:r>
              <a:rPr lang="en-US" sz="1050" b="1" spc="100" kern="0" dirty="0">
                <a:solidFill>
                  <a:srgbClr val="B24A2C"/>
                </a:solidFill>
                <a:latin typeface="Calibri" pitchFamily="34" charset="0"/>
                <a:ea typeface="Calibri" pitchFamily="34" charset="-122"/>
                <a:cs typeface="Calibri" pitchFamily="34" charset="-120"/>
              </a:rPr>
              <a:t>WHAT ROUND 2 HAD TO FIX</a:t>
            </a:r>
            <a:endParaRPr lang="en-US" sz="1050" dirty="0"/>
          </a:p>
        </p:txBody>
      </p:sp>
      <p:sp>
        <p:nvSpPr>
          <p:cNvPr id="10" name="Shape 8"/>
          <p:cNvSpPr/>
          <p:nvPr/>
        </p:nvSpPr>
        <p:spPr>
          <a:xfrm>
            <a:off x="548640" y="5120640"/>
            <a:ext cx="5669280" cy="1234440"/>
          </a:xfrm>
          <a:prstGeom prst="rect">
            <a:avLst/>
          </a:prstGeom>
          <a:solidFill>
            <a:srgbClr val="F2F0EB"/>
          </a:solidFill>
          <a:ln w="12700">
            <a:solidFill>
              <a:srgbClr val="F2F0EB"/>
            </a:solidFill>
            <a:prstDash val="solid"/>
          </a:ln>
        </p:spPr>
      </p:sp>
      <p:sp>
        <p:nvSpPr>
          <p:cNvPr id="11" name="Text 9"/>
          <p:cNvSpPr txBox="1"/>
          <p:nvPr/>
        </p:nvSpPr>
        <p:spPr>
          <a:xfrm>
            <a:off x="731520" y="5212080"/>
            <a:ext cx="5349240" cy="1051560"/>
          </a:xfrm>
          <a:prstGeom prst="rect">
            <a:avLst/>
          </a:prstGeom>
          <a:noFill/>
          <a:ln/>
        </p:spPr>
        <p:txBody>
          <a:bodyPr wrap="square" lIns="0" tIns="0" rIns="0" bIns="0" rtlCol="0" anchor="ctr"/>
          <a:lstStyle/>
          <a:p>
            <a:pPr indent="0" marL="0">
              <a:spcAft>
                <a:spcPts val="600"/>
              </a:spcAft>
              <a:buNone/>
            </a:pPr>
            <a:r>
              <a:rPr lang="en-US" sz="1200" b="1" dirty="0">
                <a:solidFill>
                  <a:srgbClr val="1F1F1E"/>
                </a:solidFill>
                <a:latin typeface="Calibri" pitchFamily="34" charset="0"/>
                <a:ea typeface="Calibri" pitchFamily="34" charset="-122"/>
                <a:cs typeface="Calibri" pitchFamily="34" charset="-120"/>
              </a:rPr>
              <a:t>Accuracy: </a:t>
            </a:r>
            <a:pPr indent="0" marL="0">
              <a:spcAft>
                <a:spcPts val="600"/>
              </a:spcAft>
              <a:buNone/>
            </a:pPr>
            <a:r>
              <a:rPr lang="en-US" sz="1200" dirty="0">
                <a:solidFill>
                  <a:srgbClr val="5F5C55"/>
                </a:solidFill>
                <a:latin typeface="Calibri" pitchFamily="34" charset="0"/>
                <a:ea typeface="Calibri" pitchFamily="34" charset="-122"/>
                <a:cs typeface="Calibri" pitchFamily="34" charset="-120"/>
              </a:rPr>
              <a:t>Round 1 put Jajpur at 4.60 tCO₂e/t with Scope 1+2 at 3.19, against 1.76 that JSL discloses.</a:t>
            </a:r>
            <a:endParaRPr lang="en-US" sz="1200" dirty="0"/>
          </a:p>
          <a:p>
            <a:pPr indent="0" marL="0">
              <a:spcAft>
                <a:spcPts val="600"/>
              </a:spcAft>
              <a:buNone/>
            </a:pPr>
            <a:r>
              <a:rPr lang="en-US" sz="1200" b="1" dirty="0">
                <a:solidFill>
                  <a:srgbClr val="1F1F1E"/>
                </a:solidFill>
                <a:latin typeface="Calibri" pitchFamily="34" charset="0"/>
                <a:ea typeface="Calibri" pitchFamily="34" charset="-122"/>
                <a:cs typeface="Calibri" pitchFamily="34" charset="-120"/>
              </a:rPr>
              <a:t>Decision: </a:t>
            </a:r>
            <a:pPr indent="0" marL="0">
              <a:spcAft>
                <a:spcPts val="600"/>
              </a:spcAft>
              <a:buNone/>
            </a:pPr>
            <a:r>
              <a:rPr lang="en-US" sz="1200" dirty="0">
                <a:solidFill>
                  <a:srgbClr val="5F5C55"/>
                </a:solidFill>
                <a:latin typeface="Calibri" pitchFamily="34" charset="0"/>
                <a:ea typeface="Calibri" pitchFamily="34" charset="-122"/>
                <a:cs typeface="Calibri" pitchFamily="34" charset="-120"/>
              </a:rPr>
              <a:t>a number alone doesn't tell a plant what to change first, or by how much.</a:t>
            </a:r>
            <a:endParaRPr lang="en-US" sz="1200" dirty="0"/>
          </a:p>
        </p:txBody>
      </p:sp>
      <p:sp>
        <p:nvSpPr>
          <p:cNvPr id="12" name="Shape 10"/>
          <p:cNvSpPr/>
          <p:nvPr/>
        </p:nvSpPr>
        <p:spPr>
          <a:xfrm>
            <a:off x="6583680" y="1371600"/>
            <a:ext cx="5074920" cy="4983480"/>
          </a:xfrm>
          <a:prstGeom prst="rect">
            <a:avLst/>
          </a:prstGeom>
          <a:solidFill>
            <a:srgbClr val="F2F0EB"/>
          </a:solidFill>
          <a:ln w="12700">
            <a:solidFill>
              <a:srgbClr val="F2F0EB"/>
            </a:solidFill>
            <a:prstDash val="solid"/>
          </a:ln>
        </p:spPr>
      </p:sp>
      <p:sp>
        <p:nvSpPr>
          <p:cNvPr id="13" name="Text 11"/>
          <p:cNvSpPr txBox="1"/>
          <p:nvPr/>
        </p:nvSpPr>
        <p:spPr>
          <a:xfrm>
            <a:off x="6812280" y="1536192"/>
            <a:ext cx="4754880" cy="228600"/>
          </a:xfrm>
          <a:prstGeom prst="rect">
            <a:avLst/>
          </a:prstGeom>
          <a:noFill/>
          <a:ln/>
        </p:spPr>
        <p:txBody>
          <a:bodyPr wrap="square" lIns="0" tIns="0" rIns="0" bIns="0" rtlCol="0" anchor="ctr"/>
          <a:lstStyle/>
          <a:p>
            <a:pPr indent="0" marL="0">
              <a:buNone/>
            </a:pPr>
            <a:r>
              <a:rPr lang="en-US" sz="1050" b="1" spc="100" kern="0" dirty="0">
                <a:solidFill>
                  <a:srgbClr val="B24A2C"/>
                </a:solidFill>
                <a:latin typeface="Calibri" pitchFamily="34" charset="0"/>
                <a:ea typeface="Calibri" pitchFamily="34" charset="-122"/>
                <a:cs typeface="Calibri" pitchFamily="34" charset="-120"/>
              </a:rPr>
              <a:t>THE TONNE TODAY — JSL JAJPUR, AS MODELLED</a:t>
            </a:r>
            <a:endParaRPr lang="en-US" sz="1050" dirty="0"/>
          </a:p>
        </p:txBody>
      </p:sp>
      <p:sp>
        <p:nvSpPr>
          <p:cNvPr id="14" name="Text 12"/>
          <p:cNvSpPr txBox="1"/>
          <p:nvPr/>
        </p:nvSpPr>
        <p:spPr>
          <a:xfrm>
            <a:off x="6812280" y="1874520"/>
            <a:ext cx="2286000" cy="457200"/>
          </a:xfrm>
          <a:prstGeom prst="rect">
            <a:avLst/>
          </a:prstGeom>
          <a:noFill/>
          <a:ln/>
        </p:spPr>
        <p:txBody>
          <a:bodyPr wrap="square" lIns="0" tIns="0" rIns="0" bIns="0" rtlCol="0" anchor="ctr"/>
          <a:lstStyle/>
          <a:p>
            <a:pPr indent="0" marL="0">
              <a:buNone/>
            </a:pPr>
            <a:r>
              <a:rPr lang="en-US" sz="2800" dirty="0">
                <a:solidFill>
                  <a:srgbClr val="B24A2C"/>
                </a:solidFill>
                <a:latin typeface="Cambria" pitchFamily="34" charset="0"/>
                <a:ea typeface="Cambria" pitchFamily="34" charset="-122"/>
                <a:cs typeface="Cambria" pitchFamily="34" charset="-120"/>
              </a:rPr>
              <a:t>2.887</a:t>
            </a:r>
            <a:endParaRPr lang="en-US" sz="2800" dirty="0"/>
          </a:p>
        </p:txBody>
      </p:sp>
      <p:sp>
        <p:nvSpPr>
          <p:cNvPr id="15" name="Text 13"/>
          <p:cNvSpPr txBox="1"/>
          <p:nvPr/>
        </p:nvSpPr>
        <p:spPr>
          <a:xfrm>
            <a:off x="6812280" y="2331720"/>
            <a:ext cx="2286000" cy="411480"/>
          </a:xfrm>
          <a:prstGeom prst="rect">
            <a:avLst/>
          </a:prstGeom>
          <a:noFill/>
          <a:ln/>
        </p:spPr>
        <p:txBody>
          <a:bodyPr wrap="square" lIns="0" tIns="0" rIns="0" bIns="0" rtlCol="0" anchor="t"/>
          <a:lstStyle/>
          <a:p>
            <a:pPr indent="0" marL="0">
              <a:buNone/>
            </a:pPr>
            <a:r>
              <a:rPr lang="en-US" sz="1000" dirty="0">
                <a:solidFill>
                  <a:srgbClr val="5F5C55"/>
                </a:solidFill>
                <a:latin typeface="Calibri" pitchFamily="34" charset="0"/>
                <a:ea typeface="Calibri" pitchFamily="34" charset="-122"/>
                <a:cs typeface="Calibri" pitchFamily="34" charset="-120"/>
              </a:rPr>
              <a:t>tCO₂e per tonne of steel</a:t>
            </a:r>
            <a:endParaRPr lang="en-US" sz="1000" dirty="0"/>
          </a:p>
        </p:txBody>
      </p:sp>
      <p:sp>
        <p:nvSpPr>
          <p:cNvPr id="16" name="Text 14"/>
          <p:cNvSpPr txBox="1"/>
          <p:nvPr/>
        </p:nvSpPr>
        <p:spPr>
          <a:xfrm>
            <a:off x="9235440" y="1874520"/>
            <a:ext cx="2286000" cy="457200"/>
          </a:xfrm>
          <a:prstGeom prst="rect">
            <a:avLst/>
          </a:prstGeom>
          <a:noFill/>
          <a:ln/>
        </p:spPr>
        <p:txBody>
          <a:bodyPr wrap="square" lIns="0" tIns="0" rIns="0" bIns="0" rtlCol="0" anchor="ctr"/>
          <a:lstStyle/>
          <a:p>
            <a:pPr indent="0" marL="0">
              <a:buNone/>
            </a:pPr>
            <a:r>
              <a:rPr lang="en-US" sz="2800" dirty="0">
                <a:solidFill>
                  <a:srgbClr val="1F6E9E"/>
                </a:solidFill>
                <a:latin typeface="Cambria" pitchFamily="34" charset="0"/>
                <a:ea typeface="Cambria" pitchFamily="34" charset="-122"/>
                <a:cs typeface="Cambria" pitchFamily="34" charset="-120"/>
              </a:rPr>
              <a:t>56%</a:t>
            </a:r>
            <a:endParaRPr lang="en-US" sz="2800" dirty="0"/>
          </a:p>
        </p:txBody>
      </p:sp>
      <p:sp>
        <p:nvSpPr>
          <p:cNvPr id="17" name="Text 15"/>
          <p:cNvSpPr txBox="1"/>
          <p:nvPr/>
        </p:nvSpPr>
        <p:spPr>
          <a:xfrm>
            <a:off x="9235440" y="2331720"/>
            <a:ext cx="2286000" cy="411480"/>
          </a:xfrm>
          <a:prstGeom prst="rect">
            <a:avLst/>
          </a:prstGeom>
          <a:noFill/>
          <a:ln/>
        </p:spPr>
        <p:txBody>
          <a:bodyPr wrap="square" lIns="0" tIns="0" rIns="0" bIns="0" rtlCol="0" anchor="t"/>
          <a:lstStyle/>
          <a:p>
            <a:pPr indent="0" marL="0">
              <a:buNone/>
            </a:pPr>
            <a:r>
              <a:rPr lang="en-US" sz="1000" dirty="0">
                <a:solidFill>
                  <a:srgbClr val="5F5C55"/>
                </a:solidFill>
                <a:latin typeface="Calibri" pitchFamily="34" charset="0"/>
                <a:ea typeface="Calibri" pitchFamily="34" charset="-122"/>
                <a:cs typeface="Calibri" pitchFamily="34" charset="-120"/>
              </a:rPr>
              <a:t>is Scope 3: the upstream carbon of the charge</a:t>
            </a:r>
            <a:endParaRPr lang="en-US" sz="1000" dirty="0"/>
          </a:p>
        </p:txBody>
      </p:sp>
      <p:sp>
        <p:nvSpPr>
          <p:cNvPr id="18" name="Text 16"/>
          <p:cNvSpPr txBox="1"/>
          <p:nvPr/>
        </p:nvSpPr>
        <p:spPr>
          <a:xfrm>
            <a:off x="6812280" y="2834640"/>
            <a:ext cx="2286000" cy="457200"/>
          </a:xfrm>
          <a:prstGeom prst="rect">
            <a:avLst/>
          </a:prstGeom>
          <a:noFill/>
          <a:ln/>
        </p:spPr>
        <p:txBody>
          <a:bodyPr wrap="square" lIns="0" tIns="0" rIns="0" bIns="0" rtlCol="0" anchor="ctr"/>
          <a:lstStyle/>
          <a:p>
            <a:pPr indent="0" marL="0">
              <a:buNone/>
            </a:pPr>
            <a:r>
              <a:rPr lang="en-US" sz="2800" dirty="0">
                <a:solidFill>
                  <a:srgbClr val="C9971F"/>
                </a:solidFill>
                <a:latin typeface="Cambria" pitchFamily="34" charset="0"/>
                <a:ea typeface="Cambria" pitchFamily="34" charset="-122"/>
                <a:cs typeface="Cambria" pitchFamily="34" charset="-120"/>
              </a:rPr>
              <a:t>71%</a:t>
            </a:r>
            <a:endParaRPr lang="en-US" sz="2800" dirty="0"/>
          </a:p>
        </p:txBody>
      </p:sp>
      <p:sp>
        <p:nvSpPr>
          <p:cNvPr id="19" name="Text 17"/>
          <p:cNvSpPr txBox="1"/>
          <p:nvPr/>
        </p:nvSpPr>
        <p:spPr>
          <a:xfrm>
            <a:off x="6812280" y="3291840"/>
            <a:ext cx="2286000" cy="411480"/>
          </a:xfrm>
          <a:prstGeom prst="rect">
            <a:avLst/>
          </a:prstGeom>
          <a:noFill/>
          <a:ln/>
        </p:spPr>
        <p:txBody>
          <a:bodyPr wrap="square" lIns="0" tIns="0" rIns="0" bIns="0" rtlCol="0" anchor="t"/>
          <a:lstStyle/>
          <a:p>
            <a:pPr indent="0" marL="0">
              <a:buNone/>
            </a:pPr>
            <a:r>
              <a:rPr lang="en-US" sz="1000" dirty="0">
                <a:solidFill>
                  <a:srgbClr val="5F5C55"/>
                </a:solidFill>
                <a:latin typeface="Calibri" pitchFamily="34" charset="0"/>
                <a:ea typeface="Calibri" pitchFamily="34" charset="-122"/>
                <a:cs typeface="Calibri" pitchFamily="34" charset="-120"/>
              </a:rPr>
              <a:t>sits in the melt shop (2.04 t/t)</a:t>
            </a:r>
            <a:endParaRPr lang="en-US" sz="1000" dirty="0"/>
          </a:p>
        </p:txBody>
      </p:sp>
      <p:sp>
        <p:nvSpPr>
          <p:cNvPr id="20" name="Text 18"/>
          <p:cNvSpPr txBox="1"/>
          <p:nvPr/>
        </p:nvSpPr>
        <p:spPr>
          <a:xfrm>
            <a:off x="9235440" y="2834640"/>
            <a:ext cx="2286000" cy="457200"/>
          </a:xfrm>
          <a:prstGeom prst="rect">
            <a:avLst/>
          </a:prstGeom>
          <a:noFill/>
          <a:ln/>
        </p:spPr>
        <p:txBody>
          <a:bodyPr wrap="square" lIns="0" tIns="0" rIns="0" bIns="0" rtlCol="0" anchor="ctr"/>
          <a:lstStyle/>
          <a:p>
            <a:pPr indent="0" marL="0">
              <a:buNone/>
            </a:pPr>
            <a:r>
              <a:rPr lang="en-US" sz="2800" dirty="0">
                <a:solidFill>
                  <a:srgbClr val="1F1F1E"/>
                </a:solidFill>
                <a:latin typeface="Cambria" pitchFamily="34" charset="0"/>
                <a:ea typeface="Cambria" pitchFamily="34" charset="-122"/>
                <a:cs typeface="Cambria" pitchFamily="34" charset="-120"/>
              </a:rPr>
              <a:t>1,091</a:t>
            </a:r>
            <a:endParaRPr lang="en-US" sz="2800" dirty="0"/>
          </a:p>
        </p:txBody>
      </p:sp>
      <p:sp>
        <p:nvSpPr>
          <p:cNvPr id="21" name="Text 19"/>
          <p:cNvSpPr txBox="1"/>
          <p:nvPr/>
        </p:nvSpPr>
        <p:spPr>
          <a:xfrm>
            <a:off x="9235440" y="3291840"/>
            <a:ext cx="2286000" cy="411480"/>
          </a:xfrm>
          <a:prstGeom prst="rect">
            <a:avLst/>
          </a:prstGeom>
          <a:noFill/>
          <a:ln/>
        </p:spPr>
        <p:txBody>
          <a:bodyPr wrap="square" lIns="0" tIns="0" rIns="0" bIns="0" rtlCol="0" anchor="t"/>
          <a:lstStyle/>
          <a:p>
            <a:pPr indent="0" marL="0">
              <a:buNone/>
            </a:pPr>
            <a:r>
              <a:rPr lang="en-US" sz="1000" dirty="0">
                <a:solidFill>
                  <a:srgbClr val="5F5C55"/>
                </a:solidFill>
                <a:latin typeface="Calibri" pitchFamily="34" charset="0"/>
                <a:ea typeface="Calibri" pitchFamily="34" charset="-122"/>
                <a:cs typeface="Calibri" pitchFamily="34" charset="-120"/>
              </a:rPr>
              <a:t>kWh of electricity per tonne</a:t>
            </a:r>
            <a:endParaRPr lang="en-US" sz="1000" dirty="0"/>
          </a:p>
        </p:txBody>
      </p:sp>
      <p:graphicFrame>
        <p:nvGraphicFramePr>
          <p:cNvPr id="22" name="Chart 0" descr=""/>
          <p:cNvGraphicFramePr/>
          <p:nvPr/>
        </p:nvGraphicFramePr>
        <p:xfrm>
          <a:off x="6720840" y="3840480"/>
          <a:ext cx="4846320" cy="24688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24A2C"/>
          </a:solidFill>
          <a:ln w="12700">
            <a:solidFill>
              <a:srgbClr val="B24A2C"/>
            </a:solidFill>
            <a:prstDash val="solid"/>
          </a:ln>
        </p:spPr>
      </p:sp>
      <p:sp>
        <p:nvSpPr>
          <p:cNvPr id="3" name="Text 1"/>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 name="Text 2"/>
          <p:cNvSpPr txBox="1"/>
          <p:nvPr/>
        </p:nvSpPr>
        <p:spPr>
          <a:xfrm>
            <a:off x="1051560" y="329184"/>
            <a:ext cx="10058400" cy="256032"/>
          </a:xfrm>
          <a:prstGeom prst="rect">
            <a:avLst/>
          </a:prstGeom>
          <a:noFill/>
          <a:ln/>
        </p:spPr>
        <p:txBody>
          <a:bodyPr wrap="square" lIns="0" tIns="0" rIns="0" bIns="0" rtlCol="0" anchor="ctr"/>
          <a:lstStyle/>
          <a:p>
            <a:pPr indent="0" marL="0">
              <a:buNone/>
            </a:pPr>
            <a:r>
              <a:rPr lang="en-US" sz="1100" b="1" spc="100" kern="0" dirty="0">
                <a:solidFill>
                  <a:srgbClr val="B24A2C"/>
                </a:solidFill>
                <a:latin typeface="Calibri" pitchFamily="34" charset="0"/>
                <a:ea typeface="Calibri" pitchFamily="34" charset="-122"/>
                <a:cs typeface="Calibri" pitchFamily="34" charset="-120"/>
              </a:rPr>
              <a:t>INSIGHTS  ·  WHAT THE MODEL TELLS US</a:t>
            </a:r>
            <a:endParaRPr lang="en-US" sz="1100" dirty="0"/>
          </a:p>
        </p:txBody>
      </p:sp>
      <p:sp>
        <p:nvSpPr>
          <p:cNvPr id="5" name="Text 3"/>
          <p:cNvSpPr txBox="1"/>
          <p:nvPr/>
        </p:nvSpPr>
        <p:spPr>
          <a:xfrm>
            <a:off x="1051560" y="585216"/>
            <a:ext cx="10698480" cy="566928"/>
          </a:xfrm>
          <a:prstGeom prst="rect">
            <a:avLst/>
          </a:prstGeom>
          <a:noFill/>
          <a:ln/>
        </p:spPr>
        <p:txBody>
          <a:bodyPr wrap="square" lIns="0" tIns="0" rIns="0" bIns="0" rtlCol="0" anchor="t"/>
          <a:lstStyle/>
          <a:p>
            <a:pPr indent="0" marL="0">
              <a:buNone/>
            </a:pPr>
            <a:r>
              <a:rPr lang="en-US" sz="3000" dirty="0">
                <a:solidFill>
                  <a:srgbClr val="1F1F1E"/>
                </a:solidFill>
                <a:latin typeface="Cambria" pitchFamily="34" charset="0"/>
                <a:ea typeface="Cambria" pitchFamily="34" charset="-122"/>
                <a:cs typeface="Cambria" pitchFamily="34" charset="-120"/>
              </a:rPr>
              <a:t>Two levers carry the tonne, and order matters</a:t>
            </a:r>
            <a:endParaRPr lang="en-US" sz="3000" dirty="0"/>
          </a:p>
        </p:txBody>
      </p:sp>
      <p:sp>
        <p:nvSpPr>
          <p:cNvPr id="6" name="Shape 4"/>
          <p:cNvSpPr/>
          <p:nvPr/>
        </p:nvSpPr>
        <p:spPr>
          <a:xfrm>
            <a:off x="548640" y="1371600"/>
            <a:ext cx="3657600" cy="3063240"/>
          </a:xfrm>
          <a:prstGeom prst="rect">
            <a:avLst/>
          </a:prstGeom>
          <a:solidFill>
            <a:srgbClr val="F2F0EB"/>
          </a:solidFill>
          <a:ln w="12700">
            <a:solidFill>
              <a:srgbClr val="F2F0EB"/>
            </a:solidFill>
            <a:prstDash val="solid"/>
          </a:ln>
        </p:spPr>
      </p:sp>
      <p:graphicFrame>
        <p:nvGraphicFramePr>
          <p:cNvPr id="7" name="Chart 0" descr=""/>
          <p:cNvGraphicFramePr/>
          <p:nvPr/>
        </p:nvGraphicFramePr>
        <p:xfrm>
          <a:off x="640080" y="1463040"/>
          <a:ext cx="3474720" cy="288036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4389120" y="1371600"/>
            <a:ext cx="3657600" cy="3063240"/>
          </a:xfrm>
          <a:prstGeom prst="rect">
            <a:avLst/>
          </a:prstGeom>
          <a:solidFill>
            <a:srgbClr val="F2F0EB"/>
          </a:solidFill>
          <a:ln w="12700">
            <a:solidFill>
              <a:srgbClr val="F2F0EB"/>
            </a:solidFill>
            <a:prstDash val="solid"/>
          </a:ln>
        </p:spPr>
      </p:sp>
      <p:graphicFrame>
        <p:nvGraphicFramePr>
          <p:cNvPr id="9" name="Chart 1" descr=""/>
          <p:cNvGraphicFramePr/>
          <p:nvPr/>
        </p:nvGraphicFramePr>
        <p:xfrm>
          <a:off x="4480560" y="1463040"/>
          <a:ext cx="3474720" cy="288036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548640" y="4526280"/>
            <a:ext cx="7498080" cy="274320"/>
          </a:xfrm>
          <a:prstGeom prst="rect">
            <a:avLst/>
          </a:prstGeom>
          <a:noFill/>
          <a:ln/>
        </p:spPr>
        <p:txBody>
          <a:bodyPr wrap="square" lIns="0" tIns="0" rIns="0" bIns="0" rtlCol="0" anchor="ctr"/>
          <a:lstStyle/>
          <a:p>
            <a:pPr indent="0" marL="0">
              <a:buNone/>
            </a:pPr>
            <a:r>
              <a:rPr lang="en-US" sz="1000" i="1" dirty="0">
                <a:solidFill>
                  <a:srgbClr val="8A867D"/>
                </a:solidFill>
                <a:latin typeface="Calibri" pitchFamily="34" charset="0"/>
                <a:ea typeface="Calibri" pitchFamily="34" charset="-122"/>
                <a:cs typeface="Calibri" pitchFamily="34" charset="-120"/>
              </a:rPr>
              <a:t>Levers priced one at a time from Jajpur today. Scrap capped at 75%, coal held at 45% or more.</a:t>
            </a:r>
            <a:endParaRPr lang="en-US" sz="1000" dirty="0"/>
          </a:p>
        </p:txBody>
      </p:sp>
      <p:sp>
        <p:nvSpPr>
          <p:cNvPr id="11" name="Text 7"/>
          <p:cNvSpPr txBox="1"/>
          <p:nvPr/>
        </p:nvSpPr>
        <p:spPr>
          <a:xfrm>
            <a:off x="548640" y="4937760"/>
            <a:ext cx="2743200" cy="228600"/>
          </a:xfrm>
          <a:prstGeom prst="rect">
            <a:avLst/>
          </a:prstGeom>
          <a:noFill/>
          <a:ln/>
        </p:spPr>
        <p:txBody>
          <a:bodyPr wrap="square" lIns="0" tIns="0" rIns="0" bIns="0" rtlCol="0" anchor="ctr"/>
          <a:lstStyle/>
          <a:p>
            <a:pPr indent="0" marL="0">
              <a:buNone/>
            </a:pPr>
            <a:r>
              <a:rPr lang="en-US" sz="1050" b="1" spc="100" kern="0" dirty="0">
                <a:solidFill>
                  <a:srgbClr val="B24A2C"/>
                </a:solidFill>
                <a:latin typeface="Calibri" pitchFamily="34" charset="0"/>
                <a:ea typeface="Calibri" pitchFamily="34" charset="-122"/>
                <a:cs typeface="Calibri" pitchFamily="34" charset="-120"/>
              </a:rPr>
              <a:t>FRAMEWORK</a:t>
            </a:r>
            <a:endParaRPr lang="en-US" sz="1050" dirty="0"/>
          </a:p>
        </p:txBody>
      </p:sp>
      <p:sp>
        <p:nvSpPr>
          <p:cNvPr id="12" name="Text 8"/>
          <p:cNvSpPr txBox="1"/>
          <p:nvPr/>
        </p:nvSpPr>
        <p:spPr>
          <a:xfrm>
            <a:off x="548640" y="5212080"/>
            <a:ext cx="2423160" cy="274320"/>
          </a:xfrm>
          <a:prstGeom prst="rect">
            <a:avLst/>
          </a:prstGeom>
          <a:noFill/>
          <a:ln/>
        </p:spPr>
        <p:txBody>
          <a:bodyPr wrap="square" lIns="0" tIns="0" rIns="0" bIns="0"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GHG Protocol</a:t>
            </a:r>
            <a:endParaRPr lang="en-US" sz="1200" dirty="0"/>
          </a:p>
        </p:txBody>
      </p:sp>
      <p:sp>
        <p:nvSpPr>
          <p:cNvPr id="13" name="Text 9"/>
          <p:cNvSpPr txBox="1"/>
          <p:nvPr/>
        </p:nvSpPr>
        <p:spPr>
          <a:xfrm>
            <a:off x="548640" y="5486400"/>
            <a:ext cx="2377440" cy="77724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Scope 1 · 2 · 3 (Cat. 1–8) kept separate; gases never double-counted</a:t>
            </a:r>
            <a:endParaRPr lang="en-US" sz="1050" dirty="0"/>
          </a:p>
        </p:txBody>
      </p:sp>
      <p:sp>
        <p:nvSpPr>
          <p:cNvPr id="14" name="Text 10"/>
          <p:cNvSpPr txBox="1"/>
          <p:nvPr/>
        </p:nvSpPr>
        <p:spPr>
          <a:xfrm>
            <a:off x="3108960" y="5212080"/>
            <a:ext cx="2423160" cy="274320"/>
          </a:xfrm>
          <a:prstGeom prst="rect">
            <a:avLst/>
          </a:prstGeom>
          <a:noFill/>
          <a:ln/>
        </p:spPr>
        <p:txBody>
          <a:bodyPr wrap="square" lIns="0" tIns="0" rIns="0" bIns="0"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Linear structure</a:t>
            </a:r>
            <a:endParaRPr lang="en-US" sz="1200" dirty="0"/>
          </a:p>
        </p:txBody>
      </p:sp>
      <p:sp>
        <p:nvSpPr>
          <p:cNvPr id="15" name="Text 11"/>
          <p:cNvSpPr txBox="1"/>
          <p:nvPr/>
        </p:nvSpPr>
        <p:spPr>
          <a:xfrm>
            <a:off x="3108960" y="5486400"/>
            <a:ext cx="2377440" cy="77724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every metric is linear in scrap share, so the optimum is at a corner</a:t>
            </a:r>
            <a:endParaRPr lang="en-US" sz="1050" dirty="0"/>
          </a:p>
        </p:txBody>
      </p:sp>
      <p:sp>
        <p:nvSpPr>
          <p:cNvPr id="16" name="Text 12"/>
          <p:cNvSpPr txBox="1"/>
          <p:nvPr/>
        </p:nvSpPr>
        <p:spPr>
          <a:xfrm>
            <a:off x="5669280" y="5212080"/>
            <a:ext cx="2423160" cy="274320"/>
          </a:xfrm>
          <a:prstGeom prst="rect">
            <a:avLst/>
          </a:prstGeom>
          <a:noFill/>
          <a:ln/>
        </p:spPr>
        <p:txBody>
          <a:bodyPr wrap="square" lIns="0" tIns="0" rIns="0" bIns="0"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Abatement order</a:t>
            </a:r>
            <a:endParaRPr lang="en-US" sz="1200" dirty="0"/>
          </a:p>
        </p:txBody>
      </p:sp>
      <p:sp>
        <p:nvSpPr>
          <p:cNvPr id="17" name="Text 13"/>
          <p:cNvSpPr txBox="1"/>
          <p:nvPr/>
        </p:nvSpPr>
        <p:spPr>
          <a:xfrm>
            <a:off x="5669280" y="5486400"/>
            <a:ext cx="2377440" cy="77724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price each lever alone, then walk the sequence so savings add exactly</a:t>
            </a:r>
            <a:endParaRPr lang="en-US" sz="1050" dirty="0"/>
          </a:p>
        </p:txBody>
      </p:sp>
      <p:sp>
        <p:nvSpPr>
          <p:cNvPr id="18" name="Shape 14"/>
          <p:cNvSpPr/>
          <p:nvPr/>
        </p:nvSpPr>
        <p:spPr>
          <a:xfrm>
            <a:off x="8321040" y="1399032"/>
            <a:ext cx="329184" cy="329184"/>
          </a:xfrm>
          <a:prstGeom prst="ellipse">
            <a:avLst/>
          </a:prstGeom>
          <a:solidFill>
            <a:srgbClr val="B24A2C"/>
          </a:solidFill>
          <a:ln w="12700">
            <a:solidFill>
              <a:srgbClr val="B24A2C"/>
            </a:solidFill>
            <a:prstDash val="solid"/>
          </a:ln>
        </p:spPr>
      </p:sp>
      <p:sp>
        <p:nvSpPr>
          <p:cNvPr id="19" name="Text 15"/>
          <p:cNvSpPr txBox="1"/>
          <p:nvPr/>
        </p:nvSpPr>
        <p:spPr>
          <a:xfrm>
            <a:off x="8321040" y="13990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6"/>
          <p:cNvSpPr txBox="1"/>
          <p:nvPr/>
        </p:nvSpPr>
        <p:spPr>
          <a:xfrm>
            <a:off x="8778240" y="1371600"/>
            <a:ext cx="2926080" cy="384048"/>
          </a:xfrm>
          <a:prstGeom prst="rect">
            <a:avLst/>
          </a:prstGeom>
          <a:noFill/>
          <a:ln/>
        </p:spPr>
        <p:txBody>
          <a:bodyPr wrap="square" lIns="0" tIns="0" rIns="0" bIns="0"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Each point of scrap ≈ 35 kg CO₂e/t</a:t>
            </a:r>
            <a:endParaRPr lang="en-US" sz="1250" dirty="0"/>
          </a:p>
        </p:txBody>
      </p:sp>
      <p:sp>
        <p:nvSpPr>
          <p:cNvPr id="21" name="Text 17"/>
          <p:cNvSpPr txBox="1"/>
          <p:nvPr/>
        </p:nvSpPr>
        <p:spPr>
          <a:xfrm>
            <a:off x="8778240" y="1773936"/>
            <a:ext cx="2926080" cy="77724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Virgin ferrochrome, nickel and iron units bring their smelting emissions with them. Scrap is a carbon lever, not only a cost one.</a:t>
            </a:r>
            <a:endParaRPr lang="en-US" sz="1050" dirty="0"/>
          </a:p>
        </p:txBody>
      </p:sp>
      <p:sp>
        <p:nvSpPr>
          <p:cNvPr id="22" name="Shape 18"/>
          <p:cNvSpPr/>
          <p:nvPr/>
        </p:nvSpPr>
        <p:spPr>
          <a:xfrm>
            <a:off x="8321040" y="2651760"/>
            <a:ext cx="329184" cy="329184"/>
          </a:xfrm>
          <a:prstGeom prst="ellipse">
            <a:avLst/>
          </a:prstGeom>
          <a:solidFill>
            <a:srgbClr val="B24A2C"/>
          </a:solidFill>
          <a:ln w="12700">
            <a:solidFill>
              <a:srgbClr val="B24A2C"/>
            </a:solidFill>
            <a:prstDash val="solid"/>
          </a:ln>
        </p:spPr>
      </p:sp>
      <p:sp>
        <p:nvSpPr>
          <p:cNvPr id="23" name="Text 19"/>
          <p:cNvSpPr txBox="1"/>
          <p:nvPr/>
        </p:nvSpPr>
        <p:spPr>
          <a:xfrm>
            <a:off x="8321040" y="26517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4" name="Text 20"/>
          <p:cNvSpPr txBox="1"/>
          <p:nvPr/>
        </p:nvSpPr>
        <p:spPr>
          <a:xfrm>
            <a:off x="8778240" y="2624328"/>
            <a:ext cx="2926080" cy="384048"/>
          </a:xfrm>
          <a:prstGeom prst="rect">
            <a:avLst/>
          </a:prstGeom>
          <a:noFill/>
          <a:ln/>
        </p:spPr>
        <p:txBody>
          <a:bodyPr wrap="square" lIns="0" tIns="0" rIns="0" bIns="0"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Each 0.1 kg/kWh off the grid ≈ 0.11 t/t</a:t>
            </a:r>
            <a:endParaRPr lang="en-US" sz="1250" dirty="0"/>
          </a:p>
        </p:txBody>
      </p:sp>
      <p:sp>
        <p:nvSpPr>
          <p:cNvPr id="25" name="Text 21"/>
          <p:cNvSpPr txBox="1"/>
          <p:nvPr/>
        </p:nvSpPr>
        <p:spPr>
          <a:xfrm>
            <a:off x="8778240" y="3026664"/>
            <a:ext cx="2926080" cy="77724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At 1,091 kWh/t, a PPA decision is worth as much as a metallurgical one. It's the largest buildable gap.</a:t>
            </a:r>
            <a:endParaRPr lang="en-US" sz="1050" dirty="0"/>
          </a:p>
        </p:txBody>
      </p:sp>
      <p:sp>
        <p:nvSpPr>
          <p:cNvPr id="26" name="Shape 22"/>
          <p:cNvSpPr/>
          <p:nvPr/>
        </p:nvSpPr>
        <p:spPr>
          <a:xfrm>
            <a:off x="8321040" y="3904488"/>
            <a:ext cx="329184" cy="329184"/>
          </a:xfrm>
          <a:prstGeom prst="ellipse">
            <a:avLst/>
          </a:prstGeom>
          <a:solidFill>
            <a:srgbClr val="B24A2C"/>
          </a:solidFill>
          <a:ln w="12700">
            <a:solidFill>
              <a:srgbClr val="B24A2C"/>
            </a:solidFill>
            <a:prstDash val="solid"/>
          </a:ln>
        </p:spPr>
      </p:sp>
      <p:sp>
        <p:nvSpPr>
          <p:cNvPr id="27" name="Text 23"/>
          <p:cNvSpPr txBox="1"/>
          <p:nvPr/>
        </p:nvSpPr>
        <p:spPr>
          <a:xfrm>
            <a:off x="8321040" y="39044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8" name="Text 24"/>
          <p:cNvSpPr txBox="1"/>
          <p:nvPr/>
        </p:nvSpPr>
        <p:spPr>
          <a:xfrm>
            <a:off x="8778240" y="3877056"/>
            <a:ext cx="2926080" cy="384048"/>
          </a:xfrm>
          <a:prstGeom prst="rect">
            <a:avLst/>
          </a:prstGeom>
          <a:noFill/>
          <a:ln/>
        </p:spPr>
        <p:txBody>
          <a:bodyPr wrap="square" lIns="0" tIns="0" rIns="0" bIns="0"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The best furnace depends on the grid</a:t>
            </a:r>
            <a:endParaRPr lang="en-US" sz="1250" dirty="0"/>
          </a:p>
        </p:txBody>
      </p:sp>
      <p:sp>
        <p:nvSpPr>
          <p:cNvPr id="29" name="Text 25"/>
          <p:cNvSpPr txBox="1"/>
          <p:nvPr/>
        </p:nvSpPr>
        <p:spPr>
          <a:xfrm>
            <a:off x="8778240" y="4279392"/>
            <a:ext cx="2926080" cy="77724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An induction furnace beats the EAF only once the grid is clean. Fix the grid first, then revisit the technology.</a:t>
            </a:r>
            <a:endParaRPr lang="en-US" sz="1050" dirty="0"/>
          </a:p>
        </p:txBody>
      </p:sp>
      <p:sp>
        <p:nvSpPr>
          <p:cNvPr id="30" name="Shape 26"/>
          <p:cNvSpPr/>
          <p:nvPr/>
        </p:nvSpPr>
        <p:spPr>
          <a:xfrm>
            <a:off x="8321040" y="5157216"/>
            <a:ext cx="329184" cy="329184"/>
          </a:xfrm>
          <a:prstGeom prst="ellipse">
            <a:avLst/>
          </a:prstGeom>
          <a:solidFill>
            <a:srgbClr val="B24A2C"/>
          </a:solidFill>
          <a:ln w="12700">
            <a:solidFill>
              <a:srgbClr val="B24A2C"/>
            </a:solidFill>
            <a:prstDash val="solid"/>
          </a:ln>
        </p:spPr>
      </p:sp>
      <p:sp>
        <p:nvSpPr>
          <p:cNvPr id="31" name="Text 27"/>
          <p:cNvSpPr txBox="1"/>
          <p:nvPr/>
        </p:nvSpPr>
        <p:spPr>
          <a:xfrm>
            <a:off x="8321040" y="51572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2" name="Text 28"/>
          <p:cNvSpPr txBox="1"/>
          <p:nvPr/>
        </p:nvSpPr>
        <p:spPr>
          <a:xfrm>
            <a:off x="8778240" y="5129784"/>
            <a:ext cx="2926080" cy="384048"/>
          </a:xfrm>
          <a:prstGeom prst="rect">
            <a:avLst/>
          </a:prstGeom>
          <a:noFill/>
          <a:ln/>
        </p:spPr>
        <p:txBody>
          <a:bodyPr wrap="square" lIns="0" tIns="0" rIns="0" bIns="0"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Rail vs road is under 1%</a:t>
            </a:r>
            <a:endParaRPr lang="en-US" sz="1250" dirty="0"/>
          </a:p>
        </p:txBody>
      </p:sp>
      <p:sp>
        <p:nvSpPr>
          <p:cNvPr id="33" name="Text 29"/>
          <p:cNvSpPr txBox="1"/>
          <p:nvPr/>
        </p:nvSpPr>
        <p:spPr>
          <a:xfrm>
            <a:off x="8778240" y="5532120"/>
            <a:ext cx="2926080" cy="77724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Only 0.008 t/t is available. Put that capex into power and scrap instead.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C1B"/>
        </a:solidFill>
      </p:bgPr>
    </p:bg>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24A2C"/>
          </a:solidFill>
          <a:ln w="12700">
            <a:solidFill>
              <a:srgbClr val="B24A2C"/>
            </a:solidFill>
            <a:prstDash val="solid"/>
          </a:ln>
        </p:spPr>
      </p:sp>
      <p:sp>
        <p:nvSpPr>
          <p:cNvPr id="3" name="Text 1"/>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 name="Text 2"/>
          <p:cNvSpPr txBox="1"/>
          <p:nvPr/>
        </p:nvSpPr>
        <p:spPr>
          <a:xfrm>
            <a:off x="1051560" y="329184"/>
            <a:ext cx="10058400" cy="256032"/>
          </a:xfrm>
          <a:prstGeom prst="rect">
            <a:avLst/>
          </a:prstGeom>
          <a:noFill/>
          <a:ln/>
        </p:spPr>
        <p:txBody>
          <a:bodyPr wrap="square" lIns="0" tIns="0" rIns="0" bIns="0" rtlCol="0" anchor="ctr"/>
          <a:lstStyle/>
          <a:p>
            <a:pPr indent="0" marL="0">
              <a:buNone/>
            </a:pPr>
            <a:r>
              <a:rPr lang="en-US" sz="1100" b="1" spc="100" kern="0" dirty="0">
                <a:solidFill>
                  <a:srgbClr val="E08A63"/>
                </a:solidFill>
                <a:latin typeface="Calibri" pitchFamily="34" charset="0"/>
                <a:ea typeface="Calibri" pitchFamily="34" charset="-122"/>
                <a:cs typeface="Calibri" pitchFamily="34" charset="-120"/>
              </a:rPr>
              <a:t>INSIGHTS  ·  DEPTH OF ANALYSIS</a:t>
            </a:r>
            <a:endParaRPr lang="en-US" sz="1100" dirty="0"/>
          </a:p>
        </p:txBody>
      </p:sp>
      <p:sp>
        <p:nvSpPr>
          <p:cNvPr id="5" name="Text 3"/>
          <p:cNvSpPr txBox="1"/>
          <p:nvPr/>
        </p:nvSpPr>
        <p:spPr>
          <a:xfrm>
            <a:off x="1051560" y="585216"/>
            <a:ext cx="10698480" cy="566928"/>
          </a:xfrm>
          <a:prstGeom prst="rect">
            <a:avLst/>
          </a:prstGeom>
          <a:noFill/>
          <a:ln/>
        </p:spPr>
        <p:txBody>
          <a:bodyPr wrap="square" lIns="0" tIns="0" rIns="0" bIns="0" rtlCol="0" anchor="t"/>
          <a:lstStyle/>
          <a:p>
            <a:pPr indent="0" marL="0">
              <a:buNone/>
            </a:pPr>
            <a:r>
              <a:rPr lang="en-US" sz="3000" dirty="0">
                <a:solidFill>
                  <a:srgbClr val="EDEAE3"/>
                </a:solidFill>
                <a:latin typeface="Cambria" pitchFamily="34" charset="0"/>
                <a:ea typeface="Cambria" pitchFamily="34" charset="-122"/>
                <a:cs typeface="Cambria" pitchFamily="34" charset="-120"/>
              </a:rPr>
              <a:t>Round 1 overstated the tonne, and we found out why</a:t>
            </a:r>
            <a:endParaRPr lang="en-US" sz="3000" dirty="0"/>
          </a:p>
        </p:txBody>
      </p:sp>
      <p:graphicFrame>
        <p:nvGraphicFramePr>
          <p:cNvPr id="6" name="Chart 0" descr=""/>
          <p:cNvGraphicFramePr/>
          <p:nvPr/>
        </p:nvGraphicFramePr>
        <p:xfrm>
          <a:off x="457200" y="1371600"/>
          <a:ext cx="4023360" cy="42062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669280"/>
            <a:ext cx="3931920" cy="548640"/>
          </a:xfrm>
          <a:prstGeom prst="rect">
            <a:avLst/>
          </a:prstGeom>
          <a:noFill/>
          <a:ln/>
        </p:spPr>
        <p:txBody>
          <a:bodyPr wrap="square" lIns="0" tIns="0" rIns="0" bIns="0" rtlCol="0" anchor="t"/>
          <a:lstStyle/>
          <a:p>
            <a:pPr indent="0" marL="0">
              <a:buNone/>
            </a:pPr>
            <a:r>
              <a:rPr lang="en-US" sz="1050" i="1" dirty="0">
                <a:solidFill>
                  <a:srgbClr val="A8A49B"/>
                </a:solidFill>
                <a:latin typeface="Calibri" pitchFamily="34" charset="0"/>
                <a:ea typeface="Calibri" pitchFamily="34" charset="-122"/>
                <a:cs typeface="Calibri" pitchFamily="34" charset="-120"/>
              </a:rPr>
              <a:t>4.60 → 2.89 t/t. Scope 2 fell 67% once electricity per tonne matched real furnaces.</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46320" y="1371600"/>
          <a:ext cx="6812280" cy="914400"/>
        </p:xfrm>
        <a:graphic>
          <a:graphicData uri="http://schemas.openxmlformats.org/drawingml/2006/table">
            <a:tbl>
              <a:tblPr/>
              <a:tblGrid>
                <a:gridCol w="1920240"/>
                <a:gridCol w="914400"/>
                <a:gridCol w="914400"/>
                <a:gridCol w="3063240"/>
              </a:tblGrid>
              <a:tr h="347472">
                <a:tc>
                  <a:txBody>
                    <a:bodyPr/>
                    <a:lstStyle/>
                    <a:p>
                      <a:pPr indent="0" marL="0">
                        <a:buNone/>
                      </a:pPr>
                      <a:r>
                        <a:rPr lang="en-US" sz="1000" b="1" dirty="0">
                          <a:solidFill>
                            <a:srgbClr val="E08A63"/>
                          </a:solidFill>
                          <a:latin typeface="Calibri" pitchFamily="34" charset="0"/>
                          <a:ea typeface="Calibri" pitchFamily="34" charset="-122"/>
                          <a:cs typeface="Calibri" pitchFamily="34" charset="-120"/>
                        </a:rPr>
                        <a:t>JAJPUR METRIC</a:t>
                      </a:r>
                      <a:endParaRPr lang="en-US" sz="100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2A2927"/>
                    </a:solidFill>
                  </a:tcPr>
                </a:tc>
                <a:tc>
                  <a:txBody>
                    <a:bodyPr/>
                    <a:lstStyle/>
                    <a:p>
                      <a:pPr algn="r" indent="0" marL="0">
                        <a:buNone/>
                      </a:pPr>
                      <a:r>
                        <a:rPr lang="en-US" sz="1000" b="1" dirty="0">
                          <a:solidFill>
                            <a:srgbClr val="E08A63"/>
                          </a:solidFill>
                          <a:latin typeface="Calibri" pitchFamily="34" charset="0"/>
                          <a:ea typeface="Calibri" pitchFamily="34" charset="-122"/>
                          <a:cs typeface="Calibri" pitchFamily="34" charset="-120"/>
                        </a:rPr>
                        <a:t>ROUND 1</a:t>
                      </a:r>
                      <a:endParaRPr lang="en-US" sz="100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2A2927"/>
                    </a:solidFill>
                  </a:tcPr>
                </a:tc>
                <a:tc>
                  <a:txBody>
                    <a:bodyPr/>
                    <a:lstStyle/>
                    <a:p>
                      <a:pPr algn="r" indent="0" marL="0">
                        <a:buNone/>
                      </a:pPr>
                      <a:r>
                        <a:rPr lang="en-US" sz="1000" b="1" dirty="0">
                          <a:solidFill>
                            <a:srgbClr val="E08A63"/>
                          </a:solidFill>
                          <a:latin typeface="Calibri" pitchFamily="34" charset="0"/>
                          <a:ea typeface="Calibri" pitchFamily="34" charset="-122"/>
                          <a:cs typeface="Calibri" pitchFamily="34" charset="-120"/>
                        </a:rPr>
                        <a:t>ROUND 2</a:t>
                      </a:r>
                      <a:endParaRPr lang="en-US" sz="100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2A2927"/>
                    </a:solidFill>
                  </a:tcPr>
                </a:tc>
                <a:tc>
                  <a:txBody>
                    <a:bodyPr/>
                    <a:lstStyle/>
                    <a:p>
                      <a:pPr indent="0" marL="0">
                        <a:buNone/>
                      </a:pPr>
                      <a:r>
                        <a:rPr lang="en-US" sz="1000" b="1" dirty="0">
                          <a:solidFill>
                            <a:srgbClr val="E08A63"/>
                          </a:solidFill>
                          <a:latin typeface="Calibri" pitchFamily="34" charset="0"/>
                          <a:ea typeface="Calibri" pitchFamily="34" charset="-122"/>
                          <a:cs typeface="Calibri" pitchFamily="34" charset="-120"/>
                        </a:rPr>
                        <a:t>PUBLIC BENCHMARK</a:t>
                      </a:r>
                      <a:endParaRPr lang="en-US" sz="100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2A2927"/>
                    </a:solidFill>
                  </a:tcPr>
                </a:tc>
              </a:tr>
              <a:tr h="347472">
                <a:tc>
                  <a:txBody>
                    <a:bodyPr/>
                    <a:lstStyle/>
                    <a:p>
                      <a:pPr indent="0" marL="0">
                        <a:buNone/>
                      </a:pPr>
                      <a:r>
                        <a:rPr lang="en-US" sz="1050" dirty="0">
                          <a:solidFill>
                            <a:srgbClr val="EDEAE3"/>
                          </a:solidFill>
                          <a:latin typeface="Calibri" pitchFamily="34" charset="0"/>
                          <a:ea typeface="Calibri" pitchFamily="34" charset="-122"/>
                          <a:cs typeface="Calibri" pitchFamily="34" charset="-120"/>
                        </a:rPr>
                        <a:t>Electricity, kWh/t</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algn="r" indent="0" marL="0">
                        <a:buNone/>
                      </a:pPr>
                      <a:r>
                        <a:rPr lang="en-US" sz="1050" dirty="0">
                          <a:solidFill>
                            <a:srgbClr val="A8A49B"/>
                          </a:solidFill>
                          <a:latin typeface="Calibri" pitchFamily="34" charset="0"/>
                          <a:ea typeface="Calibri" pitchFamily="34" charset="-122"/>
                          <a:cs typeface="Calibri" pitchFamily="34" charset="-120"/>
                        </a:rPr>
                        <a:t>3,283</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algn="r" indent="0" marL="0">
                        <a:buNone/>
                      </a:pPr>
                      <a:r>
                        <a:rPr lang="en-US" sz="1050" b="1" dirty="0">
                          <a:solidFill>
                            <a:srgbClr val="E08A63"/>
                          </a:solidFill>
                          <a:latin typeface="Calibri" pitchFamily="34" charset="0"/>
                          <a:ea typeface="Calibri" pitchFamily="34" charset="-122"/>
                          <a:cs typeface="Calibri" pitchFamily="34" charset="-120"/>
                        </a:rPr>
                        <a:t>1,091</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indent="0" marL="0">
                        <a:buNone/>
                      </a:pPr>
                      <a:r>
                        <a:rPr lang="en-US" sz="1050" dirty="0">
                          <a:solidFill>
                            <a:srgbClr val="A8A49B"/>
                          </a:solidFill>
                          <a:latin typeface="Calibri" pitchFamily="34" charset="0"/>
                          <a:ea typeface="Calibri" pitchFamily="34" charset="-122"/>
                          <a:cs typeface="Calibri" pitchFamily="34" charset="-120"/>
                        </a:rPr>
                        <a:t>~1,000–1,200 melt-to-coil</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r>
              <a:tr h="347472">
                <a:tc>
                  <a:txBody>
                    <a:bodyPr/>
                    <a:lstStyle/>
                    <a:p>
                      <a:pPr indent="0" marL="0">
                        <a:buNone/>
                      </a:pPr>
                      <a:r>
                        <a:rPr lang="en-US" sz="1050" dirty="0">
                          <a:solidFill>
                            <a:srgbClr val="EDEAE3"/>
                          </a:solidFill>
                          <a:latin typeface="Calibri" pitchFamily="34" charset="0"/>
                          <a:ea typeface="Calibri" pitchFamily="34" charset="-122"/>
                          <a:cs typeface="Calibri" pitchFamily="34" charset="-120"/>
                        </a:rPr>
                        <a:t>EAF electricity, kWh/t</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algn="r" indent="0" marL="0">
                        <a:buNone/>
                      </a:pPr>
                      <a:r>
                        <a:rPr lang="en-US" sz="1050" dirty="0">
                          <a:solidFill>
                            <a:srgbClr val="A8A49B"/>
                          </a:solidFill>
                          <a:latin typeface="Calibri" pitchFamily="34" charset="0"/>
                          <a:ea typeface="Calibri" pitchFamily="34" charset="-122"/>
                          <a:cs typeface="Calibri" pitchFamily="34" charset="-120"/>
                        </a:rPr>
                        <a:t>1,668</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algn="r" indent="0" marL="0">
                        <a:buNone/>
                      </a:pPr>
                      <a:r>
                        <a:rPr lang="en-US" sz="1050" b="1" dirty="0">
                          <a:solidFill>
                            <a:srgbClr val="E08A63"/>
                          </a:solidFill>
                          <a:latin typeface="Calibri" pitchFamily="34" charset="0"/>
                          <a:ea typeface="Calibri" pitchFamily="34" charset="-122"/>
                          <a:cs typeface="Calibri" pitchFamily="34" charset="-120"/>
                        </a:rPr>
                        <a:t>460–650</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indent="0" marL="0">
                        <a:buNone/>
                      </a:pPr>
                      <a:r>
                        <a:rPr lang="en-US" sz="1050" dirty="0">
                          <a:solidFill>
                            <a:srgbClr val="A8A49B"/>
                          </a:solidFill>
                          <a:latin typeface="Calibri" pitchFamily="34" charset="0"/>
                          <a:ea typeface="Calibri" pitchFamily="34" charset="-122"/>
                          <a:cs typeface="Calibri" pitchFamily="34" charset="-120"/>
                        </a:rPr>
                        <a:t>450–700 typical</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r>
              <a:tr h="347472">
                <a:tc>
                  <a:txBody>
                    <a:bodyPr/>
                    <a:lstStyle/>
                    <a:p>
                      <a:pPr indent="0" marL="0">
                        <a:buNone/>
                      </a:pPr>
                      <a:r>
                        <a:rPr lang="en-US" sz="1050" dirty="0">
                          <a:solidFill>
                            <a:srgbClr val="EDEAE3"/>
                          </a:solidFill>
                          <a:latin typeface="Calibri" pitchFamily="34" charset="0"/>
                          <a:ea typeface="Calibri" pitchFamily="34" charset="-122"/>
                          <a:cs typeface="Calibri" pitchFamily="34" charset="-120"/>
                        </a:rPr>
                        <a:t>Specific energy, GJ/t</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algn="r" indent="0" marL="0">
                        <a:buNone/>
                      </a:pPr>
                      <a:r>
                        <a:rPr lang="en-US" sz="1050" dirty="0">
                          <a:solidFill>
                            <a:srgbClr val="A8A49B"/>
                          </a:solidFill>
                          <a:latin typeface="Calibri" pitchFamily="34" charset="0"/>
                          <a:ea typeface="Calibri" pitchFamily="34" charset="-122"/>
                          <a:cs typeface="Calibri" pitchFamily="34" charset="-120"/>
                        </a:rPr>
                        <a:t>33.9</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algn="r" indent="0" marL="0">
                        <a:buNone/>
                      </a:pPr>
                      <a:r>
                        <a:rPr lang="en-US" sz="1050" b="1" dirty="0">
                          <a:solidFill>
                            <a:srgbClr val="E08A63"/>
                          </a:solidFill>
                          <a:latin typeface="Calibri" pitchFamily="34" charset="0"/>
                          <a:ea typeface="Calibri" pitchFamily="34" charset="-122"/>
                          <a:cs typeface="Calibri" pitchFamily="34" charset="-120"/>
                        </a:rPr>
                        <a:t>9.8</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indent="0" marL="0">
                        <a:buNone/>
                      </a:pPr>
                      <a:r>
                        <a:rPr lang="en-US" sz="1050" dirty="0">
                          <a:solidFill>
                            <a:srgbClr val="A8A49B"/>
                          </a:solidFill>
                          <a:latin typeface="Calibri" pitchFamily="34" charset="0"/>
                          <a:ea typeface="Calibri" pitchFamily="34" charset="-122"/>
                          <a:cs typeface="Calibri" pitchFamily="34" charset="-120"/>
                        </a:rPr>
                        <a:t>~10–15</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r>
              <a:tr h="347472">
                <a:tc>
                  <a:txBody>
                    <a:bodyPr/>
                    <a:lstStyle/>
                    <a:p>
                      <a:pPr indent="0" marL="0">
                        <a:buNone/>
                      </a:pPr>
                      <a:r>
                        <a:rPr lang="en-US" sz="1050" dirty="0">
                          <a:solidFill>
                            <a:srgbClr val="EDEAE3"/>
                          </a:solidFill>
                          <a:latin typeface="Calibri" pitchFamily="34" charset="0"/>
                          <a:ea typeface="Calibri" pitchFamily="34" charset="-122"/>
                          <a:cs typeface="Calibri" pitchFamily="34" charset="-120"/>
                        </a:rPr>
                        <a:t>Scope 1, t/t</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algn="r" indent="0" marL="0">
                        <a:buNone/>
                      </a:pPr>
                      <a:r>
                        <a:rPr lang="en-US" sz="1050" dirty="0">
                          <a:solidFill>
                            <a:srgbClr val="A8A49B"/>
                          </a:solidFill>
                          <a:latin typeface="Calibri" pitchFamily="34" charset="0"/>
                          <a:ea typeface="Calibri" pitchFamily="34" charset="-122"/>
                          <a:cs typeface="Calibri" pitchFamily="34" charset="-120"/>
                        </a:rPr>
                        <a:t>0.69</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algn="r" indent="0" marL="0">
                        <a:buNone/>
                      </a:pPr>
                      <a:r>
                        <a:rPr lang="en-US" sz="1050" b="1" dirty="0">
                          <a:solidFill>
                            <a:srgbClr val="E08A63"/>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indent="0" marL="0">
                        <a:buNone/>
                      </a:pPr>
                      <a:r>
                        <a:rPr lang="en-US" sz="1050" dirty="0">
                          <a:solidFill>
                            <a:srgbClr val="A8A49B"/>
                          </a:solidFill>
                          <a:latin typeface="Calibri" pitchFamily="34" charset="0"/>
                          <a:ea typeface="Calibri" pitchFamily="34" charset="-122"/>
                          <a:cs typeface="Calibri" pitchFamily="34" charset="-120"/>
                        </a:rPr>
                        <a:t>~0.4 worldstainless avg</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r>
              <a:tr h="347472">
                <a:tc>
                  <a:txBody>
                    <a:bodyPr/>
                    <a:lstStyle/>
                    <a:p>
                      <a:pPr indent="0" marL="0">
                        <a:buNone/>
                      </a:pPr>
                      <a:r>
                        <a:rPr lang="en-US" sz="1050" dirty="0">
                          <a:solidFill>
                            <a:srgbClr val="EDEAE3"/>
                          </a:solidFill>
                          <a:latin typeface="Calibri" pitchFamily="34" charset="0"/>
                          <a:ea typeface="Calibri" pitchFamily="34" charset="-122"/>
                          <a:cs typeface="Calibri" pitchFamily="34" charset="-120"/>
                        </a:rPr>
                        <a:t>Scope 1+2, t/t</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algn="r" indent="0" marL="0">
                        <a:buNone/>
                      </a:pPr>
                      <a:r>
                        <a:rPr lang="en-US" sz="1050" dirty="0">
                          <a:solidFill>
                            <a:srgbClr val="A8A49B"/>
                          </a:solidFill>
                          <a:latin typeface="Calibri" pitchFamily="34" charset="0"/>
                          <a:ea typeface="Calibri" pitchFamily="34" charset="-122"/>
                          <a:cs typeface="Calibri" pitchFamily="34" charset="-120"/>
                        </a:rPr>
                        <a:t>3.19</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algn="r" indent="0" marL="0">
                        <a:buNone/>
                      </a:pPr>
                      <a:r>
                        <a:rPr lang="en-US" sz="1050" b="1" dirty="0">
                          <a:solidFill>
                            <a:srgbClr val="E08A63"/>
                          </a:solidFill>
                          <a:latin typeface="Calibri" pitchFamily="34" charset="0"/>
                          <a:ea typeface="Calibri" pitchFamily="34" charset="-122"/>
                          <a:cs typeface="Calibri" pitchFamily="34" charset="-120"/>
                        </a:rPr>
                        <a:t>1.28</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indent="0" marL="0">
                        <a:buNone/>
                      </a:pPr>
                      <a:r>
                        <a:rPr lang="en-US" sz="1050" dirty="0">
                          <a:solidFill>
                            <a:srgbClr val="A8A49B"/>
                          </a:solidFill>
                          <a:latin typeface="Calibri" pitchFamily="34" charset="0"/>
                          <a:ea typeface="Calibri" pitchFamily="34" charset="-122"/>
                          <a:cs typeface="Calibri" pitchFamily="34" charset="-120"/>
                        </a:rPr>
                        <a:t>1.76 JSL FY26 (incl. captive FeCr, power)</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r>
              <a:tr h="347472">
                <a:tc>
                  <a:txBody>
                    <a:bodyPr/>
                    <a:lstStyle/>
                    <a:p>
                      <a:pPr indent="0" marL="0">
                        <a:buNone/>
                      </a:pPr>
                      <a:r>
                        <a:rPr lang="en-US" sz="1050" dirty="0">
                          <a:solidFill>
                            <a:srgbClr val="EDEAE3"/>
                          </a:solidFill>
                          <a:latin typeface="Calibri" pitchFamily="34" charset="0"/>
                          <a:ea typeface="Calibri" pitchFamily="34" charset="-122"/>
                          <a:cs typeface="Calibri" pitchFamily="34" charset="-120"/>
                        </a:rPr>
                        <a:t>Scrap in the charge</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algn="r" indent="0" marL="0">
                        <a:buNone/>
                      </a:pPr>
                      <a:r>
                        <a:rPr lang="en-US" sz="1050" dirty="0">
                          <a:solidFill>
                            <a:srgbClr val="A8A49B"/>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algn="r" indent="0" marL="0">
                        <a:buNone/>
                      </a:pPr>
                      <a:r>
                        <a:rPr lang="en-US" sz="1050" b="1" dirty="0">
                          <a:solidFill>
                            <a:srgbClr val="E08A63"/>
                          </a:solidFill>
                          <a:latin typeface="Calibri" pitchFamily="34" charset="0"/>
                          <a:ea typeface="Calibri" pitchFamily="34" charset="-122"/>
                          <a:cs typeface="Calibri" pitchFamily="34" charset="-120"/>
                        </a:rPr>
                        <a:t>68%</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c>
                  <a:txBody>
                    <a:bodyPr/>
                    <a:lstStyle/>
                    <a:p>
                      <a:pPr indent="0" marL="0">
                        <a:buNone/>
                      </a:pPr>
                      <a:r>
                        <a:rPr lang="en-US" sz="1050" dirty="0">
                          <a:solidFill>
                            <a:srgbClr val="A8A49B"/>
                          </a:solidFill>
                          <a:latin typeface="Calibri" pitchFamily="34" charset="0"/>
                          <a:ea typeface="Calibri" pitchFamily="34" charset="-122"/>
                          <a:cs typeface="Calibri" pitchFamily="34" charset="-120"/>
                        </a:rPr>
                        <a:t>70.12% JSL FY26 company-wide</a:t>
                      </a:r>
                      <a:endParaRPr lang="en-US" sz="1050" dirty="0">
                        <a:latin typeface="Calibri" charset="0"/>
                        <a:ea typeface="Calibri" charset="0"/>
                        <a:cs typeface="Calibri" charset="0"/>
                      </a:endParaRPr>
                    </a:p>
                  </a:txBody>
                  <a:tcPr marL="91440" marR="91440" marT="45720" marB="45720" anchor="ctr">
                    <a:lnL w="6350" cap="flat" cmpd="sng" algn="ctr">
                      <a:solidFill>
                        <a:srgbClr val="3A3835"/>
                      </a:solidFill>
                      <a:prstDash val="solid"/>
                      <a:round/>
                      <a:headEnd type="none" w="med" len="med"/>
                      <a:tailEnd type="none" w="med" len="med"/>
                    </a:lnL>
                    <a:lnR w="6350" cap="flat" cmpd="sng" algn="ctr">
                      <a:solidFill>
                        <a:srgbClr val="3A3835"/>
                      </a:solidFill>
                      <a:prstDash val="solid"/>
                      <a:round/>
                      <a:headEnd type="none" w="med" len="med"/>
                      <a:tailEnd type="none" w="med" len="med"/>
                    </a:lnR>
                    <a:lnT w="6350" cap="flat" cmpd="sng" algn="ctr">
                      <a:solidFill>
                        <a:srgbClr val="3A3835"/>
                      </a:solidFill>
                      <a:prstDash val="solid"/>
                      <a:round/>
                      <a:headEnd type="none" w="med" len="med"/>
                      <a:tailEnd type="none" w="med" len="med"/>
                    </a:lnT>
                    <a:lnB w="6350" cap="flat" cmpd="sng" algn="ctr">
                      <a:solidFill>
                        <a:srgbClr val="3A3835"/>
                      </a:solidFill>
                      <a:prstDash val="solid"/>
                      <a:round/>
                      <a:headEnd type="none" w="med" len="med"/>
                      <a:tailEnd type="none" w="med" len="med"/>
                    </a:lnB>
                    <a:solidFill>
                      <a:srgbClr val="1C1C1B"/>
                    </a:solidFill>
                  </a:tcPr>
                </a:tc>
              </a:tr>
            </a:tbl>
          </a:graphicData>
        </a:graphic>
      </p:graphicFrame>
      <p:sp>
        <p:nvSpPr>
          <p:cNvPr id="9" name="Text 5"/>
          <p:cNvSpPr txBox="1"/>
          <p:nvPr/>
        </p:nvSpPr>
        <p:spPr>
          <a:xfrm>
            <a:off x="4846320" y="4023360"/>
            <a:ext cx="6400800" cy="228600"/>
          </a:xfrm>
          <a:prstGeom prst="rect">
            <a:avLst/>
          </a:prstGeom>
          <a:noFill/>
          <a:ln/>
        </p:spPr>
        <p:txBody>
          <a:bodyPr wrap="square" lIns="0" tIns="0" rIns="0" bIns="0" rtlCol="0" anchor="ctr"/>
          <a:lstStyle/>
          <a:p>
            <a:pPr indent="0" marL="0">
              <a:buNone/>
            </a:pPr>
            <a:r>
              <a:rPr lang="en-US" sz="1050" b="1" spc="100" kern="0" dirty="0">
                <a:solidFill>
                  <a:srgbClr val="E08A63"/>
                </a:solidFill>
                <a:latin typeface="Calibri" pitchFamily="34" charset="0"/>
                <a:ea typeface="Calibri" pitchFamily="34" charset="-122"/>
                <a:cs typeface="Calibri" pitchFamily="34" charset="-120"/>
              </a:rPr>
              <a:t>WHAT WE CHANGED — ROW BY ROW, WITH REASONS</a:t>
            </a:r>
            <a:endParaRPr lang="en-US" sz="1050" dirty="0"/>
          </a:p>
        </p:txBody>
      </p:sp>
      <p:sp>
        <p:nvSpPr>
          <p:cNvPr id="10" name="Text 6"/>
          <p:cNvSpPr txBox="1"/>
          <p:nvPr/>
        </p:nvSpPr>
        <p:spPr>
          <a:xfrm>
            <a:off x="4846320" y="4343400"/>
            <a:ext cx="1828800" cy="548640"/>
          </a:xfrm>
          <a:prstGeom prst="rect">
            <a:avLst/>
          </a:prstGeom>
          <a:noFill/>
          <a:ln/>
        </p:spPr>
        <p:txBody>
          <a:bodyPr wrap="square" lIns="0" tIns="0" rIns="0" bIns="0" rtlCol="0" anchor="t"/>
          <a:lstStyle/>
          <a:p>
            <a:pPr indent="0" marL="0">
              <a:buNone/>
            </a:pPr>
            <a:r>
              <a:rPr lang="en-US" sz="1150" b="1" dirty="0">
                <a:solidFill>
                  <a:srgbClr val="EDEAE3"/>
                </a:solidFill>
                <a:latin typeface="Calibri" pitchFamily="34" charset="0"/>
                <a:ea typeface="Calibri" pitchFamily="34" charset="-122"/>
                <a:cs typeface="Calibri" pitchFamily="34" charset="-120"/>
              </a:rPr>
              <a:t>Electricity</a:t>
            </a:r>
            <a:endParaRPr lang="en-US" sz="1150" dirty="0"/>
          </a:p>
        </p:txBody>
      </p:sp>
      <p:sp>
        <p:nvSpPr>
          <p:cNvPr id="11" name="Text 7"/>
          <p:cNvSpPr txBox="1"/>
          <p:nvPr/>
        </p:nvSpPr>
        <p:spPr>
          <a:xfrm>
            <a:off x="6720840" y="4343400"/>
            <a:ext cx="4937760" cy="566928"/>
          </a:xfrm>
          <a:prstGeom prst="rect">
            <a:avLst/>
          </a:prstGeom>
          <a:noFill/>
          <a:ln/>
        </p:spPr>
        <p:txBody>
          <a:bodyPr wrap="square" lIns="0" tIns="0" rIns="0" bIns="0" rtlCol="0" anchor="t"/>
          <a:lstStyle/>
          <a:p>
            <a:pPr indent="0" marL="0">
              <a:buNone/>
            </a:pPr>
            <a:r>
              <a:rPr lang="en-US" sz="1050" dirty="0">
                <a:solidFill>
                  <a:srgbClr val="A8A49B"/>
                </a:solidFill>
                <a:latin typeface="Calibri" pitchFamily="34" charset="0"/>
                <a:ea typeface="Calibri" pitchFamily="34" charset="-122"/>
                <a:cs typeface="Calibri" pitchFamily="34" charset="-120"/>
              </a:rPr>
              <a:t>Each of the 67 rows benchmarked stage by stage: EAF 460 on scrap, 650 on virgin; AOD 45–60; LF 35–55; caster ~30.</a:t>
            </a:r>
            <a:endParaRPr lang="en-US" sz="1050" dirty="0"/>
          </a:p>
        </p:txBody>
      </p:sp>
      <p:sp>
        <p:nvSpPr>
          <p:cNvPr id="12" name="Text 8"/>
          <p:cNvSpPr txBox="1"/>
          <p:nvPr/>
        </p:nvSpPr>
        <p:spPr>
          <a:xfrm>
            <a:off x="4846320" y="4983480"/>
            <a:ext cx="1828800" cy="548640"/>
          </a:xfrm>
          <a:prstGeom prst="rect">
            <a:avLst/>
          </a:prstGeom>
          <a:noFill/>
          <a:ln/>
        </p:spPr>
        <p:txBody>
          <a:bodyPr wrap="square" lIns="0" tIns="0" rIns="0" bIns="0" rtlCol="0" anchor="t"/>
          <a:lstStyle/>
          <a:p>
            <a:pPr indent="0" marL="0">
              <a:buNone/>
            </a:pPr>
            <a:r>
              <a:rPr lang="en-US" sz="1150" b="1" dirty="0">
                <a:solidFill>
                  <a:srgbClr val="EDEAE3"/>
                </a:solidFill>
                <a:latin typeface="Calibri" pitchFamily="34" charset="0"/>
                <a:ea typeface="Calibri" pitchFamily="34" charset="-122"/>
                <a:cs typeface="Calibri" pitchFamily="34" charset="-120"/>
              </a:rPr>
              <a:t>Scope 3 of the charge</a:t>
            </a:r>
            <a:endParaRPr lang="en-US" sz="1150" dirty="0"/>
          </a:p>
        </p:txBody>
      </p:sp>
      <p:sp>
        <p:nvSpPr>
          <p:cNvPr id="13" name="Text 9"/>
          <p:cNvSpPr txBox="1"/>
          <p:nvPr/>
        </p:nvSpPr>
        <p:spPr>
          <a:xfrm>
            <a:off x="6720840" y="4983480"/>
            <a:ext cx="4937760" cy="566928"/>
          </a:xfrm>
          <a:prstGeom prst="rect">
            <a:avLst/>
          </a:prstGeom>
          <a:noFill/>
          <a:ln/>
        </p:spPr>
        <p:txBody>
          <a:bodyPr wrap="square" lIns="0" tIns="0" rIns="0" bIns="0" rtlCol="0" anchor="t"/>
          <a:lstStyle/>
          <a:p>
            <a:pPr indent="0" marL="0">
              <a:buNone/>
            </a:pPr>
            <a:r>
              <a:rPr lang="en-US" sz="1050" dirty="0">
                <a:solidFill>
                  <a:srgbClr val="A8A49B"/>
                </a:solidFill>
                <a:latin typeface="Calibri" pitchFamily="34" charset="0"/>
                <a:ea typeface="Calibri" pitchFamily="34" charset="-122"/>
                <a:cs typeface="Calibri" pitchFamily="34" charset="-120"/>
              </a:rPr>
              <a:t>Virgin charge raised 1.1 → 3.2 tCO₂e/t (ferrochrome, nickel, pig iron); scrap enters at 0.2. Over its full range, scrap is now the biggest lever.</a:t>
            </a:r>
            <a:endParaRPr lang="en-US" sz="1050" dirty="0"/>
          </a:p>
        </p:txBody>
      </p:sp>
      <p:sp>
        <p:nvSpPr>
          <p:cNvPr id="14" name="Text 10"/>
          <p:cNvSpPr txBox="1"/>
          <p:nvPr/>
        </p:nvSpPr>
        <p:spPr>
          <a:xfrm>
            <a:off x="4846320" y="5623560"/>
            <a:ext cx="1828800" cy="548640"/>
          </a:xfrm>
          <a:prstGeom prst="rect">
            <a:avLst/>
          </a:prstGeom>
          <a:noFill/>
          <a:ln/>
        </p:spPr>
        <p:txBody>
          <a:bodyPr wrap="square" lIns="0" tIns="0" rIns="0" bIns="0" rtlCol="0" anchor="t"/>
          <a:lstStyle/>
          <a:p>
            <a:pPr indent="0" marL="0">
              <a:buNone/>
            </a:pPr>
            <a:r>
              <a:rPr lang="en-US" sz="1150" b="1" dirty="0">
                <a:solidFill>
                  <a:srgbClr val="EDEAE3"/>
                </a:solidFill>
                <a:latin typeface="Calibri" pitchFamily="34" charset="0"/>
                <a:ea typeface="Calibri" pitchFamily="34" charset="-122"/>
                <a:cs typeface="Calibri" pitchFamily="34" charset="-120"/>
              </a:rPr>
              <a:t>Site profiles</a:t>
            </a:r>
            <a:endParaRPr lang="en-US" sz="1150" dirty="0"/>
          </a:p>
        </p:txBody>
      </p:sp>
      <p:sp>
        <p:nvSpPr>
          <p:cNvPr id="15" name="Text 11"/>
          <p:cNvSpPr txBox="1"/>
          <p:nvPr/>
        </p:nvSpPr>
        <p:spPr>
          <a:xfrm>
            <a:off x="6720840" y="5623560"/>
            <a:ext cx="4937760" cy="566928"/>
          </a:xfrm>
          <a:prstGeom prst="rect">
            <a:avLst/>
          </a:prstGeom>
          <a:noFill/>
          <a:ln/>
        </p:spPr>
        <p:txBody>
          <a:bodyPr wrap="square" lIns="0" tIns="0" rIns="0" bIns="0" rtlCol="0" anchor="t"/>
          <a:lstStyle/>
          <a:p>
            <a:pPr indent="0" marL="0">
              <a:buNone/>
            </a:pPr>
            <a:r>
              <a:rPr lang="en-US" sz="1050" dirty="0">
                <a:solidFill>
                  <a:srgbClr val="A8A49B"/>
                </a:solidFill>
                <a:latin typeface="Calibri" pitchFamily="34" charset="0"/>
                <a:ea typeface="Calibri" pitchFamily="34" charset="-122"/>
                <a:cs typeface="Calibri" pitchFamily="34" charset="-120"/>
              </a:rPr>
              <a:t>Only publicly described equipment is ticked (Primetals, ANDRITZ, JSL). Scrap set so Jajpur + Hisar average back to JSL's 70%.</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24A2C"/>
          </a:solidFill>
          <a:ln w="12700">
            <a:solidFill>
              <a:srgbClr val="B24A2C"/>
            </a:solidFill>
            <a:prstDash val="solid"/>
          </a:ln>
        </p:spPr>
      </p:sp>
      <p:sp>
        <p:nvSpPr>
          <p:cNvPr id="3" name="Text 1"/>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 name="Text 2"/>
          <p:cNvSpPr txBox="1"/>
          <p:nvPr/>
        </p:nvSpPr>
        <p:spPr>
          <a:xfrm>
            <a:off x="1051560" y="329184"/>
            <a:ext cx="10058400" cy="256032"/>
          </a:xfrm>
          <a:prstGeom prst="rect">
            <a:avLst/>
          </a:prstGeom>
          <a:noFill/>
          <a:ln/>
        </p:spPr>
        <p:txBody>
          <a:bodyPr wrap="square" lIns="0" tIns="0" rIns="0" bIns="0" rtlCol="0" anchor="ctr"/>
          <a:lstStyle/>
          <a:p>
            <a:pPr indent="0" marL="0">
              <a:buNone/>
            </a:pPr>
            <a:r>
              <a:rPr lang="en-US" sz="1100" b="1" spc="100" kern="0" dirty="0">
                <a:solidFill>
                  <a:srgbClr val="B24A2C"/>
                </a:solidFill>
                <a:latin typeface="Calibri" pitchFamily="34" charset="0"/>
                <a:ea typeface="Calibri" pitchFamily="34" charset="-122"/>
                <a:cs typeface="Calibri" pitchFamily="34" charset="-120"/>
              </a:rPr>
              <a:t>PROPOSED SOLUTION  ·  THE PRODUCT</a:t>
            </a:r>
            <a:endParaRPr lang="en-US" sz="1100" dirty="0"/>
          </a:p>
        </p:txBody>
      </p:sp>
      <p:sp>
        <p:nvSpPr>
          <p:cNvPr id="5" name="Text 3"/>
          <p:cNvSpPr txBox="1"/>
          <p:nvPr/>
        </p:nvSpPr>
        <p:spPr>
          <a:xfrm>
            <a:off x="1051560" y="585216"/>
            <a:ext cx="10698480" cy="566928"/>
          </a:xfrm>
          <a:prstGeom prst="rect">
            <a:avLst/>
          </a:prstGeom>
          <a:noFill/>
          <a:ln/>
        </p:spPr>
        <p:txBody>
          <a:bodyPr wrap="square" lIns="0" tIns="0" rIns="0" bIns="0" rtlCol="0" anchor="t"/>
          <a:lstStyle/>
          <a:p>
            <a:pPr indent="0" marL="0">
              <a:buNone/>
            </a:pPr>
            <a:r>
              <a:rPr lang="en-US" sz="3000" dirty="0">
                <a:solidFill>
                  <a:srgbClr val="1F1F1E"/>
                </a:solidFill>
                <a:latin typeface="Cambria" pitchFamily="34" charset="0"/>
                <a:ea typeface="Cambria" pitchFamily="34" charset="-122"/>
                <a:cs typeface="Cambria" pitchFamily="34" charset="-120"/>
              </a:rPr>
              <a:t>CarbonSpark: every lever on one screen, live</a:t>
            </a:r>
            <a:endParaRPr lang="en-US" sz="3000" dirty="0"/>
          </a:p>
        </p:txBody>
      </p:sp>
      <p:sp>
        <p:nvSpPr>
          <p:cNvPr id="6" name="Shape 4"/>
          <p:cNvSpPr/>
          <p:nvPr/>
        </p:nvSpPr>
        <p:spPr>
          <a:xfrm>
            <a:off x="512064" y="1335024"/>
            <a:ext cx="6565392" cy="4053679"/>
          </a:xfrm>
          <a:prstGeom prst="rect">
            <a:avLst/>
          </a:prstGeom>
          <a:solidFill>
            <a:srgbClr val="DDD9D0"/>
          </a:solidFill>
          <a:ln w="12700">
            <a:solidFill>
              <a:srgbClr val="DDD9D0"/>
            </a:solidFill>
            <a:prstDash val="solid"/>
          </a:ln>
          <a:effectLst>
            <a:outerShdw sx="100000" sy="100000" kx="0" ky="0" algn="bl" rotWithShape="0" blurRad="101600" dist="38100" dir="5400000">
              <a:srgbClr val="000000">
                <a:alpha val="18000"/>
              </a:srgbClr>
            </a:outerShdw>
          </a:effectLst>
        </p:spPr>
      </p:sp>
      <p:pic>
        <p:nvPicPr>
          <p:cNvPr id="7" name="Image 0" descr="/tmp/lo/crops/drawer.png">    </p:cNvPr>
          <p:cNvPicPr>
            <a:picLocks noChangeAspect="1"/>
          </p:cNvPicPr>
          <p:nvPr/>
        </p:nvPicPr>
        <p:blipFill>
          <a:blip r:embed="rId1"/>
          <a:stretch>
            <a:fillRect/>
          </a:stretch>
        </p:blipFill>
        <p:spPr>
          <a:xfrm>
            <a:off x="548640" y="1371600"/>
            <a:ext cx="6492240" cy="3980527"/>
          </a:xfrm>
          <a:prstGeom prst="rect">
            <a:avLst/>
          </a:prstGeom>
        </p:spPr>
      </p:pic>
      <p:sp>
        <p:nvSpPr>
          <p:cNvPr id="8" name="Text 5"/>
          <p:cNvSpPr txBox="1"/>
          <p:nvPr/>
        </p:nvSpPr>
        <p:spPr>
          <a:xfrm>
            <a:off x="548640" y="5461855"/>
            <a:ext cx="6492240" cy="457200"/>
          </a:xfrm>
          <a:prstGeom prst="rect">
            <a:avLst/>
          </a:prstGeom>
          <a:noFill/>
          <a:ln/>
        </p:spPr>
        <p:txBody>
          <a:bodyPr wrap="square" lIns="0" tIns="0" rIns="0" bIns="0" rtlCol="0" anchor="t"/>
          <a:lstStyle/>
          <a:p>
            <a:pPr indent="0" marL="0">
              <a:buNone/>
            </a:pPr>
            <a:r>
              <a:rPr lang="en-US" sz="1000" i="1" dirty="0">
                <a:solidFill>
                  <a:srgbClr val="8A867D"/>
                </a:solidFill>
                <a:latin typeface="Calibri" pitchFamily="34" charset="0"/>
                <a:ea typeface="Calibri" pitchFamily="34" charset="-122"/>
                <a:cs typeface="Calibri" pitchFamily="34" charset="-120"/>
              </a:rPr>
              <a:t>Inputs drawer, Energy panel: seven grid sources, each slider with its emission factor. The readout on the right updates as you drag.</a:t>
            </a:r>
            <a:endParaRPr lang="en-US" sz="1000" dirty="0"/>
          </a:p>
        </p:txBody>
      </p:sp>
      <p:sp>
        <p:nvSpPr>
          <p:cNvPr id="9" name="Shape 6"/>
          <p:cNvSpPr/>
          <p:nvPr/>
        </p:nvSpPr>
        <p:spPr>
          <a:xfrm>
            <a:off x="7406640" y="1371600"/>
            <a:ext cx="457200" cy="457200"/>
          </a:xfrm>
          <a:prstGeom prst="ellipse">
            <a:avLst/>
          </a:prstGeom>
          <a:solidFill>
            <a:srgbClr val="F2F0EB"/>
          </a:solidFill>
          <a:ln w="12700">
            <a:solidFill>
              <a:srgbClr val="F2F0EB"/>
            </a:solidFill>
            <a:prstDash val="solid"/>
          </a:ln>
        </p:spPr>
      </p:sp>
      <p:pic>
        <p:nvPicPr>
          <p:cNvPr id="10" name="Image 1" descr="preencoded.png">    </p:cNvPr>
          <p:cNvPicPr>
            <a:picLocks noChangeAspect="1"/>
          </p:cNvPicPr>
          <p:nvPr/>
        </p:nvPicPr>
        <p:blipFill>
          <a:blip r:embed="rId2"/>
          <a:stretch>
            <a:fillRect/>
          </a:stretch>
        </p:blipFill>
        <p:spPr>
          <a:xfrm>
            <a:off x="7507224" y="1472184"/>
            <a:ext cx="256032" cy="256032"/>
          </a:xfrm>
          <a:prstGeom prst="rect">
            <a:avLst/>
          </a:prstGeom>
        </p:spPr>
      </p:pic>
      <p:sp>
        <p:nvSpPr>
          <p:cNvPr id="11" name="Text 7"/>
          <p:cNvSpPr txBox="1"/>
          <p:nvPr/>
        </p:nvSpPr>
        <p:spPr>
          <a:xfrm>
            <a:off x="8046720" y="1353312"/>
            <a:ext cx="3657600" cy="292608"/>
          </a:xfrm>
          <a:prstGeom prst="rect">
            <a:avLst/>
          </a:prstGeom>
          <a:noFill/>
          <a:ln/>
        </p:spPr>
        <p:txBody>
          <a:bodyPr wrap="square" lIns="0" tIns="0" rIns="0" bIns="0"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Dashboard</a:t>
            </a:r>
            <a:endParaRPr lang="en-US" sz="1300" dirty="0"/>
          </a:p>
        </p:txBody>
      </p:sp>
      <p:sp>
        <p:nvSpPr>
          <p:cNvPr id="12" name="Text 8"/>
          <p:cNvSpPr txBox="1"/>
          <p:nvPr/>
        </p:nvSpPr>
        <p:spPr>
          <a:xfrm>
            <a:off x="8046720" y="1645920"/>
            <a:ext cx="3611880" cy="5943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One headline tonne split into Scope 1 / 2 / 3, then by department and by gas.</a:t>
            </a:r>
            <a:endParaRPr lang="en-US" sz="1050" dirty="0"/>
          </a:p>
        </p:txBody>
      </p:sp>
      <p:sp>
        <p:nvSpPr>
          <p:cNvPr id="13" name="Shape 9"/>
          <p:cNvSpPr/>
          <p:nvPr/>
        </p:nvSpPr>
        <p:spPr>
          <a:xfrm>
            <a:off x="7406640" y="2240280"/>
            <a:ext cx="457200" cy="457200"/>
          </a:xfrm>
          <a:prstGeom prst="ellipse">
            <a:avLst/>
          </a:prstGeom>
          <a:solidFill>
            <a:srgbClr val="F2F0EB"/>
          </a:solidFill>
          <a:ln w="12700">
            <a:solidFill>
              <a:srgbClr val="F2F0EB"/>
            </a:solidFill>
            <a:prstDash val="solid"/>
          </a:ln>
        </p:spPr>
      </p:sp>
      <p:pic>
        <p:nvPicPr>
          <p:cNvPr id="14" name="Image 2" descr="preencoded.png">    </p:cNvPr>
          <p:cNvPicPr>
            <a:picLocks noChangeAspect="1"/>
          </p:cNvPicPr>
          <p:nvPr/>
        </p:nvPicPr>
        <p:blipFill>
          <a:blip r:embed="rId3"/>
          <a:stretch>
            <a:fillRect/>
          </a:stretch>
        </p:blipFill>
        <p:spPr>
          <a:xfrm>
            <a:off x="7507224" y="2340864"/>
            <a:ext cx="256032" cy="256032"/>
          </a:xfrm>
          <a:prstGeom prst="rect">
            <a:avLst/>
          </a:prstGeom>
        </p:spPr>
      </p:pic>
      <p:sp>
        <p:nvSpPr>
          <p:cNvPr id="15" name="Text 10"/>
          <p:cNvSpPr txBox="1"/>
          <p:nvPr/>
        </p:nvSpPr>
        <p:spPr>
          <a:xfrm>
            <a:off x="8046720" y="2221992"/>
            <a:ext cx="3657600" cy="292608"/>
          </a:xfrm>
          <a:prstGeom prst="rect">
            <a:avLst/>
          </a:prstGeom>
          <a:noFill/>
          <a:ln/>
        </p:spPr>
        <p:txBody>
          <a:bodyPr wrap="square" lIns="0" tIns="0" rIns="0" bIns="0"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Inputs drawer</a:t>
            </a:r>
            <a:endParaRPr lang="en-US" sz="1300" dirty="0"/>
          </a:p>
        </p:txBody>
      </p:sp>
      <p:sp>
        <p:nvSpPr>
          <p:cNvPr id="16" name="Text 11"/>
          <p:cNvSpPr txBox="1"/>
          <p:nvPr/>
        </p:nvSpPr>
        <p:spPr>
          <a:xfrm>
            <a:off x="8046720" y="2514600"/>
            <a:ext cx="3611880" cy="5943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Scrap share, 7-source grid mix, rail share per leg, and 67 process steps you can switch on or off.</a:t>
            </a:r>
            <a:endParaRPr lang="en-US" sz="1050" dirty="0"/>
          </a:p>
        </p:txBody>
      </p:sp>
      <p:sp>
        <p:nvSpPr>
          <p:cNvPr id="17" name="Shape 12"/>
          <p:cNvSpPr/>
          <p:nvPr/>
        </p:nvSpPr>
        <p:spPr>
          <a:xfrm>
            <a:off x="7406640" y="3108960"/>
            <a:ext cx="457200" cy="457200"/>
          </a:xfrm>
          <a:prstGeom prst="ellipse">
            <a:avLst/>
          </a:prstGeom>
          <a:solidFill>
            <a:srgbClr val="F2F0EB"/>
          </a:solidFill>
          <a:ln w="12700">
            <a:solidFill>
              <a:srgbClr val="F2F0EB"/>
            </a:solidFill>
            <a:prstDash val="solid"/>
          </a:ln>
        </p:spPr>
      </p:sp>
      <p:pic>
        <p:nvPicPr>
          <p:cNvPr id="18" name="Image 3" descr="preencoded.png">    </p:cNvPr>
          <p:cNvPicPr>
            <a:picLocks noChangeAspect="1"/>
          </p:cNvPicPr>
          <p:nvPr/>
        </p:nvPicPr>
        <p:blipFill>
          <a:blip r:embed="rId4"/>
          <a:stretch>
            <a:fillRect/>
          </a:stretch>
        </p:blipFill>
        <p:spPr>
          <a:xfrm>
            <a:off x="7507224" y="3209544"/>
            <a:ext cx="256032" cy="256032"/>
          </a:xfrm>
          <a:prstGeom prst="rect">
            <a:avLst/>
          </a:prstGeom>
        </p:spPr>
      </p:pic>
      <p:sp>
        <p:nvSpPr>
          <p:cNvPr id="19" name="Text 13"/>
          <p:cNvSpPr txBox="1"/>
          <p:nvPr/>
        </p:nvSpPr>
        <p:spPr>
          <a:xfrm>
            <a:off x="8046720" y="3090672"/>
            <a:ext cx="3657600" cy="292608"/>
          </a:xfrm>
          <a:prstGeom prst="rect">
            <a:avLst/>
          </a:prstGeom>
          <a:noFill/>
          <a:ln/>
        </p:spPr>
        <p:txBody>
          <a:bodyPr wrap="square" lIns="0" tIns="0" rIns="0" bIns="0"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Compare</a:t>
            </a:r>
            <a:endParaRPr lang="en-US" sz="1300" dirty="0"/>
          </a:p>
        </p:txBody>
      </p:sp>
      <p:sp>
        <p:nvSpPr>
          <p:cNvPr id="20" name="Text 14"/>
          <p:cNvSpPr txBox="1"/>
          <p:nvPr/>
        </p:nvSpPr>
        <p:spPr>
          <a:xfrm>
            <a:off x="8046720" y="3383280"/>
            <a:ext cx="3611880" cy="5943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Two plants or plans side by side, each with its own full route, per-scope deltas.</a:t>
            </a:r>
            <a:endParaRPr lang="en-US" sz="1050" dirty="0"/>
          </a:p>
        </p:txBody>
      </p:sp>
      <p:sp>
        <p:nvSpPr>
          <p:cNvPr id="21" name="Shape 15"/>
          <p:cNvSpPr/>
          <p:nvPr/>
        </p:nvSpPr>
        <p:spPr>
          <a:xfrm>
            <a:off x="7406640" y="3977640"/>
            <a:ext cx="457200" cy="457200"/>
          </a:xfrm>
          <a:prstGeom prst="ellipse">
            <a:avLst/>
          </a:prstGeom>
          <a:solidFill>
            <a:srgbClr val="F2F0EB"/>
          </a:solidFill>
          <a:ln w="12700">
            <a:solidFill>
              <a:srgbClr val="F2F0EB"/>
            </a:solidFill>
            <a:prstDash val="solid"/>
          </a:ln>
        </p:spPr>
      </p:sp>
      <p:pic>
        <p:nvPicPr>
          <p:cNvPr id="22" name="Image 4" descr="preencoded.png">    </p:cNvPr>
          <p:cNvPicPr>
            <a:picLocks noChangeAspect="1"/>
          </p:cNvPicPr>
          <p:nvPr/>
        </p:nvPicPr>
        <p:blipFill>
          <a:blip r:embed="rId5"/>
          <a:stretch>
            <a:fillRect/>
          </a:stretch>
        </p:blipFill>
        <p:spPr>
          <a:xfrm>
            <a:off x="7507224" y="4078224"/>
            <a:ext cx="256032" cy="256032"/>
          </a:xfrm>
          <a:prstGeom prst="rect">
            <a:avLst/>
          </a:prstGeom>
        </p:spPr>
      </p:pic>
      <p:sp>
        <p:nvSpPr>
          <p:cNvPr id="23" name="Text 16"/>
          <p:cNvSpPr txBox="1"/>
          <p:nvPr/>
        </p:nvSpPr>
        <p:spPr>
          <a:xfrm>
            <a:off x="8046720" y="3959352"/>
            <a:ext cx="3657600" cy="292608"/>
          </a:xfrm>
          <a:prstGeom prst="rect">
            <a:avLst/>
          </a:prstGeom>
          <a:noFill/>
          <a:ln/>
        </p:spPr>
        <p:txBody>
          <a:bodyPr wrap="square" lIns="0" tIns="0" rIns="0" bIns="0"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Optimiser</a:t>
            </a:r>
            <a:endParaRPr lang="en-US" sz="1300" dirty="0"/>
          </a:p>
        </p:txBody>
      </p:sp>
      <p:sp>
        <p:nvSpPr>
          <p:cNvPr id="24" name="Text 17"/>
          <p:cNvSpPr txBox="1"/>
          <p:nvPr/>
        </p:nvSpPr>
        <p:spPr>
          <a:xfrm>
            <a:off x="8046720" y="4251960"/>
            <a:ext cx="3611880" cy="5943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Lowest-carbon plan under three ambition levels, a savings waterfall, and a written review.</a:t>
            </a:r>
            <a:endParaRPr lang="en-US" sz="1050" dirty="0"/>
          </a:p>
        </p:txBody>
      </p:sp>
      <p:sp>
        <p:nvSpPr>
          <p:cNvPr id="25" name="Shape 18"/>
          <p:cNvSpPr/>
          <p:nvPr/>
        </p:nvSpPr>
        <p:spPr>
          <a:xfrm>
            <a:off x="7406640" y="4846320"/>
            <a:ext cx="457200" cy="457200"/>
          </a:xfrm>
          <a:prstGeom prst="ellipse">
            <a:avLst/>
          </a:prstGeom>
          <a:solidFill>
            <a:srgbClr val="F2F0EB"/>
          </a:solidFill>
          <a:ln w="12700">
            <a:solidFill>
              <a:srgbClr val="F2F0EB"/>
            </a:solidFill>
            <a:prstDash val="solid"/>
          </a:ln>
        </p:spPr>
      </p:sp>
      <p:pic>
        <p:nvPicPr>
          <p:cNvPr id="26" name="Image 5" descr="preencoded.png">    </p:cNvPr>
          <p:cNvPicPr>
            <a:picLocks noChangeAspect="1"/>
          </p:cNvPicPr>
          <p:nvPr/>
        </p:nvPicPr>
        <p:blipFill>
          <a:blip r:embed="rId6"/>
          <a:stretch>
            <a:fillRect/>
          </a:stretch>
        </p:blipFill>
        <p:spPr>
          <a:xfrm>
            <a:off x="7507224" y="4946904"/>
            <a:ext cx="256032" cy="256032"/>
          </a:xfrm>
          <a:prstGeom prst="rect">
            <a:avLst/>
          </a:prstGeom>
        </p:spPr>
      </p:pic>
      <p:sp>
        <p:nvSpPr>
          <p:cNvPr id="27" name="Text 19"/>
          <p:cNvSpPr txBox="1"/>
          <p:nvPr/>
        </p:nvSpPr>
        <p:spPr>
          <a:xfrm>
            <a:off x="8046720" y="4828032"/>
            <a:ext cx="3657600" cy="292608"/>
          </a:xfrm>
          <a:prstGeom prst="rect">
            <a:avLst/>
          </a:prstGeom>
          <a:noFill/>
          <a:ln/>
        </p:spPr>
        <p:txBody>
          <a:bodyPr wrap="square" lIns="0" tIns="0" rIns="0" bIns="0" rtlCol="0" anchor="ctr"/>
          <a:lstStyle/>
          <a:p>
            <a:pPr indent="0" marL="0">
              <a:buNone/>
            </a:pPr>
            <a:r>
              <a:rPr lang="en-US" sz="1300" b="1" dirty="0">
                <a:solidFill>
                  <a:srgbClr val="1F1F1E"/>
                </a:solidFill>
                <a:latin typeface="Calibri" pitchFamily="34" charset="0"/>
                <a:ea typeface="Calibri" pitchFamily="34" charset="-122"/>
                <a:cs typeface="Calibri" pitchFamily="34" charset="-120"/>
              </a:rPr>
              <a:t>Database</a:t>
            </a:r>
            <a:endParaRPr lang="en-US" sz="1300" dirty="0"/>
          </a:p>
        </p:txBody>
      </p:sp>
      <p:sp>
        <p:nvSpPr>
          <p:cNvPr id="28" name="Text 20"/>
          <p:cNvSpPr txBox="1"/>
          <p:nvPr/>
        </p:nvSpPr>
        <p:spPr>
          <a:xfrm>
            <a:off x="8046720" y="5120640"/>
            <a:ext cx="3611880" cy="5943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Every formula, factor, source and calibration note, downloadable.</a:t>
            </a:r>
            <a:endParaRPr lang="en-US" sz="1050" dirty="0"/>
          </a:p>
        </p:txBody>
      </p:sp>
      <p:sp>
        <p:nvSpPr>
          <p:cNvPr id="29" name="Shape 21"/>
          <p:cNvSpPr/>
          <p:nvPr/>
        </p:nvSpPr>
        <p:spPr>
          <a:xfrm>
            <a:off x="7406640" y="5806440"/>
            <a:ext cx="4251960" cy="548640"/>
          </a:xfrm>
          <a:prstGeom prst="rect">
            <a:avLst/>
          </a:prstGeom>
          <a:solidFill>
            <a:srgbClr val="F2F0EB"/>
          </a:solidFill>
          <a:ln w="12700">
            <a:solidFill>
              <a:srgbClr val="F2F0EB"/>
            </a:solidFill>
            <a:prstDash val="solid"/>
          </a:ln>
        </p:spPr>
      </p:sp>
      <p:sp>
        <p:nvSpPr>
          <p:cNvPr id="30" name="Text 22"/>
          <p:cNvSpPr txBox="1"/>
          <p:nvPr/>
        </p:nvSpPr>
        <p:spPr>
          <a:xfrm>
            <a:off x="7543800" y="5806440"/>
            <a:ext cx="4023360" cy="548640"/>
          </a:xfrm>
          <a:prstGeom prst="rect">
            <a:avLst/>
          </a:prstGeom>
          <a:noFill/>
          <a:ln/>
        </p:spPr>
        <p:txBody>
          <a:bodyPr wrap="square" lIns="0" tIns="0" rIns="0" bIns="0" rtlCol="0" anchor="ctr"/>
          <a:lstStyle/>
          <a:p>
            <a:pPr indent="0" marL="0">
              <a:buNone/>
            </a:pPr>
            <a:r>
              <a:rPr lang="en-US" sz="1050" b="1" dirty="0">
                <a:solidFill>
                  <a:srgbClr val="B24A2C"/>
                </a:solidFill>
                <a:latin typeface="Calibri" pitchFamily="34" charset="0"/>
                <a:ea typeface="Calibri" pitchFamily="34" charset="-122"/>
                <a:cs typeface="Calibri" pitchFamily="34" charset="-120"/>
              </a:rPr>
              <a:t>New in Round 2: </a:t>
            </a:r>
            <a:pPr indent="0" marL="0">
              <a:buNone/>
            </a:pPr>
            <a:r>
              <a:rPr lang="en-US" sz="1050" dirty="0">
                <a:solidFill>
                  <a:srgbClr val="1F1F1E"/>
                </a:solidFill>
                <a:latin typeface="Calibri" pitchFamily="34" charset="0"/>
                <a:ea typeface="Calibri" pitchFamily="34" charset="-122"/>
                <a:cs typeface="Calibri" pitchFamily="34" charset="-120"/>
              </a:rPr>
              <a:t>photo-led input panels, light/dark themes, JSL site profiles, Compare, exact optimiser, review.</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1C1B"/>
        </a:solidFill>
      </p:bgPr>
    </p:bg>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24A2C"/>
          </a:solidFill>
          <a:ln w="12700">
            <a:solidFill>
              <a:srgbClr val="B24A2C"/>
            </a:solidFill>
            <a:prstDash val="solid"/>
          </a:ln>
        </p:spPr>
      </p:sp>
      <p:sp>
        <p:nvSpPr>
          <p:cNvPr id="3" name="Text 1"/>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 name="Text 2"/>
          <p:cNvSpPr txBox="1"/>
          <p:nvPr/>
        </p:nvSpPr>
        <p:spPr>
          <a:xfrm>
            <a:off x="1051560" y="329184"/>
            <a:ext cx="10058400" cy="256032"/>
          </a:xfrm>
          <a:prstGeom prst="rect">
            <a:avLst/>
          </a:prstGeom>
          <a:noFill/>
          <a:ln/>
        </p:spPr>
        <p:txBody>
          <a:bodyPr wrap="square" lIns="0" tIns="0" rIns="0" bIns="0" rtlCol="0" anchor="ctr"/>
          <a:lstStyle/>
          <a:p>
            <a:pPr indent="0" marL="0">
              <a:buNone/>
            </a:pPr>
            <a:r>
              <a:rPr lang="en-US" sz="1100" b="1" spc="100" kern="0" dirty="0">
                <a:solidFill>
                  <a:srgbClr val="E08A63"/>
                </a:solidFill>
                <a:latin typeface="Calibri" pitchFamily="34" charset="0"/>
                <a:ea typeface="Calibri" pitchFamily="34" charset="-122"/>
                <a:cs typeface="Calibri" pitchFamily="34" charset="-120"/>
              </a:rPr>
              <a:t>PROPOSED SOLUTION  ·  FROM NUMBER TO DECISION</a:t>
            </a:r>
            <a:endParaRPr lang="en-US" sz="1100" dirty="0"/>
          </a:p>
        </p:txBody>
      </p:sp>
      <p:sp>
        <p:nvSpPr>
          <p:cNvPr id="5" name="Text 3"/>
          <p:cNvSpPr txBox="1"/>
          <p:nvPr/>
        </p:nvSpPr>
        <p:spPr>
          <a:xfrm>
            <a:off x="1051560" y="585216"/>
            <a:ext cx="10698480" cy="566928"/>
          </a:xfrm>
          <a:prstGeom prst="rect">
            <a:avLst/>
          </a:prstGeom>
          <a:noFill/>
          <a:ln/>
        </p:spPr>
        <p:txBody>
          <a:bodyPr wrap="square" lIns="0" tIns="0" rIns="0" bIns="0" rtlCol="0" anchor="t"/>
          <a:lstStyle/>
          <a:p>
            <a:pPr indent="0" marL="0">
              <a:buNone/>
            </a:pPr>
            <a:r>
              <a:rPr lang="en-US" sz="3000" dirty="0">
                <a:solidFill>
                  <a:srgbClr val="EDEAE3"/>
                </a:solidFill>
                <a:latin typeface="Cambria" pitchFamily="34" charset="0"/>
                <a:ea typeface="Cambria" pitchFamily="34" charset="-122"/>
                <a:cs typeface="Cambria" pitchFamily="34" charset="-120"/>
              </a:rPr>
              <a:t>It doesn't just score a plan, it writes the next one</a:t>
            </a:r>
            <a:endParaRPr lang="en-US" sz="3000" dirty="0"/>
          </a:p>
        </p:txBody>
      </p:sp>
      <p:sp>
        <p:nvSpPr>
          <p:cNvPr id="6" name="Shape 4"/>
          <p:cNvSpPr/>
          <p:nvPr/>
        </p:nvSpPr>
        <p:spPr>
          <a:xfrm>
            <a:off x="512064" y="1335024"/>
            <a:ext cx="5833872" cy="1885269"/>
          </a:xfrm>
          <a:prstGeom prst="rect">
            <a:avLst/>
          </a:prstGeom>
          <a:solidFill>
            <a:srgbClr val="3A3835"/>
          </a:solidFill>
          <a:ln w="12700">
            <a:solidFill>
              <a:srgbClr val="3A3835"/>
            </a:solidFill>
            <a:prstDash val="solid"/>
          </a:ln>
          <a:effectLst>
            <a:outerShdw sx="100000" sy="100000" kx="0" ky="0" algn="bl" rotWithShape="0" blurRad="101600" dist="38100" dir="5400000">
              <a:srgbClr val="000000">
                <a:alpha val="45000"/>
              </a:srgbClr>
            </a:outerShdw>
          </a:effectLst>
        </p:spPr>
      </p:sp>
      <p:pic>
        <p:nvPicPr>
          <p:cNvPr id="7" name="Image 0" descr="/tmp/lo/crops/opt_head.png">    </p:cNvPr>
          <p:cNvPicPr>
            <a:picLocks noChangeAspect="1"/>
          </p:cNvPicPr>
          <p:nvPr/>
        </p:nvPicPr>
        <p:blipFill>
          <a:blip r:embed="rId1"/>
          <a:stretch>
            <a:fillRect/>
          </a:stretch>
        </p:blipFill>
        <p:spPr>
          <a:xfrm>
            <a:off x="548640" y="1371600"/>
            <a:ext cx="5760720" cy="1812117"/>
          </a:xfrm>
          <a:prstGeom prst="rect">
            <a:avLst/>
          </a:prstGeom>
        </p:spPr>
      </p:pic>
      <p:sp>
        <p:nvSpPr>
          <p:cNvPr id="8" name="Shape 5"/>
          <p:cNvSpPr/>
          <p:nvPr/>
        </p:nvSpPr>
        <p:spPr>
          <a:xfrm>
            <a:off x="512064" y="3375741"/>
            <a:ext cx="5833872" cy="1831614"/>
          </a:xfrm>
          <a:prstGeom prst="rect">
            <a:avLst/>
          </a:prstGeom>
          <a:solidFill>
            <a:srgbClr val="3A3835"/>
          </a:solidFill>
          <a:ln w="12700">
            <a:solidFill>
              <a:srgbClr val="3A3835"/>
            </a:solidFill>
            <a:prstDash val="solid"/>
          </a:ln>
          <a:effectLst>
            <a:outerShdw sx="100000" sy="100000" kx="0" ky="0" algn="bl" rotWithShape="0" blurRad="101600" dist="38100" dir="5400000">
              <a:srgbClr val="000000">
                <a:alpha val="45000"/>
              </a:srgbClr>
            </a:outerShdw>
          </a:effectLst>
        </p:spPr>
      </p:sp>
      <p:pic>
        <p:nvPicPr>
          <p:cNvPr id="9" name="Image 1" descr="/tmp/lo/crops/opt_wf.png">    </p:cNvPr>
          <p:cNvPicPr>
            <a:picLocks noChangeAspect="1"/>
          </p:cNvPicPr>
          <p:nvPr/>
        </p:nvPicPr>
        <p:blipFill>
          <a:blip r:embed="rId2"/>
          <a:stretch>
            <a:fillRect/>
          </a:stretch>
        </p:blipFill>
        <p:spPr>
          <a:xfrm>
            <a:off x="548640" y="3412317"/>
            <a:ext cx="5760720" cy="1758462"/>
          </a:xfrm>
          <a:prstGeom prst="rect">
            <a:avLst/>
          </a:prstGeom>
        </p:spPr>
      </p:pic>
      <p:sp>
        <p:nvSpPr>
          <p:cNvPr id="10" name="Text 6"/>
          <p:cNvSpPr txBox="1"/>
          <p:nvPr/>
        </p:nvSpPr>
        <p:spPr>
          <a:xfrm>
            <a:off x="548640" y="5307939"/>
            <a:ext cx="5760720" cy="274320"/>
          </a:xfrm>
          <a:prstGeom prst="rect">
            <a:avLst/>
          </a:prstGeom>
          <a:noFill/>
          <a:ln/>
        </p:spPr>
        <p:txBody>
          <a:bodyPr wrap="square" lIns="0" tIns="0" rIns="0" bIns="0" rtlCol="0" anchor="ctr"/>
          <a:lstStyle/>
          <a:p>
            <a:pPr indent="0" marL="0">
              <a:buNone/>
            </a:pPr>
            <a:r>
              <a:rPr lang="en-US" sz="1000" i="1" dirty="0">
                <a:solidFill>
                  <a:srgbClr val="A8A49B"/>
                </a:solidFill>
                <a:latin typeface="Calibri" pitchFamily="34" charset="0"/>
                <a:ea typeface="Calibri" pitchFamily="34" charset="-122"/>
                <a:cs typeface="Calibri" pitchFamily="34" charset="-120"/>
              </a:rPr>
              <a:t>Optimiser, Buildable today: the plan, and a waterfall where each lever's saving adds up exactly to the gap.</a:t>
            </a:r>
            <a:endParaRPr lang="en-US" sz="1000" dirty="0"/>
          </a:p>
        </p:txBody>
      </p:sp>
      <p:sp>
        <p:nvSpPr>
          <p:cNvPr id="11" name="Text 7"/>
          <p:cNvSpPr txBox="1"/>
          <p:nvPr/>
        </p:nvSpPr>
        <p:spPr>
          <a:xfrm>
            <a:off x="548640" y="5719419"/>
            <a:ext cx="4572000" cy="228600"/>
          </a:xfrm>
          <a:prstGeom prst="rect">
            <a:avLst/>
          </a:prstGeom>
          <a:noFill/>
          <a:ln/>
        </p:spPr>
        <p:txBody>
          <a:bodyPr wrap="square" lIns="0" tIns="0" rIns="0" bIns="0" rtlCol="0" anchor="ctr"/>
          <a:lstStyle/>
          <a:p>
            <a:pPr indent="0" marL="0">
              <a:buNone/>
            </a:pPr>
            <a:r>
              <a:rPr lang="en-US" sz="1050" b="1" spc="100" kern="0" dirty="0">
                <a:solidFill>
                  <a:srgbClr val="E08A63"/>
                </a:solidFill>
                <a:latin typeface="Calibri" pitchFamily="34" charset="0"/>
                <a:ea typeface="Calibri" pitchFamily="34" charset="-122"/>
                <a:cs typeface="Calibri" pitchFamily="34" charset="-120"/>
              </a:rPr>
              <a:t>WHY TRUST THE ANSWER</a:t>
            </a:r>
            <a:endParaRPr lang="en-US" sz="1050" dirty="0"/>
          </a:p>
        </p:txBody>
      </p:sp>
      <p:sp>
        <p:nvSpPr>
          <p:cNvPr id="12" name="Text 8"/>
          <p:cNvSpPr txBox="1"/>
          <p:nvPr/>
        </p:nvSpPr>
        <p:spPr>
          <a:xfrm>
            <a:off x="548640" y="5966307"/>
            <a:ext cx="5760720" cy="685800"/>
          </a:xfrm>
          <a:prstGeom prst="rect">
            <a:avLst/>
          </a:prstGeom>
          <a:noFill/>
          <a:ln/>
        </p:spPr>
        <p:txBody>
          <a:bodyPr wrap="square" lIns="0" tIns="0" rIns="0" bIns="0" rtlCol="0" anchor="t"/>
          <a:lstStyle/>
          <a:p>
            <a:pPr indent="0" marL="0">
              <a:buNone/>
            </a:pPr>
            <a:r>
              <a:rPr lang="en-US" sz="1050" b="1" dirty="0">
                <a:solidFill>
                  <a:srgbClr val="EDEAE3"/>
                </a:solidFill>
                <a:latin typeface="Calibri" pitchFamily="34" charset="0"/>
                <a:ea typeface="Calibri" pitchFamily="34" charset="-122"/>
                <a:cs typeface="Calibri" pitchFamily="34" charset="-120"/>
              </a:rPr>
              <a:t>Exact, not heuristic. </a:t>
            </a:r>
            <a:pPr indent="0" marL="0">
              <a:buNone/>
            </a:pPr>
            <a:r>
              <a:rPr lang="en-US" sz="1050" dirty="0">
                <a:solidFill>
                  <a:srgbClr val="A8A49B"/>
                </a:solidFill>
                <a:latin typeface="Calibri" pitchFamily="34" charset="0"/>
                <a:ea typeface="Calibri" pitchFamily="34" charset="-122"/>
                <a:cs typeface="Calibri" pitchFamily="34" charset="-120"/>
              </a:rPr>
              <a:t>Grid mix is solved greedily to its proven minimum. Scrap and rail are linear, so all 8 corners are checked. Each stage's technology is minimised on its own. About 15 ms.</a:t>
            </a:r>
            <a:endParaRPr lang="en-US" sz="1050" dirty="0"/>
          </a:p>
        </p:txBody>
      </p:sp>
      <p:sp>
        <p:nvSpPr>
          <p:cNvPr id="13" name="Shape 9"/>
          <p:cNvSpPr/>
          <p:nvPr/>
        </p:nvSpPr>
        <p:spPr>
          <a:xfrm>
            <a:off x="6547104" y="1335024"/>
            <a:ext cx="5148072" cy="2562078"/>
          </a:xfrm>
          <a:prstGeom prst="rect">
            <a:avLst/>
          </a:prstGeom>
          <a:solidFill>
            <a:srgbClr val="3A3835"/>
          </a:solidFill>
          <a:ln w="12700">
            <a:solidFill>
              <a:srgbClr val="3A3835"/>
            </a:solidFill>
            <a:prstDash val="solid"/>
          </a:ln>
          <a:effectLst>
            <a:outerShdw sx="100000" sy="100000" kx="0" ky="0" algn="bl" rotWithShape="0" blurRad="101600" dist="38100" dir="5400000">
              <a:srgbClr val="000000">
                <a:alpha val="45000"/>
              </a:srgbClr>
            </a:outerShdw>
          </a:effectLst>
        </p:spPr>
      </p:sp>
      <p:pic>
        <p:nvPicPr>
          <p:cNvPr id="14" name="Image 2" descr="/tmp/lo/crops/compare.png">    </p:cNvPr>
          <p:cNvPicPr>
            <a:picLocks noChangeAspect="1"/>
          </p:cNvPicPr>
          <p:nvPr/>
        </p:nvPicPr>
        <p:blipFill>
          <a:blip r:embed="rId3"/>
          <a:stretch>
            <a:fillRect/>
          </a:stretch>
        </p:blipFill>
        <p:spPr>
          <a:xfrm>
            <a:off x="6583680" y="1371600"/>
            <a:ext cx="5074920" cy="2488926"/>
          </a:xfrm>
          <a:prstGeom prst="rect">
            <a:avLst/>
          </a:prstGeom>
        </p:spPr>
      </p:pic>
      <p:sp>
        <p:nvSpPr>
          <p:cNvPr id="15" name="Text 10"/>
          <p:cNvSpPr txBox="1"/>
          <p:nvPr/>
        </p:nvSpPr>
        <p:spPr>
          <a:xfrm>
            <a:off x="6583680" y="3970254"/>
            <a:ext cx="5074920" cy="274320"/>
          </a:xfrm>
          <a:prstGeom prst="rect">
            <a:avLst/>
          </a:prstGeom>
          <a:noFill/>
          <a:ln/>
        </p:spPr>
        <p:txBody>
          <a:bodyPr wrap="square" lIns="0" tIns="0" rIns="0" bIns="0" rtlCol="0" anchor="ctr"/>
          <a:lstStyle/>
          <a:p>
            <a:pPr indent="0" marL="0">
              <a:buNone/>
            </a:pPr>
            <a:r>
              <a:rPr lang="en-US" sz="1000" i="1" dirty="0">
                <a:solidFill>
                  <a:srgbClr val="A8A49B"/>
                </a:solidFill>
                <a:latin typeface="Calibri" pitchFamily="34" charset="0"/>
                <a:ea typeface="Calibri" pitchFamily="34" charset="-122"/>
                <a:cs typeface="Calibri" pitchFamily="34" charset="-120"/>
              </a:rPr>
              <a:t>Compare: Jajpur today (A) vs 75% scrap + 50% renewable grid (B) = −0.641 t/t, −22.2%.</a:t>
            </a:r>
            <a:endParaRPr lang="en-US" sz="1000" dirty="0"/>
          </a:p>
        </p:txBody>
      </p:sp>
      <p:sp>
        <p:nvSpPr>
          <p:cNvPr id="16" name="Text 11"/>
          <p:cNvSpPr txBox="1"/>
          <p:nvPr/>
        </p:nvSpPr>
        <p:spPr>
          <a:xfrm>
            <a:off x="6583680" y="4409166"/>
            <a:ext cx="5074920" cy="228600"/>
          </a:xfrm>
          <a:prstGeom prst="rect">
            <a:avLst/>
          </a:prstGeom>
          <a:noFill/>
          <a:ln/>
        </p:spPr>
        <p:txBody>
          <a:bodyPr wrap="square" lIns="0" tIns="0" rIns="0" bIns="0" rtlCol="0" anchor="ctr"/>
          <a:lstStyle/>
          <a:p>
            <a:pPr indent="0" marL="0">
              <a:buNone/>
            </a:pPr>
            <a:r>
              <a:rPr lang="en-US" sz="1050" b="1" spc="100" kern="0" dirty="0">
                <a:solidFill>
                  <a:srgbClr val="E08A63"/>
                </a:solidFill>
                <a:latin typeface="Calibri" pitchFamily="34" charset="0"/>
                <a:ea typeface="Calibri" pitchFamily="34" charset="-122"/>
                <a:cs typeface="Calibri" pitchFamily="34" charset="-120"/>
              </a:rPr>
              <a:t>THREE AMBITION LEVELS — JAJPUR, tCO₂e/t</a:t>
            </a:r>
            <a:endParaRPr lang="en-US" sz="1050" dirty="0"/>
          </a:p>
        </p:txBody>
      </p:sp>
      <p:sp>
        <p:nvSpPr>
          <p:cNvPr id="17" name="Shape 12"/>
          <p:cNvSpPr/>
          <p:nvPr/>
        </p:nvSpPr>
        <p:spPr>
          <a:xfrm>
            <a:off x="6583680" y="4701774"/>
            <a:ext cx="1600200" cy="1371600"/>
          </a:xfrm>
          <a:prstGeom prst="rect">
            <a:avLst/>
          </a:prstGeom>
          <a:solidFill>
            <a:srgbClr val="2A2927"/>
          </a:solidFill>
          <a:ln w="12700">
            <a:solidFill>
              <a:srgbClr val="3A3835"/>
            </a:solidFill>
            <a:prstDash val="solid"/>
          </a:ln>
        </p:spPr>
      </p:sp>
      <p:sp>
        <p:nvSpPr>
          <p:cNvPr id="18" name="Text 13"/>
          <p:cNvSpPr txBox="1"/>
          <p:nvPr/>
        </p:nvSpPr>
        <p:spPr>
          <a:xfrm>
            <a:off x="6693408" y="4793214"/>
            <a:ext cx="1371600" cy="411480"/>
          </a:xfrm>
          <a:prstGeom prst="rect">
            <a:avLst/>
          </a:prstGeom>
          <a:noFill/>
          <a:ln/>
        </p:spPr>
        <p:txBody>
          <a:bodyPr wrap="square" lIns="0" tIns="0" rIns="0" bIns="0" rtlCol="0" anchor="ctr"/>
          <a:lstStyle/>
          <a:p>
            <a:pPr indent="0" marL="0">
              <a:buNone/>
            </a:pPr>
            <a:r>
              <a:rPr lang="en-US" sz="2400" dirty="0">
                <a:solidFill>
                  <a:srgbClr val="E08A63"/>
                </a:solidFill>
                <a:latin typeface="Cambria" pitchFamily="34" charset="0"/>
                <a:ea typeface="Cambria" pitchFamily="34" charset="-122"/>
                <a:cs typeface="Cambria" pitchFamily="34" charset="-120"/>
              </a:rPr>
              <a:t>2.248</a:t>
            </a:r>
            <a:endParaRPr lang="en-US" sz="2400" dirty="0"/>
          </a:p>
        </p:txBody>
      </p:sp>
      <p:sp>
        <p:nvSpPr>
          <p:cNvPr id="19" name="Text 14"/>
          <p:cNvSpPr txBox="1"/>
          <p:nvPr/>
        </p:nvSpPr>
        <p:spPr>
          <a:xfrm>
            <a:off x="6693408" y="5232126"/>
            <a:ext cx="1417320" cy="256032"/>
          </a:xfrm>
          <a:prstGeom prst="rect">
            <a:avLst/>
          </a:prstGeom>
          <a:noFill/>
          <a:ln/>
        </p:spPr>
        <p:txBody>
          <a:bodyPr wrap="square" lIns="0" tIns="0" rIns="0" bIns="0" rtlCol="0" anchor="ctr"/>
          <a:lstStyle/>
          <a:p>
            <a:pPr indent="0" marL="0">
              <a:buNone/>
            </a:pPr>
            <a:r>
              <a:rPr lang="en-US" sz="1100" b="1" dirty="0">
                <a:solidFill>
                  <a:srgbClr val="EDEAE3"/>
                </a:solidFill>
                <a:latin typeface="Calibri" pitchFamily="34" charset="0"/>
                <a:ea typeface="Calibri" pitchFamily="34" charset="-122"/>
                <a:cs typeface="Calibri" pitchFamily="34" charset="-120"/>
              </a:rPr>
              <a:t>Buildable today</a:t>
            </a:r>
            <a:endParaRPr lang="en-US" sz="1100" dirty="0"/>
          </a:p>
        </p:txBody>
      </p:sp>
      <p:sp>
        <p:nvSpPr>
          <p:cNvPr id="20" name="Text 15"/>
          <p:cNvSpPr txBox="1"/>
          <p:nvPr/>
        </p:nvSpPr>
        <p:spPr>
          <a:xfrm>
            <a:off x="6693408" y="5506446"/>
            <a:ext cx="1417320" cy="502920"/>
          </a:xfrm>
          <a:prstGeom prst="rect">
            <a:avLst/>
          </a:prstGeom>
          <a:noFill/>
          <a:ln/>
        </p:spPr>
        <p:txBody>
          <a:bodyPr wrap="square" lIns="0" tIns="0" rIns="0" bIns="0" rtlCol="0" anchor="t"/>
          <a:lstStyle/>
          <a:p>
            <a:pPr indent="0" marL="0">
              <a:buNone/>
            </a:pPr>
            <a:r>
              <a:rPr lang="en-US" sz="950" dirty="0">
                <a:solidFill>
                  <a:srgbClr val="A8A49B"/>
                </a:solidFill>
                <a:latin typeface="Calibri" pitchFamily="34" charset="0"/>
                <a:ea typeface="Calibri" pitchFamily="34" charset="-122"/>
                <a:cs typeface="Calibri" pitchFamily="34" charset="-120"/>
              </a:rPr>
              <a:t>≤75% scrap · coal ≥45% · no new plant</a:t>
            </a:r>
            <a:endParaRPr lang="en-US" sz="950" dirty="0"/>
          </a:p>
        </p:txBody>
      </p:sp>
      <p:sp>
        <p:nvSpPr>
          <p:cNvPr id="21" name="Shape 16"/>
          <p:cNvSpPr/>
          <p:nvPr/>
        </p:nvSpPr>
        <p:spPr>
          <a:xfrm>
            <a:off x="8321040" y="4701774"/>
            <a:ext cx="1600200" cy="1371600"/>
          </a:xfrm>
          <a:prstGeom prst="rect">
            <a:avLst/>
          </a:prstGeom>
          <a:solidFill>
            <a:srgbClr val="2A2927"/>
          </a:solidFill>
          <a:ln w="12700">
            <a:solidFill>
              <a:srgbClr val="3A3835"/>
            </a:solidFill>
            <a:prstDash val="solid"/>
          </a:ln>
        </p:spPr>
      </p:sp>
      <p:sp>
        <p:nvSpPr>
          <p:cNvPr id="22" name="Text 17"/>
          <p:cNvSpPr txBox="1"/>
          <p:nvPr/>
        </p:nvSpPr>
        <p:spPr>
          <a:xfrm>
            <a:off x="8430768" y="4793214"/>
            <a:ext cx="1371600" cy="411480"/>
          </a:xfrm>
          <a:prstGeom prst="rect">
            <a:avLst/>
          </a:prstGeom>
          <a:noFill/>
          <a:ln/>
        </p:spPr>
        <p:txBody>
          <a:bodyPr wrap="square" lIns="0" tIns="0" rIns="0" bIns="0" rtlCol="0" anchor="ctr"/>
          <a:lstStyle/>
          <a:p>
            <a:pPr indent="0" marL="0">
              <a:buNone/>
            </a:pPr>
            <a:r>
              <a:rPr lang="en-US" sz="2400" dirty="0">
                <a:solidFill>
                  <a:srgbClr val="C9971F"/>
                </a:solidFill>
                <a:latin typeface="Cambria" pitchFamily="34" charset="0"/>
                <a:ea typeface="Cambria" pitchFamily="34" charset="-122"/>
                <a:cs typeface="Cambria" pitchFamily="34" charset="-120"/>
              </a:rPr>
              <a:t>1.514</a:t>
            </a:r>
            <a:endParaRPr lang="en-US" sz="2400" dirty="0"/>
          </a:p>
        </p:txBody>
      </p:sp>
      <p:sp>
        <p:nvSpPr>
          <p:cNvPr id="23" name="Text 18"/>
          <p:cNvSpPr txBox="1"/>
          <p:nvPr/>
        </p:nvSpPr>
        <p:spPr>
          <a:xfrm>
            <a:off x="8430768" y="5232126"/>
            <a:ext cx="1417320" cy="256032"/>
          </a:xfrm>
          <a:prstGeom prst="rect">
            <a:avLst/>
          </a:prstGeom>
          <a:noFill/>
          <a:ln/>
        </p:spPr>
        <p:txBody>
          <a:bodyPr wrap="square" lIns="0" tIns="0" rIns="0" bIns="0" rtlCol="0" anchor="ctr"/>
          <a:lstStyle/>
          <a:p>
            <a:pPr indent="0" marL="0">
              <a:buNone/>
            </a:pPr>
            <a:r>
              <a:rPr lang="en-US" sz="1100" b="1" dirty="0">
                <a:solidFill>
                  <a:srgbClr val="EDEAE3"/>
                </a:solidFill>
                <a:latin typeface="Calibri" pitchFamily="34" charset="0"/>
                <a:ea typeface="Calibri" pitchFamily="34" charset="-122"/>
                <a:cs typeface="Calibri" pitchFamily="34" charset="-120"/>
              </a:rPr>
              <a:t>Stretch</a:t>
            </a:r>
            <a:endParaRPr lang="en-US" sz="1100" dirty="0"/>
          </a:p>
        </p:txBody>
      </p:sp>
      <p:sp>
        <p:nvSpPr>
          <p:cNvPr id="24" name="Text 19"/>
          <p:cNvSpPr txBox="1"/>
          <p:nvPr/>
        </p:nvSpPr>
        <p:spPr>
          <a:xfrm>
            <a:off x="8430768" y="5506446"/>
            <a:ext cx="1417320" cy="502920"/>
          </a:xfrm>
          <a:prstGeom prst="rect">
            <a:avLst/>
          </a:prstGeom>
          <a:noFill/>
          <a:ln/>
        </p:spPr>
        <p:txBody>
          <a:bodyPr wrap="square" lIns="0" tIns="0" rIns="0" bIns="0" rtlCol="0" anchor="t"/>
          <a:lstStyle/>
          <a:p>
            <a:pPr indent="0" marL="0">
              <a:buNone/>
            </a:pPr>
            <a:r>
              <a:rPr lang="en-US" sz="950" dirty="0">
                <a:solidFill>
                  <a:srgbClr val="A8A49B"/>
                </a:solidFill>
                <a:latin typeface="Calibri" pitchFamily="34" charset="0"/>
                <a:ea typeface="Calibri" pitchFamily="34" charset="-122"/>
                <a:cs typeface="Calibri" pitchFamily="34" charset="-120"/>
              </a:rPr>
              <a:t>≤85% scrap · firmed RE · coal 10–30%</a:t>
            </a:r>
            <a:endParaRPr lang="en-US" sz="950" dirty="0"/>
          </a:p>
        </p:txBody>
      </p:sp>
      <p:sp>
        <p:nvSpPr>
          <p:cNvPr id="25" name="Shape 20"/>
          <p:cNvSpPr/>
          <p:nvPr/>
        </p:nvSpPr>
        <p:spPr>
          <a:xfrm>
            <a:off x="10058400" y="4701774"/>
            <a:ext cx="1600200" cy="1371600"/>
          </a:xfrm>
          <a:prstGeom prst="rect">
            <a:avLst/>
          </a:prstGeom>
          <a:solidFill>
            <a:srgbClr val="2A2927"/>
          </a:solidFill>
          <a:ln w="12700">
            <a:solidFill>
              <a:srgbClr val="3A3835"/>
            </a:solidFill>
            <a:prstDash val="solid"/>
          </a:ln>
        </p:spPr>
      </p:sp>
      <p:sp>
        <p:nvSpPr>
          <p:cNvPr id="26" name="Text 21"/>
          <p:cNvSpPr txBox="1"/>
          <p:nvPr/>
        </p:nvSpPr>
        <p:spPr>
          <a:xfrm>
            <a:off x="10168128" y="4793214"/>
            <a:ext cx="1371600" cy="411480"/>
          </a:xfrm>
          <a:prstGeom prst="rect">
            <a:avLst/>
          </a:prstGeom>
          <a:noFill/>
          <a:ln/>
        </p:spPr>
        <p:txBody>
          <a:bodyPr wrap="square" lIns="0" tIns="0" rIns="0" bIns="0" rtlCol="0" anchor="ctr"/>
          <a:lstStyle/>
          <a:p>
            <a:pPr indent="0" marL="0">
              <a:buNone/>
            </a:pPr>
            <a:r>
              <a:rPr lang="en-US" sz="2400" dirty="0">
                <a:solidFill>
                  <a:srgbClr val="5AA2D0"/>
                </a:solidFill>
                <a:latin typeface="Cambria" pitchFamily="34" charset="0"/>
                <a:ea typeface="Cambria" pitchFamily="34" charset="-122"/>
                <a:cs typeface="Cambria" pitchFamily="34" charset="-120"/>
              </a:rPr>
              <a:t>0.899</a:t>
            </a:r>
            <a:endParaRPr lang="en-US" sz="2400" dirty="0"/>
          </a:p>
        </p:txBody>
      </p:sp>
      <p:sp>
        <p:nvSpPr>
          <p:cNvPr id="27" name="Text 22"/>
          <p:cNvSpPr txBox="1"/>
          <p:nvPr/>
        </p:nvSpPr>
        <p:spPr>
          <a:xfrm>
            <a:off x="10168128" y="5232126"/>
            <a:ext cx="1417320" cy="256032"/>
          </a:xfrm>
          <a:prstGeom prst="rect">
            <a:avLst/>
          </a:prstGeom>
          <a:noFill/>
          <a:ln/>
        </p:spPr>
        <p:txBody>
          <a:bodyPr wrap="square" lIns="0" tIns="0" rIns="0" bIns="0" rtlCol="0" anchor="ctr"/>
          <a:lstStyle/>
          <a:p>
            <a:pPr indent="0" marL="0">
              <a:buNone/>
            </a:pPr>
            <a:r>
              <a:rPr lang="en-US" sz="1100" b="1" dirty="0">
                <a:solidFill>
                  <a:srgbClr val="EDEAE3"/>
                </a:solidFill>
                <a:latin typeface="Calibri" pitchFamily="34" charset="0"/>
                <a:ea typeface="Calibri" pitchFamily="34" charset="-122"/>
                <a:cs typeface="Calibri" pitchFamily="34" charset="-120"/>
              </a:rPr>
              <a:t>Theoretical floor</a:t>
            </a:r>
            <a:endParaRPr lang="en-US" sz="1100" dirty="0"/>
          </a:p>
        </p:txBody>
      </p:sp>
      <p:sp>
        <p:nvSpPr>
          <p:cNvPr id="28" name="Text 23"/>
          <p:cNvSpPr txBox="1"/>
          <p:nvPr/>
        </p:nvSpPr>
        <p:spPr>
          <a:xfrm>
            <a:off x="10168128" y="5506446"/>
            <a:ext cx="1417320" cy="502920"/>
          </a:xfrm>
          <a:prstGeom prst="rect">
            <a:avLst/>
          </a:prstGeom>
          <a:noFill/>
          <a:ln/>
        </p:spPr>
        <p:txBody>
          <a:bodyPr wrap="square" lIns="0" tIns="0" rIns="0" bIns="0" rtlCol="0" anchor="t"/>
          <a:lstStyle/>
          <a:p>
            <a:pPr indent="0" marL="0">
              <a:buNone/>
            </a:pPr>
            <a:r>
              <a:rPr lang="en-US" sz="950" dirty="0">
                <a:solidFill>
                  <a:srgbClr val="A8A49B"/>
                </a:solidFill>
                <a:latin typeface="Calibri" pitchFamily="34" charset="0"/>
                <a:ea typeface="Calibri" pitchFamily="34" charset="-122"/>
                <a:cs typeface="Calibri" pitchFamily="34" charset="-120"/>
              </a:rPr>
              <a:t>100% scrap · non-fossil grid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24A2C"/>
          </a:solidFill>
          <a:ln w="12700">
            <a:solidFill>
              <a:srgbClr val="B24A2C"/>
            </a:solidFill>
            <a:prstDash val="solid"/>
          </a:ln>
        </p:spPr>
      </p:sp>
      <p:sp>
        <p:nvSpPr>
          <p:cNvPr id="3" name="Text 1"/>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 name="Text 2"/>
          <p:cNvSpPr txBox="1"/>
          <p:nvPr/>
        </p:nvSpPr>
        <p:spPr>
          <a:xfrm>
            <a:off x="1051560" y="329184"/>
            <a:ext cx="10058400" cy="256032"/>
          </a:xfrm>
          <a:prstGeom prst="rect">
            <a:avLst/>
          </a:prstGeom>
          <a:noFill/>
          <a:ln/>
        </p:spPr>
        <p:txBody>
          <a:bodyPr wrap="square" lIns="0" tIns="0" rIns="0" bIns="0" rtlCol="0" anchor="ctr"/>
          <a:lstStyle/>
          <a:p>
            <a:pPr indent="0" marL="0">
              <a:buNone/>
            </a:pPr>
            <a:r>
              <a:rPr lang="en-US" sz="1100" b="1" spc="100" kern="0" dirty="0">
                <a:solidFill>
                  <a:srgbClr val="B24A2C"/>
                </a:solidFill>
                <a:latin typeface="Calibri" pitchFamily="34" charset="0"/>
                <a:ea typeface="Calibri" pitchFamily="34" charset="-122"/>
                <a:cs typeface="Calibri" pitchFamily="34" charset="-120"/>
              </a:rPr>
              <a:t>IMPLEMENTATION  ·  ARCHITECTURE &amp; ROLLOUT</a:t>
            </a:r>
            <a:endParaRPr lang="en-US" sz="1100" dirty="0"/>
          </a:p>
        </p:txBody>
      </p:sp>
      <p:sp>
        <p:nvSpPr>
          <p:cNvPr id="5" name="Text 3"/>
          <p:cNvSpPr txBox="1"/>
          <p:nvPr/>
        </p:nvSpPr>
        <p:spPr>
          <a:xfrm>
            <a:off x="1051560" y="585216"/>
            <a:ext cx="10698480" cy="566928"/>
          </a:xfrm>
          <a:prstGeom prst="rect">
            <a:avLst/>
          </a:prstGeom>
          <a:noFill/>
          <a:ln/>
        </p:spPr>
        <p:txBody>
          <a:bodyPr wrap="square" lIns="0" tIns="0" rIns="0" bIns="0" rtlCol="0" anchor="t"/>
          <a:lstStyle/>
          <a:p>
            <a:pPr indent="0" marL="0">
              <a:buNone/>
            </a:pPr>
            <a:r>
              <a:rPr lang="en-US" sz="3000" dirty="0">
                <a:solidFill>
                  <a:srgbClr val="1F1F1E"/>
                </a:solidFill>
                <a:latin typeface="Cambria" pitchFamily="34" charset="0"/>
                <a:ea typeface="Cambria" pitchFamily="34" charset="-122"/>
                <a:cs typeface="Cambria" pitchFamily="34" charset="-120"/>
              </a:rPr>
              <a:t>Built, tested, and ready for plant data</a:t>
            </a:r>
            <a:endParaRPr lang="en-US" sz="3000" dirty="0"/>
          </a:p>
        </p:txBody>
      </p:sp>
      <p:sp>
        <p:nvSpPr>
          <p:cNvPr id="6" name="Shape 4"/>
          <p:cNvSpPr/>
          <p:nvPr/>
        </p:nvSpPr>
        <p:spPr>
          <a:xfrm>
            <a:off x="548640" y="1371600"/>
            <a:ext cx="2011680" cy="1417320"/>
          </a:xfrm>
          <a:prstGeom prst="rect">
            <a:avLst/>
          </a:prstGeom>
          <a:solidFill>
            <a:srgbClr val="F2F0EB"/>
          </a:solidFill>
          <a:ln w="12700">
            <a:solidFill>
              <a:srgbClr val="F2F0EB"/>
            </a:solidFill>
            <a:prstDash val="solid"/>
          </a:ln>
        </p:spPr>
      </p:sp>
      <p:pic>
        <p:nvPicPr>
          <p:cNvPr id="7" name="Image 0" descr="preencoded.png">    </p:cNvPr>
          <p:cNvPicPr>
            <a:picLocks noChangeAspect="1"/>
          </p:cNvPicPr>
          <p:nvPr/>
        </p:nvPicPr>
        <p:blipFill>
          <a:blip r:embed="rId1"/>
          <a:stretch>
            <a:fillRect/>
          </a:stretch>
        </p:blipFill>
        <p:spPr>
          <a:xfrm>
            <a:off x="685800" y="1490472"/>
            <a:ext cx="292608" cy="292608"/>
          </a:xfrm>
          <a:prstGeom prst="rect">
            <a:avLst/>
          </a:prstGeom>
        </p:spPr>
      </p:pic>
      <p:sp>
        <p:nvSpPr>
          <p:cNvPr id="8" name="Text 5"/>
          <p:cNvSpPr txBox="1"/>
          <p:nvPr/>
        </p:nvSpPr>
        <p:spPr>
          <a:xfrm>
            <a:off x="1051560" y="1463040"/>
            <a:ext cx="1463040" cy="347472"/>
          </a:xfrm>
          <a:prstGeom prst="rect">
            <a:avLst/>
          </a:prstGeom>
          <a:noFill/>
          <a:ln/>
        </p:spPr>
        <p:txBody>
          <a:bodyPr wrap="square" lIns="0" tIns="0" rIns="0" bIns="0"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Workbook</a:t>
            </a:r>
            <a:endParaRPr lang="en-US" sz="1250" dirty="0"/>
          </a:p>
        </p:txBody>
      </p:sp>
      <p:sp>
        <p:nvSpPr>
          <p:cNvPr id="9" name="Text 6"/>
          <p:cNvSpPr txBox="1"/>
          <p:nvPr/>
        </p:nvSpPr>
        <p:spPr>
          <a:xfrm>
            <a:off x="685800" y="1874520"/>
            <a:ext cx="1737360" cy="8229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Grid 5 .xlsx: 67 steps × 11 metrics, notes per row</a:t>
            </a:r>
            <a:endParaRPr lang="en-US" sz="1050" dirty="0"/>
          </a:p>
        </p:txBody>
      </p:sp>
      <p:sp>
        <p:nvSpPr>
          <p:cNvPr id="10" name="Text 7"/>
          <p:cNvSpPr txBox="1"/>
          <p:nvPr/>
        </p:nvSpPr>
        <p:spPr>
          <a:xfrm>
            <a:off x="2560320" y="1874520"/>
            <a:ext cx="237744" cy="365760"/>
          </a:xfrm>
          <a:prstGeom prst="rect">
            <a:avLst/>
          </a:prstGeom>
          <a:noFill/>
          <a:ln/>
        </p:spPr>
        <p:txBody>
          <a:bodyPr wrap="square" lIns="0" tIns="0" rIns="0" bIns="0" rtlCol="0" anchor="ctr"/>
          <a:lstStyle/>
          <a:p>
            <a:pPr algn="ctr" indent="0" marL="0">
              <a:buNone/>
            </a:pPr>
            <a:r>
              <a:rPr lang="en-US" sz="1600" b="1" dirty="0">
                <a:solidFill>
                  <a:srgbClr val="B24A2C"/>
                </a:solidFill>
                <a:latin typeface="Calibri" pitchFamily="34" charset="0"/>
                <a:ea typeface="Calibri" pitchFamily="34" charset="-122"/>
                <a:cs typeface="Calibri" pitchFamily="34" charset="-120"/>
              </a:rPr>
              <a:t>→</a:t>
            </a:r>
            <a:endParaRPr lang="en-US" sz="1600" dirty="0"/>
          </a:p>
        </p:txBody>
      </p:sp>
      <p:sp>
        <p:nvSpPr>
          <p:cNvPr id="11" name="Shape 8"/>
          <p:cNvSpPr/>
          <p:nvPr/>
        </p:nvSpPr>
        <p:spPr>
          <a:xfrm>
            <a:off x="2798064" y="1371600"/>
            <a:ext cx="2011680" cy="1417320"/>
          </a:xfrm>
          <a:prstGeom prst="rect">
            <a:avLst/>
          </a:prstGeom>
          <a:solidFill>
            <a:srgbClr val="F2F0EB"/>
          </a:solidFill>
          <a:ln w="12700">
            <a:solidFill>
              <a:srgbClr val="F2F0EB"/>
            </a:solidFill>
            <a:prstDash val="solid"/>
          </a:ln>
        </p:spPr>
      </p:sp>
      <p:pic>
        <p:nvPicPr>
          <p:cNvPr id="12" name="Image 1" descr="preencoded.png">    </p:cNvPr>
          <p:cNvPicPr>
            <a:picLocks noChangeAspect="1"/>
          </p:cNvPicPr>
          <p:nvPr/>
        </p:nvPicPr>
        <p:blipFill>
          <a:blip r:embed="rId2"/>
          <a:stretch>
            <a:fillRect/>
          </a:stretch>
        </p:blipFill>
        <p:spPr>
          <a:xfrm>
            <a:off x="2935224" y="1490472"/>
            <a:ext cx="292608" cy="292608"/>
          </a:xfrm>
          <a:prstGeom prst="rect">
            <a:avLst/>
          </a:prstGeom>
        </p:spPr>
      </p:pic>
      <p:sp>
        <p:nvSpPr>
          <p:cNvPr id="13" name="Text 9"/>
          <p:cNvSpPr txBox="1"/>
          <p:nvPr/>
        </p:nvSpPr>
        <p:spPr>
          <a:xfrm>
            <a:off x="3300984" y="1463040"/>
            <a:ext cx="1463040" cy="347472"/>
          </a:xfrm>
          <a:prstGeom prst="rect">
            <a:avLst/>
          </a:prstGeom>
          <a:noFill/>
          <a:ln/>
        </p:spPr>
        <p:txBody>
          <a:bodyPr wrap="square" lIns="0" tIns="0" rIns="0" bIns="0"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Extract</a:t>
            </a:r>
            <a:endParaRPr lang="en-US" sz="1250" dirty="0"/>
          </a:p>
        </p:txBody>
      </p:sp>
      <p:sp>
        <p:nvSpPr>
          <p:cNvPr id="14" name="Text 10"/>
          <p:cNvSpPr txBox="1"/>
          <p:nvPr/>
        </p:nvSpPr>
        <p:spPr>
          <a:xfrm>
            <a:off x="2935224" y="1874520"/>
            <a:ext cx="1737360" cy="8229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Formulas kept as text in JSON; nothing re-typed</a:t>
            </a:r>
            <a:endParaRPr lang="en-US" sz="1050" dirty="0"/>
          </a:p>
        </p:txBody>
      </p:sp>
      <p:sp>
        <p:nvSpPr>
          <p:cNvPr id="15" name="Text 11"/>
          <p:cNvSpPr txBox="1"/>
          <p:nvPr/>
        </p:nvSpPr>
        <p:spPr>
          <a:xfrm>
            <a:off x="4809744" y="1874520"/>
            <a:ext cx="237744" cy="365760"/>
          </a:xfrm>
          <a:prstGeom prst="rect">
            <a:avLst/>
          </a:prstGeom>
          <a:noFill/>
          <a:ln/>
        </p:spPr>
        <p:txBody>
          <a:bodyPr wrap="square" lIns="0" tIns="0" rIns="0" bIns="0" rtlCol="0" anchor="ctr"/>
          <a:lstStyle/>
          <a:p>
            <a:pPr algn="ctr" indent="0" marL="0">
              <a:buNone/>
            </a:pPr>
            <a:r>
              <a:rPr lang="en-US" sz="1600" b="1" dirty="0">
                <a:solidFill>
                  <a:srgbClr val="B24A2C"/>
                </a:solidFill>
                <a:latin typeface="Calibri" pitchFamily="34" charset="0"/>
                <a:ea typeface="Calibri" pitchFamily="34" charset="-122"/>
                <a:cs typeface="Calibri" pitchFamily="34" charset="-120"/>
              </a:rPr>
              <a:t>→</a:t>
            </a:r>
            <a:endParaRPr lang="en-US" sz="1600" dirty="0"/>
          </a:p>
        </p:txBody>
      </p:sp>
      <p:sp>
        <p:nvSpPr>
          <p:cNvPr id="16" name="Shape 12"/>
          <p:cNvSpPr/>
          <p:nvPr/>
        </p:nvSpPr>
        <p:spPr>
          <a:xfrm>
            <a:off x="5047488" y="1371600"/>
            <a:ext cx="2011680" cy="1417320"/>
          </a:xfrm>
          <a:prstGeom prst="rect">
            <a:avLst/>
          </a:prstGeom>
          <a:solidFill>
            <a:srgbClr val="F2F0EB"/>
          </a:solidFill>
          <a:ln w="12700">
            <a:solidFill>
              <a:srgbClr val="F2F0EB"/>
            </a:solidFill>
            <a:prstDash val="solid"/>
          </a:ln>
        </p:spPr>
      </p:sp>
      <p:pic>
        <p:nvPicPr>
          <p:cNvPr id="17" name="Image 2" descr="preencoded.png">    </p:cNvPr>
          <p:cNvPicPr>
            <a:picLocks noChangeAspect="1"/>
          </p:cNvPicPr>
          <p:nvPr/>
        </p:nvPicPr>
        <p:blipFill>
          <a:blip r:embed="rId3"/>
          <a:stretch>
            <a:fillRect/>
          </a:stretch>
        </p:blipFill>
        <p:spPr>
          <a:xfrm>
            <a:off x="5184648" y="1490472"/>
            <a:ext cx="292608" cy="292608"/>
          </a:xfrm>
          <a:prstGeom prst="rect">
            <a:avLst/>
          </a:prstGeom>
        </p:spPr>
      </p:pic>
      <p:sp>
        <p:nvSpPr>
          <p:cNvPr id="18" name="Text 13"/>
          <p:cNvSpPr txBox="1"/>
          <p:nvPr/>
        </p:nvSpPr>
        <p:spPr>
          <a:xfrm>
            <a:off x="5550408" y="1463040"/>
            <a:ext cx="1463040" cy="347472"/>
          </a:xfrm>
          <a:prstGeom prst="rect">
            <a:avLst/>
          </a:prstGeom>
          <a:noFill/>
          <a:ln/>
        </p:spPr>
        <p:txBody>
          <a:bodyPr wrap="square" lIns="0" tIns="0" rIns="0" bIns="0"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Safe evaluator</a:t>
            </a:r>
            <a:endParaRPr lang="en-US" sz="1250" dirty="0"/>
          </a:p>
        </p:txBody>
      </p:sp>
      <p:sp>
        <p:nvSpPr>
          <p:cNvPr id="19" name="Text 14"/>
          <p:cNvSpPr txBox="1"/>
          <p:nvPr/>
        </p:nvSpPr>
        <p:spPr>
          <a:xfrm>
            <a:off x="5184648" y="1874520"/>
            <a:ext cx="1737360" cy="8229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AST whitelist: 11 variables + arithmetic, no eval</a:t>
            </a:r>
            <a:endParaRPr lang="en-US" sz="1050" dirty="0"/>
          </a:p>
        </p:txBody>
      </p:sp>
      <p:sp>
        <p:nvSpPr>
          <p:cNvPr id="20" name="Text 15"/>
          <p:cNvSpPr txBox="1"/>
          <p:nvPr/>
        </p:nvSpPr>
        <p:spPr>
          <a:xfrm>
            <a:off x="7059168" y="1874520"/>
            <a:ext cx="237744" cy="365760"/>
          </a:xfrm>
          <a:prstGeom prst="rect">
            <a:avLst/>
          </a:prstGeom>
          <a:noFill/>
          <a:ln/>
        </p:spPr>
        <p:txBody>
          <a:bodyPr wrap="square" lIns="0" tIns="0" rIns="0" bIns="0" rtlCol="0" anchor="ctr"/>
          <a:lstStyle/>
          <a:p>
            <a:pPr algn="ctr" indent="0" marL="0">
              <a:buNone/>
            </a:pPr>
            <a:r>
              <a:rPr lang="en-US" sz="1600" b="1" dirty="0">
                <a:solidFill>
                  <a:srgbClr val="B24A2C"/>
                </a:solidFill>
                <a:latin typeface="Calibri" pitchFamily="34" charset="0"/>
                <a:ea typeface="Calibri" pitchFamily="34" charset="-122"/>
                <a:cs typeface="Calibri" pitchFamily="34" charset="-120"/>
              </a:rPr>
              <a:t>→</a:t>
            </a:r>
            <a:endParaRPr lang="en-US" sz="1600" dirty="0"/>
          </a:p>
        </p:txBody>
      </p:sp>
      <p:sp>
        <p:nvSpPr>
          <p:cNvPr id="21" name="Shape 16"/>
          <p:cNvSpPr/>
          <p:nvPr/>
        </p:nvSpPr>
        <p:spPr>
          <a:xfrm>
            <a:off x="7296912" y="1371600"/>
            <a:ext cx="2011680" cy="1417320"/>
          </a:xfrm>
          <a:prstGeom prst="rect">
            <a:avLst/>
          </a:prstGeom>
          <a:solidFill>
            <a:srgbClr val="F2F0EB"/>
          </a:solidFill>
          <a:ln w="12700">
            <a:solidFill>
              <a:srgbClr val="F2F0EB"/>
            </a:solidFill>
            <a:prstDash val="solid"/>
          </a:ln>
        </p:spPr>
      </p:sp>
      <p:pic>
        <p:nvPicPr>
          <p:cNvPr id="22" name="Image 3" descr="preencoded.png">    </p:cNvPr>
          <p:cNvPicPr>
            <a:picLocks noChangeAspect="1"/>
          </p:cNvPicPr>
          <p:nvPr/>
        </p:nvPicPr>
        <p:blipFill>
          <a:blip r:embed="rId4"/>
          <a:stretch>
            <a:fillRect/>
          </a:stretch>
        </p:blipFill>
        <p:spPr>
          <a:xfrm>
            <a:off x="7434072" y="1490472"/>
            <a:ext cx="292608" cy="292608"/>
          </a:xfrm>
          <a:prstGeom prst="rect">
            <a:avLst/>
          </a:prstGeom>
        </p:spPr>
      </p:pic>
      <p:sp>
        <p:nvSpPr>
          <p:cNvPr id="23" name="Text 17"/>
          <p:cNvSpPr txBox="1"/>
          <p:nvPr/>
        </p:nvSpPr>
        <p:spPr>
          <a:xfrm>
            <a:off x="7799832" y="1463040"/>
            <a:ext cx="1463040" cy="347472"/>
          </a:xfrm>
          <a:prstGeom prst="rect">
            <a:avLst/>
          </a:prstGeom>
          <a:noFill/>
          <a:ln/>
        </p:spPr>
        <p:txBody>
          <a:bodyPr wrap="square" lIns="0" tIns="0" rIns="0" bIns="0"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Model</a:t>
            </a:r>
            <a:endParaRPr lang="en-US" sz="1250" dirty="0"/>
          </a:p>
        </p:txBody>
      </p:sp>
      <p:sp>
        <p:nvSpPr>
          <p:cNvPr id="24" name="Text 18"/>
          <p:cNvSpPr txBox="1"/>
          <p:nvPr/>
        </p:nvSpPr>
        <p:spPr>
          <a:xfrm>
            <a:off x="7434072" y="1874520"/>
            <a:ext cx="1737360" cy="8229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Scope 2 = kWh × grid EF; exact corner search</a:t>
            </a:r>
            <a:endParaRPr lang="en-US" sz="1050" dirty="0"/>
          </a:p>
        </p:txBody>
      </p:sp>
      <p:sp>
        <p:nvSpPr>
          <p:cNvPr id="25" name="Text 19"/>
          <p:cNvSpPr txBox="1"/>
          <p:nvPr/>
        </p:nvSpPr>
        <p:spPr>
          <a:xfrm>
            <a:off x="9308592" y="1874520"/>
            <a:ext cx="237744" cy="365760"/>
          </a:xfrm>
          <a:prstGeom prst="rect">
            <a:avLst/>
          </a:prstGeom>
          <a:noFill/>
          <a:ln/>
        </p:spPr>
        <p:txBody>
          <a:bodyPr wrap="square" lIns="0" tIns="0" rIns="0" bIns="0" rtlCol="0" anchor="ctr"/>
          <a:lstStyle/>
          <a:p>
            <a:pPr algn="ctr" indent="0" marL="0">
              <a:buNone/>
            </a:pPr>
            <a:r>
              <a:rPr lang="en-US" sz="1600" b="1" dirty="0">
                <a:solidFill>
                  <a:srgbClr val="B24A2C"/>
                </a:solidFill>
                <a:latin typeface="Calibri" pitchFamily="34" charset="0"/>
                <a:ea typeface="Calibri" pitchFamily="34" charset="-122"/>
                <a:cs typeface="Calibri" pitchFamily="34" charset="-120"/>
              </a:rPr>
              <a:t>→</a:t>
            </a:r>
            <a:endParaRPr lang="en-US" sz="1600" dirty="0"/>
          </a:p>
        </p:txBody>
      </p:sp>
      <p:sp>
        <p:nvSpPr>
          <p:cNvPr id="26" name="Shape 20"/>
          <p:cNvSpPr/>
          <p:nvPr/>
        </p:nvSpPr>
        <p:spPr>
          <a:xfrm>
            <a:off x="9546336" y="1371600"/>
            <a:ext cx="2011680" cy="1417320"/>
          </a:xfrm>
          <a:prstGeom prst="rect">
            <a:avLst/>
          </a:prstGeom>
          <a:solidFill>
            <a:srgbClr val="F2F0EB"/>
          </a:solidFill>
          <a:ln w="12700">
            <a:solidFill>
              <a:srgbClr val="F2F0EB"/>
            </a:solidFill>
            <a:prstDash val="solid"/>
          </a:ln>
        </p:spPr>
      </p:sp>
      <p:pic>
        <p:nvPicPr>
          <p:cNvPr id="27" name="Image 4" descr="preencoded.png">    </p:cNvPr>
          <p:cNvPicPr>
            <a:picLocks noChangeAspect="1"/>
          </p:cNvPicPr>
          <p:nvPr/>
        </p:nvPicPr>
        <p:blipFill>
          <a:blip r:embed="rId5"/>
          <a:stretch>
            <a:fillRect/>
          </a:stretch>
        </p:blipFill>
        <p:spPr>
          <a:xfrm>
            <a:off x="9683496" y="1490472"/>
            <a:ext cx="292608" cy="292608"/>
          </a:xfrm>
          <a:prstGeom prst="rect">
            <a:avLst/>
          </a:prstGeom>
        </p:spPr>
      </p:pic>
      <p:sp>
        <p:nvSpPr>
          <p:cNvPr id="28" name="Text 21"/>
          <p:cNvSpPr txBox="1"/>
          <p:nvPr/>
        </p:nvSpPr>
        <p:spPr>
          <a:xfrm>
            <a:off x="10049256" y="1463040"/>
            <a:ext cx="1463040" cy="347472"/>
          </a:xfrm>
          <a:prstGeom prst="rect">
            <a:avLst/>
          </a:prstGeom>
          <a:noFill/>
          <a:ln/>
        </p:spPr>
        <p:txBody>
          <a:bodyPr wrap="square" lIns="0" tIns="0" rIns="0" bIns="0" rtlCol="0" anchor="ctr"/>
          <a:lstStyle/>
          <a:p>
            <a:pPr indent="0" marL="0">
              <a:buNone/>
            </a:pPr>
            <a:r>
              <a:rPr lang="en-US" sz="1250" b="1" dirty="0">
                <a:solidFill>
                  <a:srgbClr val="1F1F1E"/>
                </a:solidFill>
                <a:latin typeface="Calibri" pitchFamily="34" charset="0"/>
                <a:ea typeface="Calibri" pitchFamily="34" charset="-122"/>
                <a:cs typeface="Calibri" pitchFamily="34" charset="-120"/>
              </a:rPr>
              <a:t>Web app</a:t>
            </a:r>
            <a:endParaRPr lang="en-US" sz="1250" dirty="0"/>
          </a:p>
        </p:txBody>
      </p:sp>
      <p:sp>
        <p:nvSpPr>
          <p:cNvPr id="29" name="Text 22"/>
          <p:cNvSpPr txBox="1"/>
          <p:nvPr/>
        </p:nvSpPr>
        <p:spPr>
          <a:xfrm>
            <a:off x="9683496" y="1874520"/>
            <a:ext cx="1737360" cy="822960"/>
          </a:xfrm>
          <a:prstGeom prst="rect">
            <a:avLst/>
          </a:prstGeom>
          <a:noFill/>
          <a:ln/>
        </p:spPr>
        <p:txBody>
          <a:bodyPr wrap="square" lIns="0" tIns="0" rIns="0" bIns="0" rtlCol="0" anchor="t"/>
          <a:lstStyle/>
          <a:p>
            <a:pPr indent="0" marL="0">
              <a:buNone/>
            </a:pPr>
            <a:r>
              <a:rPr lang="en-US" sz="1050" dirty="0">
                <a:solidFill>
                  <a:srgbClr val="5F5C55"/>
                </a:solidFill>
                <a:latin typeface="Calibri" pitchFamily="34" charset="0"/>
                <a:ea typeface="Calibri" pitchFamily="34" charset="-122"/>
                <a:cs typeface="Calibri" pitchFamily="34" charset="-120"/>
              </a:rPr>
              <a:t>Streamlit: 5 views, live readout, light/dark</a:t>
            </a:r>
            <a:endParaRPr lang="en-US" sz="1050" dirty="0"/>
          </a:p>
        </p:txBody>
      </p:sp>
      <p:sp>
        <p:nvSpPr>
          <p:cNvPr id="30" name="Text 23"/>
          <p:cNvSpPr txBox="1"/>
          <p:nvPr/>
        </p:nvSpPr>
        <p:spPr>
          <a:xfrm>
            <a:off x="548640" y="3063240"/>
            <a:ext cx="5486400" cy="228600"/>
          </a:xfrm>
          <a:prstGeom prst="rect">
            <a:avLst/>
          </a:prstGeom>
          <a:noFill/>
          <a:ln/>
        </p:spPr>
        <p:txBody>
          <a:bodyPr wrap="square" lIns="0" tIns="0" rIns="0" bIns="0" rtlCol="0" anchor="ctr"/>
          <a:lstStyle/>
          <a:p>
            <a:pPr indent="0" marL="0">
              <a:buNone/>
            </a:pPr>
            <a:r>
              <a:rPr lang="en-US" sz="1050" b="1" spc="100" kern="0" dirty="0">
                <a:solidFill>
                  <a:srgbClr val="B24A2C"/>
                </a:solidFill>
                <a:latin typeface="Calibri" pitchFamily="34" charset="0"/>
                <a:ea typeface="Calibri" pitchFamily="34" charset="-122"/>
                <a:cs typeface="Calibri" pitchFamily="34" charset="-120"/>
              </a:rPr>
              <a:t>ROLLOUT AT JINDAL STAINLESS</a:t>
            </a:r>
            <a:endParaRPr lang="en-US" sz="1050" dirty="0"/>
          </a:p>
        </p:txBody>
      </p:sp>
      <p:sp>
        <p:nvSpPr>
          <p:cNvPr id="31" name="Shape 24"/>
          <p:cNvSpPr/>
          <p:nvPr/>
        </p:nvSpPr>
        <p:spPr>
          <a:xfrm>
            <a:off x="685800" y="3611880"/>
            <a:ext cx="6492240" cy="0"/>
          </a:xfrm>
          <a:prstGeom prst="line">
            <a:avLst/>
          </a:prstGeom>
          <a:noFill/>
          <a:ln w="25400">
            <a:solidFill>
              <a:srgbClr val="DDD9D0"/>
            </a:solidFill>
            <a:prstDash val="solid"/>
          </a:ln>
        </p:spPr>
      </p:sp>
      <p:sp>
        <p:nvSpPr>
          <p:cNvPr id="32" name="Shape 25"/>
          <p:cNvSpPr/>
          <p:nvPr/>
        </p:nvSpPr>
        <p:spPr>
          <a:xfrm>
            <a:off x="594360" y="3502152"/>
            <a:ext cx="219456" cy="219456"/>
          </a:xfrm>
          <a:prstGeom prst="ellipse">
            <a:avLst/>
          </a:prstGeom>
          <a:solidFill>
            <a:srgbClr val="B24A2C"/>
          </a:solidFill>
          <a:ln w="25400">
            <a:solidFill>
              <a:srgbClr val="B24A2C"/>
            </a:solidFill>
            <a:prstDash val="solid"/>
          </a:ln>
        </p:spPr>
      </p:sp>
      <p:sp>
        <p:nvSpPr>
          <p:cNvPr id="33" name="Text 26"/>
          <p:cNvSpPr txBox="1"/>
          <p:nvPr/>
        </p:nvSpPr>
        <p:spPr>
          <a:xfrm>
            <a:off x="548640" y="3794760"/>
            <a:ext cx="1554480" cy="228600"/>
          </a:xfrm>
          <a:prstGeom prst="rect">
            <a:avLst/>
          </a:prstGeom>
          <a:noFill/>
          <a:ln/>
        </p:spPr>
        <p:txBody>
          <a:bodyPr wrap="square" lIns="0" tIns="0" rIns="0" bIns="0" rtlCol="0" anchor="ctr"/>
          <a:lstStyle/>
          <a:p>
            <a:pPr indent="0" marL="0">
              <a:buNone/>
            </a:pPr>
            <a:r>
              <a:rPr lang="en-US" sz="950" b="1" spc="100" kern="0" dirty="0">
                <a:solidFill>
                  <a:srgbClr val="B24A2C"/>
                </a:solidFill>
                <a:latin typeface="Calibri" pitchFamily="34" charset="0"/>
                <a:ea typeface="Calibri" pitchFamily="34" charset="-122"/>
                <a:cs typeface="Calibri" pitchFamily="34" charset="-120"/>
              </a:rPr>
              <a:t>NOW</a:t>
            </a:r>
            <a:endParaRPr lang="en-US" sz="950" dirty="0"/>
          </a:p>
        </p:txBody>
      </p:sp>
      <p:sp>
        <p:nvSpPr>
          <p:cNvPr id="34" name="Text 27"/>
          <p:cNvSpPr txBox="1"/>
          <p:nvPr/>
        </p:nvSpPr>
        <p:spPr>
          <a:xfrm>
            <a:off x="548640" y="4041648"/>
            <a:ext cx="1554480" cy="274320"/>
          </a:xfrm>
          <a:prstGeom prst="rect">
            <a:avLst/>
          </a:prstGeom>
          <a:noFill/>
          <a:ln/>
        </p:spPr>
        <p:txBody>
          <a:bodyPr wrap="square" lIns="0" tIns="0" rIns="0" bIns="0"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Prototype live</a:t>
            </a:r>
            <a:endParaRPr lang="en-US" sz="1200" dirty="0"/>
          </a:p>
        </p:txBody>
      </p:sp>
      <p:sp>
        <p:nvSpPr>
          <p:cNvPr id="35" name="Text 28"/>
          <p:cNvSpPr txBox="1"/>
          <p:nvPr/>
        </p:nvSpPr>
        <p:spPr>
          <a:xfrm>
            <a:off x="548640" y="4343400"/>
            <a:ext cx="1508760" cy="1051560"/>
          </a:xfrm>
          <a:prstGeom prst="rect">
            <a:avLst/>
          </a:prstGeom>
          <a:noFill/>
          <a:ln/>
        </p:spPr>
        <p:txBody>
          <a:bodyPr wrap="square" lIns="0" tIns="0" rIns="0" bIns="0" rtlCol="0" anchor="t"/>
          <a:lstStyle/>
          <a:p>
            <a:pPr indent="0" marL="0">
              <a:buNone/>
            </a:pPr>
            <a:r>
              <a:rPr lang="en-US" sz="1000" dirty="0">
                <a:solidFill>
                  <a:srgbClr val="5F5C55"/>
                </a:solidFill>
                <a:latin typeface="Calibri" pitchFamily="34" charset="0"/>
                <a:ea typeface="Calibri" pitchFamily="34" charset="-122"/>
                <a:cs typeface="Calibri" pitchFamily="34" charset="-120"/>
              </a:rPr>
              <a:t>Public data, JSL Jajpur &amp; Hisar profiles, calibrated coefficients.</a:t>
            </a:r>
            <a:endParaRPr lang="en-US" sz="1000" dirty="0"/>
          </a:p>
        </p:txBody>
      </p:sp>
      <p:sp>
        <p:nvSpPr>
          <p:cNvPr id="36" name="Shape 29"/>
          <p:cNvSpPr/>
          <p:nvPr/>
        </p:nvSpPr>
        <p:spPr>
          <a:xfrm>
            <a:off x="2286000" y="3502152"/>
            <a:ext cx="219456" cy="219456"/>
          </a:xfrm>
          <a:prstGeom prst="ellipse">
            <a:avLst/>
          </a:prstGeom>
          <a:solidFill>
            <a:srgbClr val="FFFFFF"/>
          </a:solidFill>
          <a:ln w="25400">
            <a:solidFill>
              <a:srgbClr val="B24A2C"/>
            </a:solidFill>
            <a:prstDash val="solid"/>
          </a:ln>
        </p:spPr>
      </p:sp>
      <p:sp>
        <p:nvSpPr>
          <p:cNvPr id="37" name="Text 30"/>
          <p:cNvSpPr txBox="1"/>
          <p:nvPr/>
        </p:nvSpPr>
        <p:spPr>
          <a:xfrm>
            <a:off x="2240280" y="3794760"/>
            <a:ext cx="1554480" cy="228600"/>
          </a:xfrm>
          <a:prstGeom prst="rect">
            <a:avLst/>
          </a:prstGeom>
          <a:noFill/>
          <a:ln/>
        </p:spPr>
        <p:txBody>
          <a:bodyPr wrap="square" lIns="0" tIns="0" rIns="0" bIns="0" rtlCol="0" anchor="ctr"/>
          <a:lstStyle/>
          <a:p>
            <a:pPr indent="0" marL="0">
              <a:buNone/>
            </a:pPr>
            <a:r>
              <a:rPr lang="en-US" sz="950" b="1" spc="100" kern="0" dirty="0">
                <a:solidFill>
                  <a:srgbClr val="B24A2C"/>
                </a:solidFill>
                <a:latin typeface="Calibri" pitchFamily="34" charset="0"/>
                <a:ea typeface="Calibri" pitchFamily="34" charset="-122"/>
                <a:cs typeface="Calibri" pitchFamily="34" charset="-120"/>
              </a:rPr>
              <a:t>0–3 MONTHS</a:t>
            </a:r>
            <a:endParaRPr lang="en-US" sz="950" dirty="0"/>
          </a:p>
        </p:txBody>
      </p:sp>
      <p:sp>
        <p:nvSpPr>
          <p:cNvPr id="38" name="Text 31"/>
          <p:cNvSpPr txBox="1"/>
          <p:nvPr/>
        </p:nvSpPr>
        <p:spPr>
          <a:xfrm>
            <a:off x="2240280" y="4041648"/>
            <a:ext cx="1554480" cy="274320"/>
          </a:xfrm>
          <a:prstGeom prst="rect">
            <a:avLst/>
          </a:prstGeom>
          <a:noFill/>
          <a:ln/>
        </p:spPr>
        <p:txBody>
          <a:bodyPr wrap="square" lIns="0" tIns="0" rIns="0" bIns="0"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Plug in plant data</a:t>
            </a:r>
            <a:endParaRPr lang="en-US" sz="1200" dirty="0"/>
          </a:p>
        </p:txBody>
      </p:sp>
      <p:sp>
        <p:nvSpPr>
          <p:cNvPr id="39" name="Text 32"/>
          <p:cNvSpPr txBox="1"/>
          <p:nvPr/>
        </p:nvSpPr>
        <p:spPr>
          <a:xfrm>
            <a:off x="2240280" y="4343400"/>
            <a:ext cx="1508760" cy="1051560"/>
          </a:xfrm>
          <a:prstGeom prst="rect">
            <a:avLst/>
          </a:prstGeom>
          <a:noFill/>
          <a:ln/>
        </p:spPr>
        <p:txBody>
          <a:bodyPr wrap="square" lIns="0" tIns="0" rIns="0" bIns="0" rtlCol="0" anchor="t"/>
          <a:lstStyle/>
          <a:p>
            <a:pPr indent="0" marL="0">
              <a:buNone/>
            </a:pPr>
            <a:r>
              <a:rPr lang="en-US" sz="1000" dirty="0">
                <a:solidFill>
                  <a:srgbClr val="5F5C55"/>
                </a:solidFill>
                <a:latin typeface="Calibri" pitchFamily="34" charset="0"/>
                <a:ea typeface="Calibri" pitchFamily="34" charset="-122"/>
                <a:cs typeface="Calibri" pitchFamily="34" charset="-120"/>
              </a:rPr>
              <a:t>Shop-level kWh from energy meters, DISCOM/PPA emission factors, charge-mix records.</a:t>
            </a:r>
            <a:endParaRPr lang="en-US" sz="1000" dirty="0"/>
          </a:p>
        </p:txBody>
      </p:sp>
      <p:sp>
        <p:nvSpPr>
          <p:cNvPr id="40" name="Shape 33"/>
          <p:cNvSpPr/>
          <p:nvPr/>
        </p:nvSpPr>
        <p:spPr>
          <a:xfrm>
            <a:off x="3977640" y="3502152"/>
            <a:ext cx="219456" cy="219456"/>
          </a:xfrm>
          <a:prstGeom prst="ellipse">
            <a:avLst/>
          </a:prstGeom>
          <a:solidFill>
            <a:srgbClr val="FFFFFF"/>
          </a:solidFill>
          <a:ln w="25400">
            <a:solidFill>
              <a:srgbClr val="B24A2C"/>
            </a:solidFill>
            <a:prstDash val="solid"/>
          </a:ln>
        </p:spPr>
      </p:sp>
      <p:sp>
        <p:nvSpPr>
          <p:cNvPr id="41" name="Text 34"/>
          <p:cNvSpPr txBox="1"/>
          <p:nvPr/>
        </p:nvSpPr>
        <p:spPr>
          <a:xfrm>
            <a:off x="3931920" y="3794760"/>
            <a:ext cx="1554480" cy="228600"/>
          </a:xfrm>
          <a:prstGeom prst="rect">
            <a:avLst/>
          </a:prstGeom>
          <a:noFill/>
          <a:ln/>
        </p:spPr>
        <p:txBody>
          <a:bodyPr wrap="square" lIns="0" tIns="0" rIns="0" bIns="0" rtlCol="0" anchor="ctr"/>
          <a:lstStyle/>
          <a:p>
            <a:pPr indent="0" marL="0">
              <a:buNone/>
            </a:pPr>
            <a:r>
              <a:rPr lang="en-US" sz="950" b="1" spc="100" kern="0" dirty="0">
                <a:solidFill>
                  <a:srgbClr val="B24A2C"/>
                </a:solidFill>
                <a:latin typeface="Calibri" pitchFamily="34" charset="0"/>
                <a:ea typeface="Calibri" pitchFamily="34" charset="-122"/>
                <a:cs typeface="Calibri" pitchFamily="34" charset="-120"/>
              </a:rPr>
              <a:t>3–9 MONTHS</a:t>
            </a:r>
            <a:endParaRPr lang="en-US" sz="950" dirty="0"/>
          </a:p>
        </p:txBody>
      </p:sp>
      <p:sp>
        <p:nvSpPr>
          <p:cNvPr id="42" name="Text 35"/>
          <p:cNvSpPr txBox="1"/>
          <p:nvPr/>
        </p:nvSpPr>
        <p:spPr>
          <a:xfrm>
            <a:off x="3931920" y="4041648"/>
            <a:ext cx="1554480" cy="274320"/>
          </a:xfrm>
          <a:prstGeom prst="rect">
            <a:avLst/>
          </a:prstGeom>
          <a:noFill/>
          <a:ln/>
        </p:spPr>
        <p:txBody>
          <a:bodyPr wrap="square" lIns="0" tIns="0" rIns="0" bIns="0"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Decide with it</a:t>
            </a:r>
            <a:endParaRPr lang="en-US" sz="1200" dirty="0"/>
          </a:p>
        </p:txBody>
      </p:sp>
      <p:sp>
        <p:nvSpPr>
          <p:cNvPr id="43" name="Text 36"/>
          <p:cNvSpPr txBox="1"/>
          <p:nvPr/>
        </p:nvSpPr>
        <p:spPr>
          <a:xfrm>
            <a:off x="3931920" y="4343400"/>
            <a:ext cx="1508760" cy="1051560"/>
          </a:xfrm>
          <a:prstGeom prst="rect">
            <a:avLst/>
          </a:prstGeom>
          <a:noFill/>
          <a:ln/>
        </p:spPr>
        <p:txBody>
          <a:bodyPr wrap="square" lIns="0" tIns="0" rIns="0" bIns="0" rtlCol="0" anchor="t"/>
          <a:lstStyle/>
          <a:p>
            <a:pPr indent="0" marL="0">
              <a:buNone/>
            </a:pPr>
            <a:r>
              <a:rPr lang="en-US" sz="1000" dirty="0">
                <a:solidFill>
                  <a:srgbClr val="5F5C55"/>
                </a:solidFill>
                <a:latin typeface="Calibri" pitchFamily="34" charset="0"/>
                <a:ea typeface="Calibri" pitchFamily="34" charset="-122"/>
                <a:cs typeface="Calibri" pitchFamily="34" charset="-120"/>
              </a:rPr>
              <a:t>Size RE PPAs and scrap contracts in the optimiser. Feed BRSR Core and CBAM filings.</a:t>
            </a:r>
            <a:endParaRPr lang="en-US" sz="1000" dirty="0"/>
          </a:p>
        </p:txBody>
      </p:sp>
      <p:sp>
        <p:nvSpPr>
          <p:cNvPr id="44" name="Shape 37"/>
          <p:cNvSpPr/>
          <p:nvPr/>
        </p:nvSpPr>
        <p:spPr>
          <a:xfrm>
            <a:off x="5669280" y="3502152"/>
            <a:ext cx="219456" cy="219456"/>
          </a:xfrm>
          <a:prstGeom prst="ellipse">
            <a:avLst/>
          </a:prstGeom>
          <a:solidFill>
            <a:srgbClr val="FFFFFF"/>
          </a:solidFill>
          <a:ln w="25400">
            <a:solidFill>
              <a:srgbClr val="B24A2C"/>
            </a:solidFill>
            <a:prstDash val="solid"/>
          </a:ln>
        </p:spPr>
      </p:sp>
      <p:sp>
        <p:nvSpPr>
          <p:cNvPr id="45" name="Text 38"/>
          <p:cNvSpPr txBox="1"/>
          <p:nvPr/>
        </p:nvSpPr>
        <p:spPr>
          <a:xfrm>
            <a:off x="5623560" y="3794760"/>
            <a:ext cx="1554480" cy="228600"/>
          </a:xfrm>
          <a:prstGeom prst="rect">
            <a:avLst/>
          </a:prstGeom>
          <a:noFill/>
          <a:ln/>
        </p:spPr>
        <p:txBody>
          <a:bodyPr wrap="square" lIns="0" tIns="0" rIns="0" bIns="0" rtlCol="0" anchor="ctr"/>
          <a:lstStyle/>
          <a:p>
            <a:pPr indent="0" marL="0">
              <a:buNone/>
            </a:pPr>
            <a:r>
              <a:rPr lang="en-US" sz="950" b="1" spc="100" kern="0" dirty="0">
                <a:solidFill>
                  <a:srgbClr val="B24A2C"/>
                </a:solidFill>
                <a:latin typeface="Calibri" pitchFamily="34" charset="0"/>
                <a:ea typeface="Calibri" pitchFamily="34" charset="-122"/>
                <a:cs typeface="Calibri" pitchFamily="34" charset="-120"/>
              </a:rPr>
              <a:t>9–18 MONTHS</a:t>
            </a:r>
            <a:endParaRPr lang="en-US" sz="950" dirty="0"/>
          </a:p>
        </p:txBody>
      </p:sp>
      <p:sp>
        <p:nvSpPr>
          <p:cNvPr id="46" name="Text 39"/>
          <p:cNvSpPr txBox="1"/>
          <p:nvPr/>
        </p:nvSpPr>
        <p:spPr>
          <a:xfrm>
            <a:off x="5623560" y="4041648"/>
            <a:ext cx="1554480" cy="274320"/>
          </a:xfrm>
          <a:prstGeom prst="rect">
            <a:avLst/>
          </a:prstGeom>
          <a:noFill/>
          <a:ln/>
        </p:spPr>
        <p:txBody>
          <a:bodyPr wrap="square" lIns="0" tIns="0" rIns="0" bIns="0" rtlCol="0" anchor="ctr"/>
          <a:lstStyle/>
          <a:p>
            <a:pPr indent="0" marL="0">
              <a:buNone/>
            </a:pPr>
            <a:r>
              <a:rPr lang="en-US" sz="1200" b="1" dirty="0">
                <a:solidFill>
                  <a:srgbClr val="1F1F1E"/>
                </a:solidFill>
                <a:latin typeface="Calibri" pitchFamily="34" charset="0"/>
                <a:ea typeface="Calibri" pitchFamily="34" charset="-122"/>
                <a:cs typeface="Calibri" pitchFamily="34" charset="-120"/>
              </a:rPr>
              <a:t>Scale it</a:t>
            </a:r>
            <a:endParaRPr lang="en-US" sz="1200" dirty="0"/>
          </a:p>
        </p:txBody>
      </p:sp>
      <p:sp>
        <p:nvSpPr>
          <p:cNvPr id="47" name="Text 40"/>
          <p:cNvSpPr txBox="1"/>
          <p:nvPr/>
        </p:nvSpPr>
        <p:spPr>
          <a:xfrm>
            <a:off x="5623560" y="4343400"/>
            <a:ext cx="1508760" cy="1051560"/>
          </a:xfrm>
          <a:prstGeom prst="rect">
            <a:avLst/>
          </a:prstGeom>
          <a:noFill/>
          <a:ln/>
        </p:spPr>
        <p:txBody>
          <a:bodyPr wrap="square" lIns="0" tIns="0" rIns="0" bIns="0" rtlCol="0" anchor="t"/>
          <a:lstStyle/>
          <a:p>
            <a:pPr indent="0" marL="0">
              <a:buNone/>
            </a:pPr>
            <a:r>
              <a:rPr lang="en-US" sz="1000" dirty="0">
                <a:solidFill>
                  <a:srgbClr val="5F5C55"/>
                </a:solidFill>
                <a:latin typeface="Calibri" pitchFamily="34" charset="0"/>
                <a:ea typeface="Calibri" pitchFamily="34" charset="-122"/>
                <a:cs typeface="Calibri" pitchFamily="34" charset="-120"/>
              </a:rPr>
              <a:t>Per-grade and per-coil footprints for customers (EPD); every site on one grid.</a:t>
            </a:r>
            <a:endParaRPr lang="en-US" sz="1000" dirty="0"/>
          </a:p>
        </p:txBody>
      </p:sp>
      <p:sp>
        <p:nvSpPr>
          <p:cNvPr id="48" name="Shape 41"/>
          <p:cNvSpPr/>
          <p:nvPr/>
        </p:nvSpPr>
        <p:spPr>
          <a:xfrm>
            <a:off x="548640" y="5532120"/>
            <a:ext cx="6766560" cy="777240"/>
          </a:xfrm>
          <a:prstGeom prst="rect">
            <a:avLst/>
          </a:prstGeom>
          <a:solidFill>
            <a:srgbClr val="F2F0EB"/>
          </a:solidFill>
          <a:ln w="12700">
            <a:solidFill>
              <a:srgbClr val="F2F0EB"/>
            </a:solidFill>
            <a:prstDash val="solid"/>
          </a:ln>
        </p:spPr>
      </p:sp>
      <p:sp>
        <p:nvSpPr>
          <p:cNvPr id="49" name="Text 42"/>
          <p:cNvSpPr txBox="1"/>
          <p:nvPr/>
        </p:nvSpPr>
        <p:spPr>
          <a:xfrm>
            <a:off x="685800" y="5577840"/>
            <a:ext cx="6537960" cy="685800"/>
          </a:xfrm>
          <a:prstGeom prst="rect">
            <a:avLst/>
          </a:prstGeom>
          <a:noFill/>
          <a:ln/>
        </p:spPr>
        <p:txBody>
          <a:bodyPr wrap="square" lIns="0" tIns="0" rIns="0" bIns="0" rtlCol="0" anchor="ctr"/>
          <a:lstStyle/>
          <a:p>
            <a:pPr indent="0" marL="0">
              <a:buNone/>
            </a:pPr>
            <a:r>
              <a:rPr lang="en-US" sz="1050" b="1" dirty="0">
                <a:solidFill>
                  <a:srgbClr val="1F1F1E"/>
                </a:solidFill>
                <a:latin typeface="Calibri" pitchFamily="34" charset="0"/>
                <a:ea typeface="Calibri" pitchFamily="34" charset="-122"/>
                <a:cs typeface="Calibri" pitchFamily="34" charset="-120"/>
              </a:rPr>
              <a:t>Assumptions &amp; limits. </a:t>
            </a:r>
            <a:pPr indent="0" marL="0">
              <a:buNone/>
            </a:pPr>
            <a:r>
              <a:rPr lang="en-US" sz="1050" dirty="0">
                <a:solidFill>
                  <a:srgbClr val="5F5C55"/>
                </a:solidFill>
                <a:latin typeface="Calibri" pitchFamily="34" charset="0"/>
                <a:ea typeface="Calibri" pitchFamily="34" charset="-122"/>
                <a:cs typeface="Calibri" pitchFamily="34" charset="-120"/>
              </a:rPr>
              <a:t>Coefficients are calibrated to published benchmarks, not metered. Site grid splits, scrap ratios and haulage are estimates, and the app labels them. That's why Phase 1 is metered data.</a:t>
            </a:r>
            <a:endParaRPr lang="en-US" sz="1050" dirty="0"/>
          </a:p>
        </p:txBody>
      </p:sp>
      <p:sp>
        <p:nvSpPr>
          <p:cNvPr id="50" name="Shape 43"/>
          <p:cNvSpPr/>
          <p:nvPr/>
        </p:nvSpPr>
        <p:spPr>
          <a:xfrm>
            <a:off x="7598664" y="3072384"/>
            <a:ext cx="4096512" cy="1764350"/>
          </a:xfrm>
          <a:prstGeom prst="rect">
            <a:avLst/>
          </a:prstGeom>
          <a:solidFill>
            <a:srgbClr val="DDD9D0"/>
          </a:solidFill>
          <a:ln w="12700">
            <a:solidFill>
              <a:srgbClr val="DDD9D0"/>
            </a:solidFill>
            <a:prstDash val="solid"/>
          </a:ln>
          <a:effectLst>
            <a:outerShdw sx="100000" sy="100000" kx="0" ky="0" algn="bl" rotWithShape="0" blurRad="101600" dist="38100" dir="5400000">
              <a:srgbClr val="000000">
                <a:alpha val="18000"/>
              </a:srgbClr>
            </a:outerShdw>
          </a:effectLst>
        </p:spPr>
      </p:sp>
      <p:pic>
        <p:nvPicPr>
          <p:cNvPr id="51" name="Image 5" descr="/tmp/lo/crops/db_top.png">    </p:cNvPr>
          <p:cNvPicPr>
            <a:picLocks noChangeAspect="1"/>
          </p:cNvPicPr>
          <p:nvPr/>
        </p:nvPicPr>
        <p:blipFill>
          <a:blip r:embed="rId6"/>
          <a:stretch>
            <a:fillRect/>
          </a:stretch>
        </p:blipFill>
        <p:spPr>
          <a:xfrm>
            <a:off x="7635240" y="3108960"/>
            <a:ext cx="4023360" cy="1691198"/>
          </a:xfrm>
          <a:prstGeom prst="rect">
            <a:avLst/>
          </a:prstGeom>
        </p:spPr>
      </p:pic>
      <p:sp>
        <p:nvSpPr>
          <p:cNvPr id="52" name="Text 44"/>
          <p:cNvSpPr txBox="1"/>
          <p:nvPr/>
        </p:nvSpPr>
        <p:spPr>
          <a:xfrm>
            <a:off x="7635240" y="4983038"/>
            <a:ext cx="1143000" cy="411480"/>
          </a:xfrm>
          <a:prstGeom prst="rect">
            <a:avLst/>
          </a:prstGeom>
          <a:noFill/>
          <a:ln/>
        </p:spPr>
        <p:txBody>
          <a:bodyPr wrap="square" lIns="0" tIns="0" rIns="0" bIns="0" rtlCol="0" anchor="ctr"/>
          <a:lstStyle/>
          <a:p>
            <a:pPr indent="0" marL="0">
              <a:buNone/>
            </a:pPr>
            <a:r>
              <a:rPr lang="en-US" sz="2000" dirty="0">
                <a:solidFill>
                  <a:srgbClr val="B24A2C"/>
                </a:solidFill>
                <a:latin typeface="Cambria" pitchFamily="34" charset="0"/>
                <a:ea typeface="Cambria" pitchFamily="34" charset="-122"/>
                <a:cs typeface="Cambria" pitchFamily="34" charset="-120"/>
              </a:rPr>
              <a:t>47</a:t>
            </a:r>
            <a:endParaRPr lang="en-US" sz="2000" dirty="0"/>
          </a:p>
        </p:txBody>
      </p:sp>
      <p:sp>
        <p:nvSpPr>
          <p:cNvPr id="53" name="Text 45"/>
          <p:cNvSpPr txBox="1"/>
          <p:nvPr/>
        </p:nvSpPr>
        <p:spPr>
          <a:xfrm>
            <a:off x="8823960" y="4983038"/>
            <a:ext cx="2834640" cy="411480"/>
          </a:xfrm>
          <a:prstGeom prst="rect">
            <a:avLst/>
          </a:prstGeom>
          <a:noFill/>
          <a:ln/>
        </p:spPr>
        <p:txBody>
          <a:bodyPr wrap="square" lIns="0" tIns="0" rIns="0" bIns="0" rtlCol="0" anchor="ctr"/>
          <a:lstStyle/>
          <a:p>
            <a:pPr indent="0" marL="0">
              <a:buNone/>
            </a:pPr>
            <a:r>
              <a:rPr lang="en-US" sz="1050" dirty="0">
                <a:solidFill>
                  <a:srgbClr val="5F5C55"/>
                </a:solidFill>
                <a:latin typeface="Calibri" pitchFamily="34" charset="0"/>
                <a:ea typeface="Calibri" pitchFamily="34" charset="-122"/>
                <a:cs typeface="Calibri" pitchFamily="34" charset="-120"/>
              </a:rPr>
              <a:t>automated tests pass, incl. full re-derivation of workbook totals</a:t>
            </a:r>
            <a:endParaRPr lang="en-US" sz="1050" dirty="0"/>
          </a:p>
        </p:txBody>
      </p:sp>
      <p:sp>
        <p:nvSpPr>
          <p:cNvPr id="54" name="Text 46"/>
          <p:cNvSpPr txBox="1"/>
          <p:nvPr/>
        </p:nvSpPr>
        <p:spPr>
          <a:xfrm>
            <a:off x="7635240" y="5440238"/>
            <a:ext cx="1143000" cy="411480"/>
          </a:xfrm>
          <a:prstGeom prst="rect">
            <a:avLst/>
          </a:prstGeom>
          <a:noFill/>
          <a:ln/>
        </p:spPr>
        <p:txBody>
          <a:bodyPr wrap="square" lIns="0" tIns="0" rIns="0" bIns="0" rtlCol="0" anchor="ctr"/>
          <a:lstStyle/>
          <a:p>
            <a:pPr indent="0" marL="0">
              <a:buNone/>
            </a:pPr>
            <a:r>
              <a:rPr lang="en-US" sz="2000" dirty="0">
                <a:solidFill>
                  <a:srgbClr val="B24A2C"/>
                </a:solidFill>
                <a:latin typeface="Cambria" pitchFamily="34" charset="0"/>
                <a:ea typeface="Cambria" pitchFamily="34" charset="-122"/>
                <a:cs typeface="Cambria" pitchFamily="34" charset="-120"/>
              </a:rPr>
              <a:t>~15 ms</a:t>
            </a:r>
            <a:endParaRPr lang="en-US" sz="2000" dirty="0"/>
          </a:p>
        </p:txBody>
      </p:sp>
      <p:sp>
        <p:nvSpPr>
          <p:cNvPr id="55" name="Text 47"/>
          <p:cNvSpPr txBox="1"/>
          <p:nvPr/>
        </p:nvSpPr>
        <p:spPr>
          <a:xfrm>
            <a:off x="8823960" y="5440238"/>
            <a:ext cx="2834640" cy="411480"/>
          </a:xfrm>
          <a:prstGeom prst="rect">
            <a:avLst/>
          </a:prstGeom>
          <a:noFill/>
          <a:ln/>
        </p:spPr>
        <p:txBody>
          <a:bodyPr wrap="square" lIns="0" tIns="0" rIns="0" bIns="0" rtlCol="0" anchor="ctr"/>
          <a:lstStyle/>
          <a:p>
            <a:pPr indent="0" marL="0">
              <a:buNone/>
            </a:pPr>
            <a:r>
              <a:rPr lang="en-US" sz="1050" dirty="0">
                <a:solidFill>
                  <a:srgbClr val="5F5C55"/>
                </a:solidFill>
                <a:latin typeface="Calibri" pitchFamily="34" charset="0"/>
                <a:ea typeface="Calibri" pitchFamily="34" charset="-122"/>
                <a:cs typeface="Calibri" pitchFamily="34" charset="-120"/>
              </a:rPr>
              <a:t>exact optimiser run per ambition level</a:t>
            </a:r>
            <a:endParaRPr lang="en-US" sz="1050" dirty="0"/>
          </a:p>
        </p:txBody>
      </p:sp>
      <p:sp>
        <p:nvSpPr>
          <p:cNvPr id="56" name="Text 48"/>
          <p:cNvSpPr txBox="1"/>
          <p:nvPr/>
        </p:nvSpPr>
        <p:spPr>
          <a:xfrm>
            <a:off x="7635240" y="5897438"/>
            <a:ext cx="1143000" cy="411480"/>
          </a:xfrm>
          <a:prstGeom prst="rect">
            <a:avLst/>
          </a:prstGeom>
          <a:noFill/>
          <a:ln/>
        </p:spPr>
        <p:txBody>
          <a:bodyPr wrap="square" lIns="0" tIns="0" rIns="0" bIns="0" rtlCol="0" anchor="ctr"/>
          <a:lstStyle/>
          <a:p>
            <a:pPr indent="0" marL="0">
              <a:buNone/>
            </a:pPr>
            <a:r>
              <a:rPr lang="en-US" sz="2000" dirty="0">
                <a:solidFill>
                  <a:srgbClr val="B24A2C"/>
                </a:solidFill>
                <a:latin typeface="Cambria" pitchFamily="34" charset="0"/>
                <a:ea typeface="Cambria" pitchFamily="34" charset="-122"/>
                <a:cs typeface="Cambria" pitchFamily="34" charset="-120"/>
              </a:rPr>
              <a:t>₹0</a:t>
            </a:r>
            <a:endParaRPr lang="en-US" sz="2000" dirty="0"/>
          </a:p>
        </p:txBody>
      </p:sp>
      <p:sp>
        <p:nvSpPr>
          <p:cNvPr id="57" name="Text 49"/>
          <p:cNvSpPr txBox="1"/>
          <p:nvPr/>
        </p:nvSpPr>
        <p:spPr>
          <a:xfrm>
            <a:off x="8823960" y="5897438"/>
            <a:ext cx="2834640" cy="411480"/>
          </a:xfrm>
          <a:prstGeom prst="rect">
            <a:avLst/>
          </a:prstGeom>
          <a:noFill/>
          <a:ln/>
        </p:spPr>
        <p:txBody>
          <a:bodyPr wrap="square" lIns="0" tIns="0" rIns="0" bIns="0" rtlCol="0" anchor="ctr"/>
          <a:lstStyle/>
          <a:p>
            <a:pPr indent="0" marL="0">
              <a:buNone/>
            </a:pPr>
            <a:r>
              <a:rPr lang="en-US" sz="1050" dirty="0">
                <a:solidFill>
                  <a:srgbClr val="5F5C55"/>
                </a:solidFill>
                <a:latin typeface="Calibri" pitchFamily="34" charset="0"/>
                <a:ea typeface="Calibri" pitchFamily="34" charset="-122"/>
                <a:cs typeface="Calibri" pitchFamily="34" charset="-120"/>
              </a:rPr>
              <a:t>licences: Python, Streamlit, Plotly, one VM</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1C1B"/>
        </a:solidFill>
      </p:bgPr>
    </p:bg>
    <p:spTree>
      <p:nvGrpSpPr>
        <p:cNvPr id="1" name=""/>
        <p:cNvGrpSpPr/>
        <p:nvPr/>
      </p:nvGrpSpPr>
      <p:grpSpPr>
        <a:xfrm>
          <a:off x="0" y="0"/>
          <a:ext cx="0" cy="0"/>
          <a:chOff x="0" y="0"/>
          <a:chExt cx="0" cy="0"/>
        </a:xfrm>
      </p:grpSpPr>
      <p:sp>
        <p:nvSpPr>
          <p:cNvPr id="2" name="Shape 0"/>
          <p:cNvSpPr/>
          <p:nvPr/>
        </p:nvSpPr>
        <p:spPr>
          <a:xfrm>
            <a:off x="502920" y="384048"/>
            <a:ext cx="384048" cy="384048"/>
          </a:xfrm>
          <a:prstGeom prst="ellipse">
            <a:avLst/>
          </a:prstGeom>
          <a:solidFill>
            <a:srgbClr val="B24A2C"/>
          </a:solidFill>
          <a:ln w="12700">
            <a:solidFill>
              <a:srgbClr val="B24A2C"/>
            </a:solidFill>
            <a:prstDash val="solid"/>
          </a:ln>
        </p:spPr>
      </p:sp>
      <p:sp>
        <p:nvSpPr>
          <p:cNvPr id="3" name="Text 1"/>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 name="Text 2"/>
          <p:cNvSpPr txBox="1"/>
          <p:nvPr/>
        </p:nvSpPr>
        <p:spPr>
          <a:xfrm>
            <a:off x="1051560" y="329184"/>
            <a:ext cx="10058400" cy="256032"/>
          </a:xfrm>
          <a:prstGeom prst="rect">
            <a:avLst/>
          </a:prstGeom>
          <a:noFill/>
          <a:ln/>
        </p:spPr>
        <p:txBody>
          <a:bodyPr wrap="square" lIns="0" tIns="0" rIns="0" bIns="0" rtlCol="0" anchor="ctr"/>
          <a:lstStyle/>
          <a:p>
            <a:pPr indent="0" marL="0">
              <a:buNone/>
            </a:pPr>
            <a:r>
              <a:rPr lang="en-US" sz="1100" b="1" spc="100" kern="0" dirty="0">
                <a:solidFill>
                  <a:srgbClr val="E08A63"/>
                </a:solidFill>
                <a:latin typeface="Calibri" pitchFamily="34" charset="0"/>
                <a:ea typeface="Calibri" pitchFamily="34" charset="-122"/>
                <a:cs typeface="Calibri" pitchFamily="34" charset="-120"/>
              </a:rPr>
              <a:t>IMPACT  ·  WHAT IT IS WORTH</a:t>
            </a:r>
            <a:endParaRPr lang="en-US" sz="1100" dirty="0"/>
          </a:p>
        </p:txBody>
      </p:sp>
      <p:sp>
        <p:nvSpPr>
          <p:cNvPr id="5" name="Text 3"/>
          <p:cNvSpPr txBox="1"/>
          <p:nvPr/>
        </p:nvSpPr>
        <p:spPr>
          <a:xfrm>
            <a:off x="1051560" y="585216"/>
            <a:ext cx="10698480" cy="566928"/>
          </a:xfrm>
          <a:prstGeom prst="rect">
            <a:avLst/>
          </a:prstGeom>
          <a:noFill/>
          <a:ln/>
        </p:spPr>
        <p:txBody>
          <a:bodyPr wrap="square" lIns="0" tIns="0" rIns="0" bIns="0" rtlCol="0" anchor="t"/>
          <a:lstStyle/>
          <a:p>
            <a:pPr indent="0" marL="0">
              <a:buNone/>
            </a:pPr>
            <a:r>
              <a:rPr lang="en-US" sz="3000" dirty="0">
                <a:solidFill>
                  <a:srgbClr val="EDEAE3"/>
                </a:solidFill>
                <a:latin typeface="Cambria" pitchFamily="34" charset="0"/>
                <a:ea typeface="Cambria" pitchFamily="34" charset="-122"/>
                <a:cs typeface="Cambria" pitchFamily="34" charset="-120"/>
              </a:rPr>
              <a:t>~1.8 Mt CO₂e a year, using only what's buildable</a:t>
            </a:r>
            <a:endParaRPr lang="en-US" sz="3000" dirty="0"/>
          </a:p>
        </p:txBody>
      </p:sp>
      <p:graphicFrame>
        <p:nvGraphicFramePr>
          <p:cNvPr id="6" name="Chart 0" descr=""/>
          <p:cNvGraphicFramePr/>
          <p:nvPr/>
        </p:nvGraphicFramePr>
        <p:xfrm>
          <a:off x="457200" y="1371600"/>
          <a:ext cx="4937760" cy="39319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394960"/>
            <a:ext cx="4846320" cy="274320"/>
          </a:xfrm>
          <a:prstGeom prst="rect">
            <a:avLst/>
          </a:prstGeom>
          <a:noFill/>
          <a:ln/>
        </p:spPr>
        <p:txBody>
          <a:bodyPr wrap="square" lIns="0" tIns="0" rIns="0" bIns="0" rtlCol="0" anchor="ctr"/>
          <a:lstStyle/>
          <a:p>
            <a:pPr indent="0" marL="0">
              <a:buNone/>
            </a:pPr>
            <a:r>
              <a:rPr lang="en-US" sz="1050" i="1" dirty="0">
                <a:solidFill>
                  <a:srgbClr val="A8A49B"/>
                </a:solidFill>
                <a:latin typeface="Calibri" pitchFamily="34" charset="0"/>
                <a:ea typeface="Calibri" pitchFamily="34" charset="-122"/>
                <a:cs typeface="Calibri" pitchFamily="34" charset="-120"/>
              </a:rPr>
              <a:t>Totals: 2.887 → 2.248 (−22%) → 1.514 (−48%) → 0.899 (−69%).</a:t>
            </a:r>
            <a:endParaRPr lang="en-US" sz="1050" dirty="0"/>
          </a:p>
        </p:txBody>
      </p:sp>
      <p:sp>
        <p:nvSpPr>
          <p:cNvPr id="8" name="Text 5"/>
          <p:cNvSpPr txBox="1"/>
          <p:nvPr/>
        </p:nvSpPr>
        <p:spPr>
          <a:xfrm>
            <a:off x="5760720" y="1371600"/>
            <a:ext cx="1737360" cy="685800"/>
          </a:xfrm>
          <a:prstGeom prst="rect">
            <a:avLst/>
          </a:prstGeom>
          <a:noFill/>
          <a:ln/>
        </p:spPr>
        <p:txBody>
          <a:bodyPr wrap="square" lIns="0" tIns="0" rIns="0" bIns="0" rtlCol="0" anchor="ctr"/>
          <a:lstStyle/>
          <a:p>
            <a:pPr indent="0" marL="0">
              <a:buNone/>
            </a:pPr>
            <a:r>
              <a:rPr lang="en-US" sz="3200" dirty="0">
                <a:solidFill>
                  <a:srgbClr val="E08A63"/>
                </a:solidFill>
                <a:latin typeface="Cambria" pitchFamily="34" charset="0"/>
                <a:ea typeface="Cambria" pitchFamily="34" charset="-122"/>
                <a:cs typeface="Cambria" pitchFamily="34" charset="-120"/>
              </a:rPr>
              <a:t>1.8 Mt</a:t>
            </a:r>
            <a:endParaRPr lang="en-US" sz="3200" dirty="0"/>
          </a:p>
        </p:txBody>
      </p:sp>
      <p:sp>
        <p:nvSpPr>
          <p:cNvPr id="9" name="Text 6"/>
          <p:cNvSpPr txBox="1"/>
          <p:nvPr/>
        </p:nvSpPr>
        <p:spPr>
          <a:xfrm>
            <a:off x="7543800" y="1389888"/>
            <a:ext cx="4114800" cy="777240"/>
          </a:xfrm>
          <a:prstGeom prst="rect">
            <a:avLst/>
          </a:prstGeom>
          <a:noFill/>
          <a:ln/>
        </p:spPr>
        <p:txBody>
          <a:bodyPr wrap="square" lIns="0" tIns="0" rIns="0" bIns="0" rtlCol="0" anchor="ctr"/>
          <a:lstStyle/>
          <a:p>
            <a:pPr indent="0" marL="0">
              <a:buNone/>
            </a:pPr>
            <a:r>
              <a:rPr lang="en-US" sz="1100" dirty="0">
                <a:solidFill>
                  <a:srgbClr val="EDEAE3"/>
                </a:solidFill>
                <a:latin typeface="Calibri" pitchFamily="34" charset="0"/>
                <a:ea typeface="Calibri" pitchFamily="34" charset="-122"/>
                <a:cs typeface="Calibri" pitchFamily="34" charset="-120"/>
              </a:rPr>
              <a:t>CO₂e/yr avoided on the buildable path across ~3 MTPA (Jajpur 2.2 Mt × 0.639 + Hisar 0.8 Mt × 0.487)</a:t>
            </a:r>
            <a:endParaRPr lang="en-US" sz="1100" dirty="0"/>
          </a:p>
        </p:txBody>
      </p:sp>
      <p:sp>
        <p:nvSpPr>
          <p:cNvPr id="10" name="Text 7"/>
          <p:cNvSpPr txBox="1"/>
          <p:nvPr/>
        </p:nvSpPr>
        <p:spPr>
          <a:xfrm>
            <a:off x="5760720" y="2395728"/>
            <a:ext cx="1737360" cy="685800"/>
          </a:xfrm>
          <a:prstGeom prst="rect">
            <a:avLst/>
          </a:prstGeom>
          <a:noFill/>
          <a:ln/>
        </p:spPr>
        <p:txBody>
          <a:bodyPr wrap="square" lIns="0" tIns="0" rIns="0" bIns="0" rtlCol="0" anchor="ctr"/>
          <a:lstStyle/>
          <a:p>
            <a:pPr indent="0" marL="0">
              <a:buNone/>
            </a:pPr>
            <a:r>
              <a:rPr lang="en-US" sz="3200" dirty="0">
                <a:solidFill>
                  <a:srgbClr val="C9971F"/>
                </a:solidFill>
                <a:latin typeface="Cambria" pitchFamily="34" charset="0"/>
                <a:ea typeface="Cambria" pitchFamily="34" charset="-122"/>
                <a:cs typeface="Cambria" pitchFamily="34" charset="-120"/>
              </a:rPr>
              <a:t>−36%</a:t>
            </a:r>
            <a:endParaRPr lang="en-US" sz="3200" dirty="0"/>
          </a:p>
        </p:txBody>
      </p:sp>
      <p:sp>
        <p:nvSpPr>
          <p:cNvPr id="11" name="Text 8"/>
          <p:cNvSpPr txBox="1"/>
          <p:nvPr/>
        </p:nvSpPr>
        <p:spPr>
          <a:xfrm>
            <a:off x="7543800" y="2414016"/>
            <a:ext cx="4114800" cy="777240"/>
          </a:xfrm>
          <a:prstGeom prst="rect">
            <a:avLst/>
          </a:prstGeom>
          <a:noFill/>
          <a:ln/>
        </p:spPr>
        <p:txBody>
          <a:bodyPr wrap="square" lIns="0" tIns="0" rIns="0" bIns="0" rtlCol="0" anchor="ctr"/>
          <a:lstStyle/>
          <a:p>
            <a:pPr indent="0" marL="0">
              <a:buNone/>
            </a:pPr>
            <a:r>
              <a:rPr lang="en-US" sz="1100" dirty="0">
                <a:solidFill>
                  <a:srgbClr val="EDEAE3"/>
                </a:solidFill>
                <a:latin typeface="Calibri" pitchFamily="34" charset="0"/>
                <a:ea typeface="Calibri" pitchFamily="34" charset="-122"/>
                <a:cs typeface="Calibri" pitchFamily="34" charset="-120"/>
              </a:rPr>
              <a:t>Scope 2 at Jajpur (0.832 → 0.529 t/t) from power procurement alone</a:t>
            </a:r>
            <a:endParaRPr lang="en-US" sz="1100" dirty="0"/>
          </a:p>
        </p:txBody>
      </p:sp>
      <p:sp>
        <p:nvSpPr>
          <p:cNvPr id="12" name="Text 9"/>
          <p:cNvSpPr txBox="1"/>
          <p:nvPr/>
        </p:nvSpPr>
        <p:spPr>
          <a:xfrm>
            <a:off x="5760720" y="3419856"/>
            <a:ext cx="1737360" cy="685800"/>
          </a:xfrm>
          <a:prstGeom prst="rect">
            <a:avLst/>
          </a:prstGeom>
          <a:noFill/>
          <a:ln/>
        </p:spPr>
        <p:txBody>
          <a:bodyPr wrap="square" lIns="0" tIns="0" rIns="0" bIns="0" rtlCol="0" anchor="ctr"/>
          <a:lstStyle/>
          <a:p>
            <a:pPr indent="0" marL="0">
              <a:buNone/>
            </a:pPr>
            <a:r>
              <a:rPr lang="en-US" sz="3200" dirty="0">
                <a:solidFill>
                  <a:srgbClr val="5AA2D0"/>
                </a:solidFill>
                <a:latin typeface="Cambria" pitchFamily="34" charset="0"/>
                <a:ea typeface="Cambria" pitchFamily="34" charset="-122"/>
                <a:cs typeface="Cambria" pitchFamily="34" charset="-120"/>
              </a:rPr>
              <a:t>4.0 Mt</a:t>
            </a:r>
            <a:endParaRPr lang="en-US" sz="3200" dirty="0"/>
          </a:p>
        </p:txBody>
      </p:sp>
      <p:sp>
        <p:nvSpPr>
          <p:cNvPr id="13" name="Text 10"/>
          <p:cNvSpPr txBox="1"/>
          <p:nvPr/>
        </p:nvSpPr>
        <p:spPr>
          <a:xfrm>
            <a:off x="7543800" y="3438144"/>
            <a:ext cx="4114800" cy="777240"/>
          </a:xfrm>
          <a:prstGeom prst="rect">
            <a:avLst/>
          </a:prstGeom>
          <a:noFill/>
          <a:ln/>
        </p:spPr>
        <p:txBody>
          <a:bodyPr wrap="square" lIns="0" tIns="0" rIns="0" bIns="0" rtlCol="0" anchor="ctr"/>
          <a:lstStyle/>
          <a:p>
            <a:pPr indent="0" marL="0">
              <a:buNone/>
            </a:pPr>
            <a:r>
              <a:rPr lang="en-US" sz="1100" dirty="0">
                <a:solidFill>
                  <a:srgbClr val="EDEAE3"/>
                </a:solidFill>
                <a:latin typeface="Calibri" pitchFamily="34" charset="0"/>
                <a:ea typeface="Calibri" pitchFamily="34" charset="-122"/>
                <a:cs typeface="Calibri" pitchFamily="34" charset="-120"/>
              </a:rPr>
              <a:t>CO₂e/yr on the stretch path, nearly half the footprint: a concrete Net Zero 2050 waypoint</a:t>
            </a:r>
            <a:endParaRPr lang="en-US" sz="1100" dirty="0"/>
          </a:p>
        </p:txBody>
      </p:sp>
      <p:sp>
        <p:nvSpPr>
          <p:cNvPr id="14" name="Shape 11"/>
          <p:cNvSpPr/>
          <p:nvPr/>
        </p:nvSpPr>
        <p:spPr>
          <a:xfrm>
            <a:off x="5760720" y="4526280"/>
            <a:ext cx="1874520" cy="1280160"/>
          </a:xfrm>
          <a:prstGeom prst="rect">
            <a:avLst/>
          </a:prstGeom>
          <a:solidFill>
            <a:srgbClr val="2A2927"/>
          </a:solidFill>
          <a:ln w="12700">
            <a:solidFill>
              <a:srgbClr val="3A3835"/>
            </a:solidFill>
            <a:prstDash val="solid"/>
          </a:ln>
        </p:spPr>
      </p:sp>
      <p:sp>
        <p:nvSpPr>
          <p:cNvPr id="15" name="Text 12"/>
          <p:cNvSpPr txBox="1"/>
          <p:nvPr/>
        </p:nvSpPr>
        <p:spPr>
          <a:xfrm>
            <a:off x="5888736" y="4599432"/>
            <a:ext cx="1645920" cy="274320"/>
          </a:xfrm>
          <a:prstGeom prst="rect">
            <a:avLst/>
          </a:prstGeom>
          <a:noFill/>
          <a:ln/>
        </p:spPr>
        <p:txBody>
          <a:bodyPr wrap="square" lIns="0" tIns="0" rIns="0" bIns="0" rtlCol="0" anchor="ctr"/>
          <a:lstStyle/>
          <a:p>
            <a:pPr indent="0" marL="0">
              <a:buNone/>
            </a:pPr>
            <a:r>
              <a:rPr lang="en-US" sz="1150" b="1" dirty="0">
                <a:solidFill>
                  <a:srgbClr val="E08A63"/>
                </a:solidFill>
                <a:latin typeface="Calibri" pitchFamily="34" charset="0"/>
                <a:ea typeface="Calibri" pitchFamily="34" charset="-122"/>
                <a:cs typeface="Calibri" pitchFamily="34" charset="-120"/>
              </a:rPr>
              <a:t>Operational</a:t>
            </a:r>
            <a:endParaRPr lang="en-US" sz="1150" dirty="0"/>
          </a:p>
        </p:txBody>
      </p:sp>
      <p:sp>
        <p:nvSpPr>
          <p:cNvPr id="16" name="Text 13"/>
          <p:cNvSpPr txBox="1"/>
          <p:nvPr/>
        </p:nvSpPr>
        <p:spPr>
          <a:xfrm>
            <a:off x="5888736" y="4892040"/>
            <a:ext cx="1645920" cy="868680"/>
          </a:xfrm>
          <a:prstGeom prst="rect">
            <a:avLst/>
          </a:prstGeom>
          <a:noFill/>
          <a:ln/>
        </p:spPr>
        <p:txBody>
          <a:bodyPr wrap="square" lIns="0" tIns="0" rIns="0" bIns="0" rtlCol="0" anchor="t"/>
          <a:lstStyle/>
          <a:p>
            <a:pPr indent="0" marL="0">
              <a:buNone/>
            </a:pPr>
            <a:r>
              <a:rPr lang="en-US" sz="1000" dirty="0">
                <a:solidFill>
                  <a:srgbClr val="A8A49B"/>
                </a:solidFill>
                <a:latin typeface="Calibri" pitchFamily="34" charset="0"/>
                <a:ea typeface="Calibri" pitchFamily="34" charset="-122"/>
                <a:cs typeface="Calibri" pitchFamily="34" charset="-120"/>
              </a:rPr>
              <a:t>Any plan priced in seconds, per scope and department</a:t>
            </a:r>
            <a:endParaRPr lang="en-US" sz="1000" dirty="0"/>
          </a:p>
        </p:txBody>
      </p:sp>
      <p:sp>
        <p:nvSpPr>
          <p:cNvPr id="17" name="Shape 14"/>
          <p:cNvSpPr/>
          <p:nvPr/>
        </p:nvSpPr>
        <p:spPr>
          <a:xfrm>
            <a:off x="7772400" y="4526280"/>
            <a:ext cx="1874520" cy="1280160"/>
          </a:xfrm>
          <a:prstGeom prst="rect">
            <a:avLst/>
          </a:prstGeom>
          <a:solidFill>
            <a:srgbClr val="2A2927"/>
          </a:solidFill>
          <a:ln w="12700">
            <a:solidFill>
              <a:srgbClr val="3A3835"/>
            </a:solidFill>
            <a:prstDash val="solid"/>
          </a:ln>
        </p:spPr>
      </p:sp>
      <p:sp>
        <p:nvSpPr>
          <p:cNvPr id="18" name="Text 15"/>
          <p:cNvSpPr txBox="1"/>
          <p:nvPr/>
        </p:nvSpPr>
        <p:spPr>
          <a:xfrm>
            <a:off x="7900416" y="4599432"/>
            <a:ext cx="1645920" cy="274320"/>
          </a:xfrm>
          <a:prstGeom prst="rect">
            <a:avLst/>
          </a:prstGeom>
          <a:noFill/>
          <a:ln/>
        </p:spPr>
        <p:txBody>
          <a:bodyPr wrap="square" lIns="0" tIns="0" rIns="0" bIns="0" rtlCol="0" anchor="ctr"/>
          <a:lstStyle/>
          <a:p>
            <a:pPr indent="0" marL="0">
              <a:buNone/>
            </a:pPr>
            <a:r>
              <a:rPr lang="en-US" sz="1150" b="1" dirty="0">
                <a:solidFill>
                  <a:srgbClr val="E08A63"/>
                </a:solidFill>
                <a:latin typeface="Calibri" pitchFamily="34" charset="0"/>
                <a:ea typeface="Calibri" pitchFamily="34" charset="-122"/>
                <a:cs typeface="Calibri" pitchFamily="34" charset="-120"/>
              </a:rPr>
              <a:t>Commercial</a:t>
            </a:r>
            <a:endParaRPr lang="en-US" sz="1150" dirty="0"/>
          </a:p>
        </p:txBody>
      </p:sp>
      <p:sp>
        <p:nvSpPr>
          <p:cNvPr id="19" name="Text 16"/>
          <p:cNvSpPr txBox="1"/>
          <p:nvPr/>
        </p:nvSpPr>
        <p:spPr>
          <a:xfrm>
            <a:off x="7900416" y="4892040"/>
            <a:ext cx="1645920" cy="868680"/>
          </a:xfrm>
          <a:prstGeom prst="rect">
            <a:avLst/>
          </a:prstGeom>
          <a:noFill/>
          <a:ln/>
        </p:spPr>
        <p:txBody>
          <a:bodyPr wrap="square" lIns="0" tIns="0" rIns="0" bIns="0" rtlCol="0" anchor="t"/>
          <a:lstStyle/>
          <a:p>
            <a:pPr indent="0" marL="0">
              <a:buNone/>
            </a:pPr>
            <a:r>
              <a:rPr lang="en-US" sz="1000" dirty="0">
                <a:solidFill>
                  <a:srgbClr val="A8A49B"/>
                </a:solidFill>
                <a:latin typeface="Calibri" pitchFamily="34" charset="0"/>
                <a:ea typeface="Calibri" pitchFamily="34" charset="-122"/>
                <a:cs typeface="Calibri" pitchFamily="34" charset="-120"/>
              </a:rPr>
              <a:t>At an illustrative €80/tCO₂, each 0.1 t/t cut ≈ €8 per tonne of exposure</a:t>
            </a:r>
            <a:endParaRPr lang="en-US" sz="1000" dirty="0"/>
          </a:p>
        </p:txBody>
      </p:sp>
      <p:sp>
        <p:nvSpPr>
          <p:cNvPr id="20" name="Shape 17"/>
          <p:cNvSpPr/>
          <p:nvPr/>
        </p:nvSpPr>
        <p:spPr>
          <a:xfrm>
            <a:off x="9784080" y="4526280"/>
            <a:ext cx="1874520" cy="1280160"/>
          </a:xfrm>
          <a:prstGeom prst="rect">
            <a:avLst/>
          </a:prstGeom>
          <a:solidFill>
            <a:srgbClr val="2A2927"/>
          </a:solidFill>
          <a:ln w="12700">
            <a:solidFill>
              <a:srgbClr val="3A3835"/>
            </a:solidFill>
            <a:prstDash val="solid"/>
          </a:ln>
        </p:spPr>
      </p:sp>
      <p:sp>
        <p:nvSpPr>
          <p:cNvPr id="21" name="Text 18"/>
          <p:cNvSpPr txBox="1"/>
          <p:nvPr/>
        </p:nvSpPr>
        <p:spPr>
          <a:xfrm>
            <a:off x="9912096" y="4599432"/>
            <a:ext cx="1645920" cy="274320"/>
          </a:xfrm>
          <a:prstGeom prst="rect">
            <a:avLst/>
          </a:prstGeom>
          <a:noFill/>
          <a:ln/>
        </p:spPr>
        <p:txBody>
          <a:bodyPr wrap="square" lIns="0" tIns="0" rIns="0" bIns="0" rtlCol="0" anchor="ctr"/>
          <a:lstStyle/>
          <a:p>
            <a:pPr indent="0" marL="0">
              <a:buNone/>
            </a:pPr>
            <a:r>
              <a:rPr lang="en-US" sz="1150" b="1" dirty="0">
                <a:solidFill>
                  <a:srgbClr val="E08A63"/>
                </a:solidFill>
                <a:latin typeface="Calibri" pitchFamily="34" charset="0"/>
                <a:ea typeface="Calibri" pitchFamily="34" charset="-122"/>
                <a:cs typeface="Calibri" pitchFamily="34" charset="-120"/>
              </a:rPr>
              <a:t>Sustainability</a:t>
            </a:r>
            <a:endParaRPr lang="en-US" sz="1150" dirty="0"/>
          </a:p>
        </p:txBody>
      </p:sp>
      <p:sp>
        <p:nvSpPr>
          <p:cNvPr id="22" name="Text 19"/>
          <p:cNvSpPr txBox="1"/>
          <p:nvPr/>
        </p:nvSpPr>
        <p:spPr>
          <a:xfrm>
            <a:off x="9912096" y="4892040"/>
            <a:ext cx="1645920" cy="868680"/>
          </a:xfrm>
          <a:prstGeom prst="rect">
            <a:avLst/>
          </a:prstGeom>
          <a:noFill/>
          <a:ln/>
        </p:spPr>
        <p:txBody>
          <a:bodyPr wrap="square" lIns="0" tIns="0" rIns="0" bIns="0" rtlCol="0" anchor="t"/>
          <a:lstStyle/>
          <a:p>
            <a:pPr indent="0" marL="0">
              <a:buNone/>
            </a:pPr>
            <a:r>
              <a:rPr lang="en-US" sz="1000" dirty="0">
                <a:solidFill>
                  <a:srgbClr val="A8A49B"/>
                </a:solidFill>
                <a:latin typeface="Calibri" pitchFamily="34" charset="0"/>
                <a:ea typeface="Calibri" pitchFamily="34" charset="-122"/>
                <a:cs typeface="Calibri" pitchFamily="34" charset="-120"/>
              </a:rPr>
              <a:t>An auditable intensity trail for BRSR Core, CBAM and customer EPDs</a:t>
            </a:r>
            <a:endParaRPr lang="en-US" sz="1000" dirty="0"/>
          </a:p>
        </p:txBody>
      </p:sp>
      <p:sp>
        <p:nvSpPr>
          <p:cNvPr id="23" name="Text 20"/>
          <p:cNvSpPr txBox="1"/>
          <p:nvPr/>
        </p:nvSpPr>
        <p:spPr>
          <a:xfrm>
            <a:off x="548640" y="6172200"/>
            <a:ext cx="11064240" cy="274320"/>
          </a:xfrm>
          <a:prstGeom prst="rect">
            <a:avLst/>
          </a:prstGeom>
          <a:noFill/>
          <a:ln/>
        </p:spPr>
        <p:txBody>
          <a:bodyPr wrap="square" lIns="0" tIns="0" rIns="0" bIns="0" rtlCol="0" anchor="ctr"/>
          <a:lstStyle/>
          <a:p>
            <a:pPr indent="0" marL="0">
              <a:buNone/>
            </a:pPr>
            <a:r>
              <a:rPr lang="en-US" sz="1000" i="1" dirty="0">
                <a:solidFill>
                  <a:srgbClr val="A8A49B"/>
                </a:solidFill>
                <a:latin typeface="Calibri" pitchFamily="34" charset="0"/>
                <a:ea typeface="Calibri" pitchFamily="34" charset="-122"/>
                <a:cs typeface="Calibri" pitchFamily="34" charset="-120"/>
              </a:rPr>
              <a:t>Built on the supplied workbook · open-source stack · every figure on this slide can be reproduced live in the tool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CarbonSpark — Round 2</dc:title>
  <dc:subject>PptxGenJS Presentation</dc:subject>
  <dc:creator>PptxGenJS</dc:creator>
  <cp:lastModifiedBy>PptxGenJS</cp:lastModifiedBy>
  <cp:revision>1</cp:revision>
  <dcterms:created xsi:type="dcterms:W3CDTF">2026-09-27T05:30:58Z</dcterms:created>
  <dcterms:modified xsi:type="dcterms:W3CDTF">2026-09-27T05:30:58Z</dcterms:modified>
</cp:coreProperties>
</file>